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ory" id="{84392BA5-4554-F464-1884-ED171C2FA9B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Questions" id="{7C805D8C-72B7-4640-21A1-21C1CF510302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End" id="{56417EA3-CA13-F1D6-2A13-07B21718208E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278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fastest-growing term, drop constants.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411480"/>
            <a:ext cx="10725912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600" b="1" kern="0" spc="400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868680"/>
            <a:ext cx="1072591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1783080"/>
            <a:ext cx="1072591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_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png"/><Relationship Id="rId3" Type="http://schemas.openxmlformats.org/officeDocument/2006/relationships/image" Target="../media/image-3-1.png"/><Relationship Id="rId7" Type="http://schemas.openxmlformats.org/officeDocument/2006/relationships/image" Target="../media/image-3-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3-4.png"/><Relationship Id="rId11" Type="http://schemas.openxmlformats.org/officeDocument/2006/relationships/image" Target="../media/image5.png"/><Relationship Id="rId5" Type="http://schemas.openxmlformats.org/officeDocument/2006/relationships/image" Target="../media/image-3-3.png"/><Relationship Id="rId10" Type="http://schemas.openxmlformats.org/officeDocument/2006/relationships/image" Target="../media/image-3-8.png"/><Relationship Id="rId4" Type="http://schemas.openxmlformats.org/officeDocument/2006/relationships/image" Target="../media/image-3-2.png"/><Relationship Id="rId9" Type="http://schemas.openxmlformats.org/officeDocument/2006/relationships/image" Target="../media/image-3-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6-4.png"/><Relationship Id="rId5" Type="http://schemas.openxmlformats.org/officeDocument/2006/relationships/image" Target="../media/image6.png"/><Relationship Id="rId4" Type="http://schemas.openxmlformats.org/officeDocument/2006/relationships/image" Target="../media/image-6-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-7-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-7-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6.png"/><Relationship Id="rId3" Type="http://schemas.openxmlformats.org/officeDocument/2006/relationships/image" Target="../media/image4.png"/><Relationship Id="rId7" Type="http://schemas.openxmlformats.org/officeDocument/2006/relationships/image" Target="../media/image-8-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8-4.png"/><Relationship Id="rId5" Type="http://schemas.openxmlformats.org/officeDocument/2006/relationships/image" Target="../media/image6.png"/><Relationship Id="rId4" Type="http://schemas.openxmlformats.org/officeDocument/2006/relationships/image" Target="../media/image-8-2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6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9-4.png"/><Relationship Id="rId5" Type="http://schemas.openxmlformats.org/officeDocument/2006/relationships/image" Target="../media/image10.png"/><Relationship Id="rId4" Type="http://schemas.openxmlformats.org/officeDocument/2006/relationships/image" Target="../media/image-9-2.png"/><Relationship Id="rId9" Type="http://schemas.openxmlformats.org/officeDocument/2006/relationships/image" Target="../media/image-9-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-10-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10-4.png"/><Relationship Id="rId5" Type="http://schemas.openxmlformats.org/officeDocument/2006/relationships/image" Target="../media/image6.png"/><Relationship Id="rId4" Type="http://schemas.openxmlformats.org/officeDocument/2006/relationships/image" Target="../media/image-10-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1-6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11-4.png"/><Relationship Id="rId5" Type="http://schemas.openxmlformats.org/officeDocument/2006/relationships/image" Target="../media/image11.png"/><Relationship Id="rId10" Type="http://schemas.openxmlformats.org/officeDocument/2006/relationships/image" Target="../media/image-11-8.png"/><Relationship Id="rId4" Type="http://schemas.openxmlformats.org/officeDocument/2006/relationships/image" Target="../media/image-11-2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-12-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-12-3.png"/><Relationship Id="rId4" Type="http://schemas.openxmlformats.org/officeDocument/2006/relationships/image" Target="../media/image4.png"/><Relationship Id="rId9" Type="http://schemas.openxmlformats.org/officeDocument/2006/relationships/image" Target="../media/image-12-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13-4.png"/><Relationship Id="rId5" Type="http://schemas.openxmlformats.org/officeDocument/2006/relationships/image" Target="../media/image5.png"/><Relationship Id="rId4" Type="http://schemas.openxmlformats.org/officeDocument/2006/relationships/image" Target="../media/image-13-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4-6.png"/><Relationship Id="rId3" Type="http://schemas.openxmlformats.org/officeDocument/2006/relationships/image" Target="../media/image-14-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14-4.png"/><Relationship Id="rId5" Type="http://schemas.openxmlformats.org/officeDocument/2006/relationships/image" Target="../media/image-14-3.png"/><Relationship Id="rId4" Type="http://schemas.openxmlformats.org/officeDocument/2006/relationships/image" Target="../media/image-14-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16-4.png"/><Relationship Id="rId5" Type="http://schemas.openxmlformats.org/officeDocument/2006/relationships/image" Target="../media/image5.png"/><Relationship Id="rId4" Type="http://schemas.openxmlformats.org/officeDocument/2006/relationships/image" Target="../media/image-16-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-17-1.png"/><Relationship Id="rId7" Type="http://schemas.openxmlformats.org/officeDocument/2006/relationships/image" Target="../media/image-17-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17-4.png"/><Relationship Id="rId5" Type="http://schemas.openxmlformats.org/officeDocument/2006/relationships/image" Target="../media/image-17-3.png"/><Relationship Id="rId4" Type="http://schemas.openxmlformats.org/officeDocument/2006/relationships/image" Target="../media/image-17-2.png"/><Relationship Id="rId9" Type="http://schemas.openxmlformats.org/officeDocument/2006/relationships/image" Target="../media/image-17-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-18-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19-4.png"/><Relationship Id="rId5" Type="http://schemas.openxmlformats.org/officeDocument/2006/relationships/image" Target="../media/image5.png"/><Relationship Id="rId4" Type="http://schemas.openxmlformats.org/officeDocument/2006/relationships/image" Target="../media/image-19-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0-1.png"/><Relationship Id="rId7" Type="http://schemas.openxmlformats.org/officeDocument/2006/relationships/image" Target="../media/image-20-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-20-3.png"/><Relationship Id="rId4" Type="http://schemas.openxmlformats.org/officeDocument/2006/relationships/image" Target="../media/image-20-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22-4.png"/><Relationship Id="rId5" Type="http://schemas.openxmlformats.org/officeDocument/2006/relationships/image" Target="../media/image5.png"/><Relationship Id="rId4" Type="http://schemas.openxmlformats.org/officeDocument/2006/relationships/image" Target="../media/image-22-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3-1.png"/><Relationship Id="rId7" Type="http://schemas.openxmlformats.org/officeDocument/2006/relationships/image" Target="../media/image-23-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-23-3.png"/><Relationship Id="rId4" Type="http://schemas.openxmlformats.org/officeDocument/2006/relationships/image" Target="../media/image-23-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4-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25-4.png"/><Relationship Id="rId5" Type="http://schemas.openxmlformats.org/officeDocument/2006/relationships/image" Target="../media/image5.png"/><Relationship Id="rId4" Type="http://schemas.openxmlformats.org/officeDocument/2006/relationships/image" Target="../media/image-25-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6-1.png"/><Relationship Id="rId7" Type="http://schemas.openxmlformats.org/officeDocument/2006/relationships/image" Target="../media/image-26-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-26-3.png"/><Relationship Id="rId4" Type="http://schemas.openxmlformats.org/officeDocument/2006/relationships/image" Target="../media/image-26-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28-4.png"/><Relationship Id="rId5" Type="http://schemas.openxmlformats.org/officeDocument/2006/relationships/image" Target="../media/image5.png"/><Relationship Id="rId4" Type="http://schemas.openxmlformats.org/officeDocument/2006/relationships/image" Target="../media/image-28-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9-1.png"/><Relationship Id="rId7" Type="http://schemas.openxmlformats.org/officeDocument/2006/relationships/image" Target="../media/image-29-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-29-3.png"/><Relationship Id="rId4" Type="http://schemas.openxmlformats.org/officeDocument/2006/relationships/image" Target="../media/image-29-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-30-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31-4.png"/><Relationship Id="rId5" Type="http://schemas.openxmlformats.org/officeDocument/2006/relationships/image" Target="../media/image5.png"/><Relationship Id="rId4" Type="http://schemas.openxmlformats.org/officeDocument/2006/relationships/image" Target="../media/image-31-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2-6.png"/><Relationship Id="rId3" Type="http://schemas.openxmlformats.org/officeDocument/2006/relationships/image" Target="../media/image-32-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32-4.png"/><Relationship Id="rId5" Type="http://schemas.openxmlformats.org/officeDocument/2006/relationships/image" Target="../media/image-32-3.png"/><Relationship Id="rId4" Type="http://schemas.openxmlformats.org/officeDocument/2006/relationships/image" Target="../media/image-32-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-33-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34-4.png"/><Relationship Id="rId5" Type="http://schemas.openxmlformats.org/officeDocument/2006/relationships/image" Target="../media/image5.png"/><Relationship Id="rId4" Type="http://schemas.openxmlformats.org/officeDocument/2006/relationships/image" Target="../media/image-34-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5-6.png"/><Relationship Id="rId3" Type="http://schemas.openxmlformats.org/officeDocument/2006/relationships/image" Target="../media/image-35-1.png"/><Relationship Id="rId7" Type="http://schemas.openxmlformats.org/officeDocument/2006/relationships/image" Target="../media/image-35-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-35-3.png"/><Relationship Id="rId4" Type="http://schemas.openxmlformats.org/officeDocument/2006/relationships/image" Target="../media/image-35-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-36-1.png"/><Relationship Id="rId7" Type="http://schemas.openxmlformats.org/officeDocument/2006/relationships/image" Target="../media/image-36-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-36-3.png"/><Relationship Id="rId4" Type="http://schemas.openxmlformats.org/officeDocument/2006/relationships/image" Target="../media/image-36-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4114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chemeClr val="accent1"/>
                </a:solidFill>
              </a:rPr>
              <a:t>DATA STRUCTURES  ·  LESSON 2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86868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chemeClr val="bg1"/>
                </a:solidFill>
              </a:rPr>
              <a:t>Asymptotic Notation</a:t>
            </a:r>
            <a:endParaRPr lang="en-US" sz="4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1783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chemeClr val="bg1"/>
                </a:solidFill>
              </a:rPr>
              <a:t>O, Ω and Θ — definitions, exercises and step-by-step </a:t>
            </a:r>
            <a:r>
              <a:rPr lang="en-US" sz="1800">
                <a:solidFill>
                  <a:schemeClr val="bg1"/>
                </a:solidFill>
              </a:rPr>
              <a:t>solutions</a:t>
            </a:r>
            <a:r>
              <a:rPr lang="en-US"/>
              <a:t> 2026-2027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Why Asymptotic Analysis?</a:t>
            </a:r>
            <a:endParaRPr lang="en-US" sz="3000" dirty="0"/>
          </a:p>
        </p:txBody>
      </p:sp>
      <p:sp>
        <p:nvSpPr>
          <p:cNvPr id="3" name="Step circle 31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32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33"/>
          <p:cNvSpPr txBox="1"/>
          <p:nvPr/>
        </p:nvSpPr>
        <p:spPr>
          <a:xfrm>
            <a:off x="1097280" y="1336548"/>
            <a:ext cx="6355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 </a:t>
            </a:r>
            <a:r>
              <a:rPr lang="en-US" sz="1900" b="1" dirty="0">
                <a:solidFill>
                  <a:schemeClr val="tx1"/>
                </a:solidFill>
              </a:rPr>
              <a:t>growth rate</a:t>
            </a:r>
            <a:r>
              <a:rPr lang="en-US" sz="1900" dirty="0">
                <a:solidFill>
                  <a:schemeClr val="tx1"/>
                </a:solidFill>
              </a:rPr>
              <a:t> of an algorithm's running time is a simple way to describe its efficiency and to compare different algorithms that solve the same problem.</a:t>
            </a:r>
            <a:endParaRPr lang="en-US" sz="1900" dirty="0"/>
          </a:p>
        </p:txBody>
      </p:sp>
      <p:sp>
        <p:nvSpPr>
          <p:cNvPr id="6" name="Step circle 34"/>
          <p:cNvSpPr/>
          <p:nvPr/>
        </p:nvSpPr>
        <p:spPr>
          <a:xfrm>
            <a:off x="548640" y="244297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35"/>
          <p:cNvSpPr txBox="1"/>
          <p:nvPr/>
        </p:nvSpPr>
        <p:spPr>
          <a:xfrm>
            <a:off x="548640" y="24429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36"/>
          <p:cNvSpPr txBox="1"/>
          <p:nvPr/>
        </p:nvSpPr>
        <p:spPr>
          <a:xfrm>
            <a:off x="1097280" y="2471928"/>
            <a:ext cx="6355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For large enough inputs, </a:t>
            </a:r>
            <a:r>
              <a:rPr lang="en-US" sz="1900" b="1" dirty="0">
                <a:solidFill>
                  <a:schemeClr val="tx1"/>
                </a:solidFill>
              </a:rPr>
              <a:t>constant factors</a:t>
            </a:r>
            <a:r>
              <a:rPr lang="en-US" sz="1900" dirty="0">
                <a:solidFill>
                  <a:schemeClr val="tx1"/>
                </a:solidFill>
              </a:rPr>
              <a:t> and </a:t>
            </a:r>
            <a:r>
              <a:rPr lang="en-US" sz="1900" b="1" dirty="0">
                <a:solidFill>
                  <a:schemeClr val="tx1"/>
                </a:solidFill>
              </a:rPr>
              <a:t>lower-order terms</a:t>
            </a:r>
            <a:r>
              <a:rPr lang="en-US" sz="1900" dirty="0">
                <a:solidFill>
                  <a:schemeClr val="tx1"/>
                </a:solidFill>
              </a:rPr>
              <a:t> in the exact running-time formula become negligible compared with the effect of the input size itself.</a:t>
            </a:r>
            <a:endParaRPr lang="en-US" sz="1900" dirty="0"/>
          </a:p>
        </p:txBody>
      </p:sp>
      <p:sp>
        <p:nvSpPr>
          <p:cNvPr id="9" name="Step circle 37"/>
          <p:cNvSpPr/>
          <p:nvPr/>
        </p:nvSpPr>
        <p:spPr>
          <a:xfrm>
            <a:off x="548640" y="357835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tep number 38"/>
          <p:cNvSpPr txBox="1"/>
          <p:nvPr/>
        </p:nvSpPr>
        <p:spPr>
          <a:xfrm>
            <a:off x="548640" y="3578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39"/>
          <p:cNvSpPr txBox="1"/>
          <p:nvPr/>
        </p:nvSpPr>
        <p:spPr>
          <a:xfrm>
            <a:off x="1097280" y="3607308"/>
            <a:ext cx="63550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Studying inputs that are large enough for only the growth rate to matter is called the </a:t>
            </a:r>
            <a:r>
              <a:rPr lang="en-US" sz="1900" b="1" dirty="0">
                <a:solidFill>
                  <a:schemeClr val="tx1"/>
                </a:solidFill>
              </a:rPr>
              <a:t>asymptotic efficiency</a:t>
            </a:r>
            <a:r>
              <a:rPr lang="en-US" sz="1900" dirty="0">
                <a:solidFill>
                  <a:schemeClr val="tx1"/>
                </a:solidFill>
              </a:rPr>
              <a:t> of algorithms.</a:t>
            </a:r>
            <a:endParaRPr lang="en-US" sz="1900" dirty="0"/>
          </a:p>
        </p:txBody>
      </p:sp>
      <p:sp>
        <p:nvSpPr>
          <p:cNvPr id="12" name="Step circle 40"/>
          <p:cNvSpPr/>
          <p:nvPr/>
        </p:nvSpPr>
        <p:spPr>
          <a:xfrm>
            <a:off x="548640" y="442417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tep number 41"/>
          <p:cNvSpPr txBox="1"/>
          <p:nvPr/>
        </p:nvSpPr>
        <p:spPr>
          <a:xfrm>
            <a:off x="548640" y="44241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42"/>
          <p:cNvSpPr txBox="1"/>
          <p:nvPr/>
        </p:nvSpPr>
        <p:spPr>
          <a:xfrm>
            <a:off x="1097280" y="4453128"/>
            <a:ext cx="6355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 question is: </a:t>
            </a:r>
            <a:r>
              <a:rPr lang="en-US" sz="1900" b="1" dirty="0">
                <a:solidFill>
                  <a:schemeClr val="tx1"/>
                </a:solidFill>
              </a:rPr>
              <a:t>how does the running time behave as the input size tends to infinity?</a:t>
            </a:r>
            <a:r>
              <a:rPr lang="en-US" sz="1900" dirty="0">
                <a:solidFill>
                  <a:schemeClr val="tx1"/>
                </a:solidFill>
              </a:rPr>
              <a:t> This growth rate is also called the </a:t>
            </a:r>
            <a:r>
              <a:rPr lang="en-US" sz="1900" b="1" dirty="0">
                <a:solidFill>
                  <a:schemeClr val="tx1"/>
                </a:solidFill>
              </a:rPr>
              <a:t>order</a:t>
            </a:r>
            <a:r>
              <a:rPr lang="en-US" sz="1900" dirty="0">
                <a:solidFill>
                  <a:schemeClr val="tx1"/>
                </a:solidFill>
              </a:rPr>
              <a:t> of the running time.</a:t>
            </a:r>
            <a:endParaRPr lang="en-US" sz="1900" dirty="0"/>
          </a:p>
        </p:txBody>
      </p:sp>
      <p:sp>
        <p:nvSpPr>
          <p:cNvPr id="15" name="O  —  Big O card 44"/>
          <p:cNvSpPr/>
          <p:nvPr/>
        </p:nvSpPr>
        <p:spPr>
          <a:xfrm>
            <a:off x="7818120" y="1307592"/>
            <a:ext cx="3822192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Icon circle 45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con 4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8" name="Card heading 47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  —  Big O</a:t>
            </a:r>
            <a:endParaRPr lang="en-US" sz="1700" dirty="0"/>
          </a:p>
        </p:txBody>
      </p:sp>
      <p:sp>
        <p:nvSpPr>
          <p:cNvPr id="19" name="Text 48"/>
          <p:cNvSpPr txBox="1"/>
          <p:nvPr/>
        </p:nvSpPr>
        <p:spPr>
          <a:xfrm>
            <a:off x="8046720" y="1965960"/>
            <a:ext cx="3364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Asymptotic </a:t>
            </a:r>
            <a:r>
              <a:rPr lang="en-US" sz="1800" b="1" dirty="0">
                <a:solidFill>
                  <a:schemeClr val="tx1"/>
                </a:solidFill>
              </a:rPr>
              <a:t>upper bound</a:t>
            </a:r>
            <a:r>
              <a:rPr lang="en-US" sz="1800" dirty="0">
                <a:solidFill>
                  <a:schemeClr val="tx1"/>
                </a:solidFill>
              </a:rPr>
              <a:t> on the running time.</a:t>
            </a:r>
            <a:endParaRPr lang="en-US" sz="1800" dirty="0"/>
          </a:p>
        </p:txBody>
      </p:sp>
      <p:sp>
        <p:nvSpPr>
          <p:cNvPr id="20" name="Ω  —  Big Omega card 50"/>
          <p:cNvSpPr/>
          <p:nvPr/>
        </p:nvSpPr>
        <p:spPr>
          <a:xfrm>
            <a:off x="7818120" y="2971800"/>
            <a:ext cx="3822192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Icon circle 51"/>
          <p:cNvSpPr/>
          <p:nvPr/>
        </p:nvSpPr>
        <p:spPr>
          <a:xfrm>
            <a:off x="8019288" y="313639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2" name="Icon 5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3218688"/>
            <a:ext cx="219456" cy="219456"/>
          </a:xfrm>
          <a:prstGeom prst="rect">
            <a:avLst/>
          </a:prstGeom>
        </p:spPr>
      </p:pic>
      <p:sp>
        <p:nvSpPr>
          <p:cNvPr id="23" name="Card heading 53"/>
          <p:cNvSpPr txBox="1"/>
          <p:nvPr/>
        </p:nvSpPr>
        <p:spPr>
          <a:xfrm>
            <a:off x="8513064" y="313639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Ω  —  Big Omega</a:t>
            </a:r>
            <a:endParaRPr lang="en-US" sz="1700" dirty="0"/>
          </a:p>
        </p:txBody>
      </p:sp>
      <p:sp>
        <p:nvSpPr>
          <p:cNvPr id="24" name="Text 54"/>
          <p:cNvSpPr txBox="1"/>
          <p:nvPr/>
        </p:nvSpPr>
        <p:spPr>
          <a:xfrm>
            <a:off x="8046720" y="3630168"/>
            <a:ext cx="3364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Asymptotic </a:t>
            </a:r>
            <a:r>
              <a:rPr lang="en-US" sz="1800" b="1" dirty="0">
                <a:solidFill>
                  <a:schemeClr val="tx1"/>
                </a:solidFill>
              </a:rPr>
              <a:t>lower bound</a:t>
            </a:r>
            <a:r>
              <a:rPr lang="en-US" sz="1800" dirty="0">
                <a:solidFill>
                  <a:schemeClr val="tx1"/>
                </a:solidFill>
              </a:rPr>
              <a:t> on the running time.</a:t>
            </a:r>
            <a:endParaRPr lang="en-US" sz="1800" dirty="0"/>
          </a:p>
        </p:txBody>
      </p:sp>
      <p:sp>
        <p:nvSpPr>
          <p:cNvPr id="25" name="Θ  —  Big Theta card 56"/>
          <p:cNvSpPr/>
          <p:nvPr/>
        </p:nvSpPr>
        <p:spPr>
          <a:xfrm>
            <a:off x="7818120" y="4636008"/>
            <a:ext cx="3822192" cy="1463040"/>
          </a:xfrm>
          <a:prstGeom prst="roundRect">
            <a:avLst>
              <a:gd name="adj" fmla="val 6250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Icon circle 57"/>
          <p:cNvSpPr/>
          <p:nvPr/>
        </p:nvSpPr>
        <p:spPr>
          <a:xfrm>
            <a:off x="8019288" y="480060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7" name="Icon 5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4882896"/>
            <a:ext cx="219456" cy="219456"/>
          </a:xfrm>
          <a:prstGeom prst="rect">
            <a:avLst/>
          </a:prstGeom>
        </p:spPr>
      </p:pic>
      <p:sp>
        <p:nvSpPr>
          <p:cNvPr id="28" name="Card heading 59"/>
          <p:cNvSpPr txBox="1"/>
          <p:nvPr/>
        </p:nvSpPr>
        <p:spPr>
          <a:xfrm>
            <a:off x="8513064" y="480060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Θ  —  Big Theta</a:t>
            </a:r>
            <a:endParaRPr lang="en-US" sz="1700" dirty="0"/>
          </a:p>
        </p:txBody>
      </p:sp>
      <p:sp>
        <p:nvSpPr>
          <p:cNvPr id="29" name="Text 60"/>
          <p:cNvSpPr txBox="1"/>
          <p:nvPr/>
        </p:nvSpPr>
        <p:spPr>
          <a:xfrm>
            <a:off x="8046720" y="5294376"/>
            <a:ext cx="3364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Asymptotic </a:t>
            </a:r>
            <a:r>
              <a:rPr lang="en-US" sz="1800" b="1" dirty="0">
                <a:solidFill>
                  <a:schemeClr val="tx1"/>
                </a:solidFill>
              </a:rPr>
              <a:t>tight bound</a:t>
            </a:r>
            <a:r>
              <a:rPr lang="en-US" sz="1800" dirty="0">
                <a:solidFill>
                  <a:schemeClr val="tx1"/>
                </a:solidFill>
              </a:rPr>
              <a:t> on the running time.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— Order of Growth</a:t>
            </a:r>
            <a:endParaRPr lang="en-US" sz="3000" dirty="0"/>
          </a:p>
        </p:txBody>
      </p:sp>
      <p:sp>
        <p:nvSpPr>
          <p:cNvPr id="3" name="Prompt 82"/>
          <p:cNvSpPr txBox="1"/>
          <p:nvPr/>
        </p:nvSpPr>
        <p:spPr>
          <a:xfrm>
            <a:off x="548640" y="1261872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Below are the running-time functions of several algorithms. Determine the </a:t>
            </a:r>
            <a:r>
              <a:rPr lang="en-US" sz="2200" b="1" dirty="0">
                <a:solidFill>
                  <a:schemeClr val="tx1"/>
                </a:solidFill>
              </a:rPr>
              <a:t>order of growth</a:t>
            </a:r>
            <a:r>
              <a:rPr lang="en-US" sz="2200" dirty="0">
                <a:solidFill>
                  <a:schemeClr val="tx1"/>
                </a:solidFill>
              </a:rPr>
              <a:t> (Big O) of each one:</a:t>
            </a:r>
            <a:endParaRPr lang="en-US" sz="2200" dirty="0"/>
          </a:p>
        </p:txBody>
      </p:sp>
      <p:sp>
        <p:nvSpPr>
          <p:cNvPr id="4" name="Fn card 83"/>
          <p:cNvSpPr/>
          <p:nvPr/>
        </p:nvSpPr>
        <p:spPr>
          <a:xfrm>
            <a:off x="548640" y="2298192"/>
            <a:ext cx="2651760" cy="715061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uation 5" descr="10n + 5"/>
              <p:cNvSpPr txBox="1"/>
              <p:nvPr/>
            </p:nvSpPr>
            <p:spPr>
              <a:xfrm>
                <a:off x="731520" y="2546509"/>
                <a:ext cx="836532" cy="21842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5" name="EQ|ca74f42d988a|19.5" descr="10n + 5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1520" y="2546509"/>
                <a:ext cx="836532" cy="21842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Fn card 84"/>
          <p:cNvSpPr/>
          <p:nvPr/>
        </p:nvSpPr>
        <p:spPr>
          <a:xfrm>
            <a:off x="3383280" y="2298192"/>
            <a:ext cx="2651760" cy="715061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uation 7" descr="0.5n^{4} + 200n^{3} + 70"/>
              <p:cNvSpPr txBox="1"/>
              <p:nvPr/>
            </p:nvSpPr>
            <p:spPr>
              <a:xfrm>
                <a:off x="3566160" y="2519005"/>
                <a:ext cx="2010423" cy="27343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+200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+70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7" name="EQ|712b4aafb4b0|19.5" descr="0.5n^{4} + 200n^{3} + 70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6160" y="2519005"/>
                <a:ext cx="2010423" cy="273435"/>
              </a:xfrm>
              <a:prstGeom prst="rect">
                <a:avLst/>
              </a:prstGeom>
            </p:spPr>
          </p:pic>
        </mc:Fallback>
      </mc:AlternateContent>
      <p:sp>
        <p:nvSpPr>
          <p:cNvPr id="8" name="Fn card 85"/>
          <p:cNvSpPr/>
          <p:nvPr/>
        </p:nvSpPr>
        <p:spPr>
          <a:xfrm>
            <a:off x="548640" y="3192018"/>
            <a:ext cx="2651760" cy="715061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quation 9" descr="7n^{2} + 5n^{3} + 20n"/>
              <p:cNvSpPr txBox="1"/>
              <p:nvPr/>
            </p:nvSpPr>
            <p:spPr>
              <a:xfrm>
                <a:off x="731520" y="3412831"/>
                <a:ext cx="1738503" cy="27343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+20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9" name="EQ|2682ddfc534c|19.5" descr="7n^{2} + 5n^{3} + 20n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520" y="3412831"/>
                <a:ext cx="1738503" cy="273435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Fn card 86"/>
          <p:cNvSpPr/>
          <p:nvPr/>
        </p:nvSpPr>
        <p:spPr>
          <a:xfrm>
            <a:off x="3383280" y="3192018"/>
            <a:ext cx="2651760" cy="715061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uation 11" descr="100"/>
              <p:cNvSpPr txBox="1"/>
              <p:nvPr/>
            </p:nvSpPr>
            <p:spPr>
              <a:xfrm>
                <a:off x="3566160" y="3448492"/>
                <a:ext cx="389336" cy="2021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1" name="EQ|ee4fa059fb7a|19.5" descr="100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66160" y="3448492"/>
                <a:ext cx="389336" cy="20211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Fn card 87"/>
          <p:cNvSpPr/>
          <p:nvPr/>
        </p:nvSpPr>
        <p:spPr>
          <a:xfrm>
            <a:off x="548640" y="4085844"/>
            <a:ext cx="2651760" cy="715061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 13" descr="5^{n}"/>
              <p:cNvSpPr txBox="1"/>
              <p:nvPr/>
            </p:nvSpPr>
            <p:spPr>
              <a:xfrm>
                <a:off x="731520" y="4333403"/>
                <a:ext cx="264520" cy="21994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3" name="EQ|49998978ea3f|19.5" descr="5^{n}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1520" y="4333403"/>
                <a:ext cx="264520" cy="219943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Fn card 88"/>
          <p:cNvSpPr/>
          <p:nvPr/>
        </p:nvSpPr>
        <p:spPr>
          <a:xfrm>
            <a:off x="3383280" y="4085844"/>
            <a:ext cx="2651760" cy="715061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quation 15" descr="0.001n + 1000"/>
              <p:cNvSpPr txBox="1"/>
              <p:nvPr/>
            </p:nvSpPr>
            <p:spPr>
              <a:xfrm>
                <a:off x="3566160" y="4334161"/>
                <a:ext cx="1493330" cy="21842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0.001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+1000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5" name="EQ|974b79b1167f|19.5" descr="0.001n + 1000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66160" y="4334161"/>
                <a:ext cx="1493330" cy="218427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n card 89"/>
          <p:cNvSpPr/>
          <p:nvPr/>
        </p:nvSpPr>
        <p:spPr>
          <a:xfrm>
            <a:off x="548640" y="4979670"/>
            <a:ext cx="2651760" cy="715061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quation 17" descr="10000n + 1000"/>
              <p:cNvSpPr txBox="1"/>
              <p:nvPr/>
            </p:nvSpPr>
            <p:spPr>
              <a:xfrm>
                <a:off x="731520" y="5227987"/>
                <a:ext cx="1540849" cy="21842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10000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+1000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7" name="EQ|2ac8cab22ae0|19.5" descr="10000n + 1000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1520" y="5227987"/>
                <a:ext cx="1540849" cy="218427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Fn card 90"/>
          <p:cNvSpPr/>
          <p:nvPr/>
        </p:nvSpPr>
        <p:spPr>
          <a:xfrm>
            <a:off x="3383280" y="4979670"/>
            <a:ext cx="2651760" cy="715061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quation 19" descr="2n^{2} + 2"/>
              <p:cNvSpPr txBox="1"/>
              <p:nvPr/>
            </p:nvSpPr>
            <p:spPr>
              <a:xfrm>
                <a:off x="3566160" y="5200483"/>
                <a:ext cx="812817" cy="27343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9" name="EQ|98a82357a691|19.5" descr="2n^{2} + 2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66160" y="5200483"/>
                <a:ext cx="812817" cy="273435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How to find the order card 95"/>
          <p:cNvSpPr/>
          <p:nvPr/>
        </p:nvSpPr>
        <p:spPr>
          <a:xfrm>
            <a:off x="6400800" y="2298192"/>
            <a:ext cx="5239512" cy="2270760"/>
          </a:xfrm>
          <a:prstGeom prst="roundRect">
            <a:avLst>
              <a:gd name="adj" fmla="val 402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Icon circle 96"/>
          <p:cNvSpPr/>
          <p:nvPr/>
        </p:nvSpPr>
        <p:spPr>
          <a:xfrm>
            <a:off x="6601968" y="24627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2" name="Icon 9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4264" y="2545080"/>
            <a:ext cx="219456" cy="219456"/>
          </a:xfrm>
          <a:prstGeom prst="rect">
            <a:avLst/>
          </a:prstGeom>
        </p:spPr>
      </p:pic>
      <p:sp>
        <p:nvSpPr>
          <p:cNvPr id="23" name="Card heading 98"/>
          <p:cNvSpPr txBox="1"/>
          <p:nvPr/>
        </p:nvSpPr>
        <p:spPr>
          <a:xfrm>
            <a:off x="7095744" y="2462784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How to find the order</a:t>
            </a:r>
            <a:endParaRPr lang="en-US" sz="1700" dirty="0"/>
          </a:p>
        </p:txBody>
      </p:sp>
      <p:sp>
        <p:nvSpPr>
          <p:cNvPr id="24" name="Text 99"/>
          <p:cNvSpPr txBox="1"/>
          <p:nvPr/>
        </p:nvSpPr>
        <p:spPr>
          <a:xfrm>
            <a:off x="6629400" y="2956560"/>
            <a:ext cx="47823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1. Find the term that grows </a:t>
            </a:r>
            <a:r>
              <a:rPr lang="en-US" sz="1850" b="1" dirty="0">
                <a:solidFill>
                  <a:schemeClr val="tx1"/>
                </a:solidFill>
              </a:rPr>
              <a:t>fastest</a:t>
            </a:r>
            <a:r>
              <a:rPr lang="en-US" sz="1850" dirty="0">
                <a:solidFill>
                  <a:schemeClr val="tx1"/>
                </a:solidFill>
              </a:rPr>
              <a:t> as n → ∞.</a:t>
            </a:r>
            <a:endParaRPr lang="en-US" sz="1850" dirty="0"/>
          </a:p>
        </p:txBody>
      </p:sp>
      <p:sp>
        <p:nvSpPr>
          <p:cNvPr id="25" name="Text 100"/>
          <p:cNvSpPr txBox="1"/>
          <p:nvPr/>
        </p:nvSpPr>
        <p:spPr>
          <a:xfrm>
            <a:off x="6629400" y="3314700"/>
            <a:ext cx="47823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2. Drop its </a:t>
            </a:r>
            <a:r>
              <a:rPr lang="en-US" sz="1850" b="1" dirty="0">
                <a:solidFill>
                  <a:schemeClr val="tx1"/>
                </a:solidFill>
              </a:rPr>
              <a:t>constant factor</a:t>
            </a:r>
            <a:r>
              <a:rPr lang="en-US" sz="1850" dirty="0">
                <a:solidFill>
                  <a:schemeClr val="tx1"/>
                </a:solidFill>
              </a:rPr>
              <a:t>.</a:t>
            </a:r>
            <a:endParaRPr lang="en-US" sz="1850" dirty="0"/>
          </a:p>
        </p:txBody>
      </p:sp>
      <p:sp>
        <p:nvSpPr>
          <p:cNvPr id="26" name="Text 101"/>
          <p:cNvSpPr txBox="1"/>
          <p:nvPr/>
        </p:nvSpPr>
        <p:spPr>
          <a:xfrm>
            <a:off x="6629400" y="3672840"/>
            <a:ext cx="47823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3. Drop all other terms.</a:t>
            </a:r>
            <a:endParaRPr lang="en-US" sz="1850" dirty="0"/>
          </a:p>
        </p:txBody>
      </p:sp>
      <p:sp>
        <p:nvSpPr>
          <p:cNvPr id="27" name="Text 102"/>
          <p:cNvSpPr txBox="1"/>
          <p:nvPr/>
        </p:nvSpPr>
        <p:spPr>
          <a:xfrm>
            <a:off x="6629400" y="4030980"/>
            <a:ext cx="47823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A function with no n at all is </a:t>
            </a:r>
            <a:r>
              <a:rPr lang="en-US" sz="1850" b="1" dirty="0">
                <a:solidFill>
                  <a:schemeClr val="tx1"/>
                </a:solidFill>
              </a:rPr>
              <a:t>O(1)</a:t>
            </a:r>
            <a:r>
              <a:rPr lang="en-US" sz="1850" dirty="0">
                <a:solidFill>
                  <a:schemeClr val="tx1"/>
                </a:solidFill>
              </a:rPr>
              <a:t>.</a:t>
            </a:r>
            <a:endParaRPr lang="en-US" sz="18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— Order of Growth</a:t>
            </a:r>
            <a:endParaRPr lang="en-US" sz="3000" dirty="0"/>
          </a:p>
        </p:txBody>
      </p:sp>
      <p:graphicFrame>
        <p:nvGraphicFramePr>
          <p:cNvPr id="5" name="Trace table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07592"/>
          <a:ext cx="11091672" cy="470733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fastest-growing term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10n + 5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term beats the constant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0.5n⁴ + 200n³ + 70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0.5n⁴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O(n⁴)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n⁴ wins once n &gt; 400, despite 200 &gt; 0.5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7n² + 5n³ + 20n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5n³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O(n³)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order of the terms does not matter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constant does not grow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5ⁿ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5ⁿ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O(5ⁿ)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— the base matters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0.001n + 1000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tiny factor is still linear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10000n + 1000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huge factor is still linear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3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2n² + 2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2n²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term dominates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Asymptotic Bounds</a:t>
            </a:r>
            <a:endParaRPr lang="en-US" sz="3000" dirty="0"/>
          </a:p>
        </p:txBody>
      </p:sp>
      <p:sp>
        <p:nvSpPr>
          <p:cNvPr id="3" name="Prompt 130"/>
          <p:cNvSpPr txBox="1"/>
          <p:nvPr/>
        </p:nvSpPr>
        <p:spPr>
          <a:xfrm>
            <a:off x="548640" y="1261872"/>
            <a:ext cx="1109167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150" dirty="0">
                <a:solidFill>
                  <a:schemeClr val="tx1"/>
                </a:solidFill>
              </a:rPr>
              <a:t>So far we used O without a precise definition. We now give </a:t>
            </a:r>
            <a:r>
              <a:rPr lang="en-US" sz="2150" b="1" dirty="0">
                <a:solidFill>
                  <a:schemeClr val="tx1"/>
                </a:solidFill>
              </a:rPr>
              <a:t>mathematical definitions</a:t>
            </a:r>
            <a:r>
              <a:rPr lang="en-US" sz="2150" dirty="0">
                <a:solidFill>
                  <a:schemeClr val="tx1"/>
                </a:solidFill>
              </a:rPr>
              <a:t> that tell exactly when one function is O of another, and add two more notations. Together they are called </a:t>
            </a:r>
            <a:r>
              <a:rPr lang="en-US" sz="2150" b="1" dirty="0">
                <a:solidFill>
                  <a:schemeClr val="tx1"/>
                </a:solidFill>
              </a:rPr>
              <a:t>asymptotic bounds</a:t>
            </a:r>
            <a:r>
              <a:rPr lang="en-US" sz="2150" dirty="0">
                <a:solidFill>
                  <a:schemeClr val="tx1"/>
                </a:solidFill>
              </a:rPr>
              <a:t>:</a:t>
            </a:r>
            <a:endParaRPr lang="en-US" sz="2150" dirty="0"/>
          </a:p>
        </p:txBody>
      </p:sp>
      <p:sp>
        <p:nvSpPr>
          <p:cNvPr id="4" name="O — upper bound card 133"/>
          <p:cNvSpPr/>
          <p:nvPr/>
        </p:nvSpPr>
        <p:spPr>
          <a:xfrm>
            <a:off x="548640" y="2610612"/>
            <a:ext cx="3544824" cy="2414016"/>
          </a:xfrm>
          <a:prstGeom prst="roundRect">
            <a:avLst>
              <a:gd name="adj" fmla="val 378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Icon circle 134"/>
          <p:cNvSpPr/>
          <p:nvPr/>
        </p:nvSpPr>
        <p:spPr>
          <a:xfrm>
            <a:off x="749808" y="27752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13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857500"/>
            <a:ext cx="219456" cy="219456"/>
          </a:xfrm>
          <a:prstGeom prst="rect">
            <a:avLst/>
          </a:prstGeom>
        </p:spPr>
      </p:pic>
      <p:sp>
        <p:nvSpPr>
          <p:cNvPr id="7" name="Card heading 136"/>
          <p:cNvSpPr txBox="1"/>
          <p:nvPr/>
        </p:nvSpPr>
        <p:spPr>
          <a:xfrm>
            <a:off x="1243584" y="2775204"/>
            <a:ext cx="266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 — upper bound</a:t>
            </a:r>
            <a:endParaRPr lang="en-US" sz="1700" dirty="0"/>
          </a:p>
        </p:txBody>
      </p:sp>
      <p:sp>
        <p:nvSpPr>
          <p:cNvPr id="8" name="Text 137"/>
          <p:cNvSpPr txBox="1"/>
          <p:nvPr/>
        </p:nvSpPr>
        <p:spPr>
          <a:xfrm>
            <a:off x="777240" y="3268980"/>
            <a:ext cx="3087624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50" dirty="0">
                <a:solidFill>
                  <a:schemeClr val="tx1"/>
                </a:solidFill>
              </a:rPr>
              <a:t>“Big O”</a:t>
            </a:r>
            <a:endParaRPr lang="en-US" sz="2050" dirty="0"/>
          </a:p>
        </p:txBody>
      </p:sp>
      <p:sp>
        <p:nvSpPr>
          <p:cNvPr id="9" name="Text 138"/>
          <p:cNvSpPr txBox="1"/>
          <p:nvPr/>
        </p:nvSpPr>
        <p:spPr>
          <a:xfrm>
            <a:off x="777240" y="3657600"/>
            <a:ext cx="3087624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50" dirty="0">
                <a:solidFill>
                  <a:schemeClr val="tx1"/>
                </a:solidFill>
              </a:rPr>
              <a:t>f grows </a:t>
            </a:r>
            <a:r>
              <a:rPr lang="en-US" sz="2050" b="1" dirty="0">
                <a:solidFill>
                  <a:schemeClr val="tx1"/>
                </a:solidFill>
              </a:rPr>
              <a:t>no faster</a:t>
            </a:r>
            <a:r>
              <a:rPr lang="en-US" sz="2050" dirty="0">
                <a:solidFill>
                  <a:schemeClr val="tx1"/>
                </a:solidFill>
              </a:rPr>
              <a:t> than g</a:t>
            </a:r>
            <a:endParaRPr lang="en-US" sz="2050" dirty="0"/>
          </a:p>
        </p:txBody>
      </p:sp>
      <p:sp>
        <p:nvSpPr>
          <p:cNvPr id="10" name="Ω — lower bound card 141"/>
          <p:cNvSpPr/>
          <p:nvPr/>
        </p:nvSpPr>
        <p:spPr>
          <a:xfrm>
            <a:off x="4322064" y="2610612"/>
            <a:ext cx="3544824" cy="2414016"/>
          </a:xfrm>
          <a:prstGeom prst="roundRect">
            <a:avLst>
              <a:gd name="adj" fmla="val 3788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Icon circle 142"/>
          <p:cNvSpPr/>
          <p:nvPr/>
        </p:nvSpPr>
        <p:spPr>
          <a:xfrm>
            <a:off x="4523232" y="27752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2" name="Icon 14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528" y="2857500"/>
            <a:ext cx="219456" cy="219456"/>
          </a:xfrm>
          <a:prstGeom prst="rect">
            <a:avLst/>
          </a:prstGeom>
        </p:spPr>
      </p:pic>
      <p:sp>
        <p:nvSpPr>
          <p:cNvPr id="13" name="Card heading 144"/>
          <p:cNvSpPr txBox="1"/>
          <p:nvPr/>
        </p:nvSpPr>
        <p:spPr>
          <a:xfrm>
            <a:off x="5017008" y="2775204"/>
            <a:ext cx="266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Ω — lower bound</a:t>
            </a:r>
            <a:endParaRPr lang="en-US" sz="1700" dirty="0"/>
          </a:p>
        </p:txBody>
      </p:sp>
      <p:sp>
        <p:nvSpPr>
          <p:cNvPr id="14" name="Text 145"/>
          <p:cNvSpPr txBox="1"/>
          <p:nvPr/>
        </p:nvSpPr>
        <p:spPr>
          <a:xfrm>
            <a:off x="4550664" y="3268980"/>
            <a:ext cx="3087624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50" dirty="0">
                <a:solidFill>
                  <a:schemeClr val="tx1"/>
                </a:solidFill>
              </a:rPr>
              <a:t>“Big Omega”</a:t>
            </a:r>
            <a:endParaRPr lang="en-US" sz="2050" dirty="0"/>
          </a:p>
        </p:txBody>
      </p:sp>
      <p:sp>
        <p:nvSpPr>
          <p:cNvPr id="15" name="Text 146"/>
          <p:cNvSpPr txBox="1"/>
          <p:nvPr/>
        </p:nvSpPr>
        <p:spPr>
          <a:xfrm>
            <a:off x="4550664" y="3657600"/>
            <a:ext cx="3087624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50" dirty="0">
                <a:solidFill>
                  <a:schemeClr val="tx1"/>
                </a:solidFill>
              </a:rPr>
              <a:t>f grows </a:t>
            </a:r>
            <a:r>
              <a:rPr lang="en-US" sz="2050" b="1" dirty="0">
                <a:solidFill>
                  <a:schemeClr val="tx1"/>
                </a:solidFill>
              </a:rPr>
              <a:t>at least as fast</a:t>
            </a:r>
            <a:r>
              <a:rPr lang="en-US" sz="2050" dirty="0">
                <a:solidFill>
                  <a:schemeClr val="tx1"/>
                </a:solidFill>
              </a:rPr>
              <a:t> as g</a:t>
            </a:r>
            <a:endParaRPr lang="en-US" sz="2050" dirty="0"/>
          </a:p>
        </p:txBody>
      </p:sp>
      <p:sp>
        <p:nvSpPr>
          <p:cNvPr id="16" name="Θ — tight bound card 149"/>
          <p:cNvSpPr/>
          <p:nvPr/>
        </p:nvSpPr>
        <p:spPr>
          <a:xfrm>
            <a:off x="8095488" y="2610612"/>
            <a:ext cx="3544824" cy="2414016"/>
          </a:xfrm>
          <a:prstGeom prst="roundRect">
            <a:avLst>
              <a:gd name="adj" fmla="val 3788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Icon circle 150"/>
          <p:cNvSpPr/>
          <p:nvPr/>
        </p:nvSpPr>
        <p:spPr>
          <a:xfrm>
            <a:off x="8296656" y="277520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8" name="Icon 15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952" y="2857500"/>
            <a:ext cx="219456" cy="219456"/>
          </a:xfrm>
          <a:prstGeom prst="rect">
            <a:avLst/>
          </a:prstGeom>
        </p:spPr>
      </p:pic>
      <p:sp>
        <p:nvSpPr>
          <p:cNvPr id="19" name="Card heading 152"/>
          <p:cNvSpPr txBox="1"/>
          <p:nvPr/>
        </p:nvSpPr>
        <p:spPr>
          <a:xfrm>
            <a:off x="8790432" y="2775204"/>
            <a:ext cx="266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Θ — tight bound</a:t>
            </a:r>
            <a:endParaRPr lang="en-US" sz="1700" dirty="0"/>
          </a:p>
        </p:txBody>
      </p:sp>
      <p:sp>
        <p:nvSpPr>
          <p:cNvPr id="20" name="Text 153"/>
          <p:cNvSpPr txBox="1"/>
          <p:nvPr/>
        </p:nvSpPr>
        <p:spPr>
          <a:xfrm>
            <a:off x="8324088" y="3268980"/>
            <a:ext cx="3087624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50" dirty="0">
                <a:solidFill>
                  <a:schemeClr val="tx1"/>
                </a:solidFill>
              </a:rPr>
              <a:t>“Big Theta”</a:t>
            </a:r>
            <a:endParaRPr lang="en-US" sz="2050" dirty="0"/>
          </a:p>
        </p:txBody>
      </p:sp>
      <p:sp>
        <p:nvSpPr>
          <p:cNvPr id="21" name="Text 154"/>
          <p:cNvSpPr txBox="1"/>
          <p:nvPr/>
        </p:nvSpPr>
        <p:spPr>
          <a:xfrm>
            <a:off x="8324088" y="3657600"/>
            <a:ext cx="3087624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50" dirty="0">
                <a:solidFill>
                  <a:schemeClr val="tx1"/>
                </a:solidFill>
              </a:rPr>
              <a:t>f grows </a:t>
            </a:r>
            <a:r>
              <a:rPr lang="en-US" sz="2050" b="1" dirty="0">
                <a:solidFill>
                  <a:schemeClr val="tx1"/>
                </a:solidFill>
              </a:rPr>
              <a:t>exactly as fast</a:t>
            </a:r>
            <a:r>
              <a:rPr lang="en-US" sz="2050" dirty="0">
                <a:solidFill>
                  <a:schemeClr val="tx1"/>
                </a:solidFill>
              </a:rPr>
              <a:t> as g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O Notation</a:t>
            </a:r>
            <a:endParaRPr lang="en-US" sz="3000" dirty="0"/>
          </a:p>
        </p:txBody>
      </p:sp>
      <p:sp>
        <p:nvSpPr>
          <p:cNvPr id="3" name="Definition card 170"/>
          <p:cNvSpPr/>
          <p:nvPr/>
        </p:nvSpPr>
        <p:spPr>
          <a:xfrm>
            <a:off x="548640" y="1307592"/>
            <a:ext cx="6309360" cy="2609661"/>
          </a:xfrm>
          <a:prstGeom prst="roundRect">
            <a:avLst>
              <a:gd name="adj" fmla="val 3504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Icon circle 171"/>
          <p:cNvSpPr/>
          <p:nvPr/>
        </p:nvSpPr>
        <p:spPr>
          <a:xfrm>
            <a:off x="74980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con 17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554480"/>
            <a:ext cx="219456" cy="219456"/>
          </a:xfrm>
          <a:prstGeom prst="rect">
            <a:avLst/>
          </a:prstGeom>
        </p:spPr>
      </p:pic>
      <p:sp>
        <p:nvSpPr>
          <p:cNvPr id="6" name="Card heading 173"/>
          <p:cNvSpPr txBox="1"/>
          <p:nvPr/>
        </p:nvSpPr>
        <p:spPr>
          <a:xfrm>
            <a:off x="1243584" y="1472184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7" name="Text 174"/>
          <p:cNvSpPr txBox="1"/>
          <p:nvPr/>
        </p:nvSpPr>
        <p:spPr>
          <a:xfrm>
            <a:off x="777240" y="1965960"/>
            <a:ext cx="585216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f(n) = O(g(n)) if there exist positive constants </a:t>
            </a:r>
            <a:r>
              <a:rPr lang="en-US" sz="1850" b="1" dirty="0">
                <a:solidFill>
                  <a:schemeClr val="tx1"/>
                </a:solidFill>
              </a:rPr>
              <a:t>c</a:t>
            </a:r>
            <a:r>
              <a:rPr lang="en-US" sz="1850" dirty="0">
                <a:solidFill>
                  <a:schemeClr val="tx1"/>
                </a:solidFill>
              </a:rPr>
              <a:t> and </a:t>
            </a:r>
            <a:r>
              <a:rPr lang="en-US" sz="1850" b="1" dirty="0">
                <a:solidFill>
                  <a:schemeClr val="tx1"/>
                </a:solidFill>
              </a:rPr>
              <a:t>n₀</a:t>
            </a:r>
            <a:r>
              <a:rPr lang="en-US" sz="1850" dirty="0">
                <a:solidFill>
                  <a:schemeClr val="tx1"/>
                </a:solidFill>
              </a:rPr>
              <a:t> such that</a:t>
            </a:r>
            <a:endParaRPr lang="en-US" sz="1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f(n) \le c \cdot g(n) \quad \text{for all } n \ge n_0"/>
              <p:cNvSpPr txBox="1"/>
              <p:nvPr/>
            </p:nvSpPr>
            <p:spPr>
              <a:xfrm>
                <a:off x="777240" y="2633472"/>
                <a:ext cx="4010558" cy="3602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24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4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4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pic>
            <p:nvPicPr>
              <p:cNvPr id="8" name="EQ|a8b39bcf510f|24" descr="f(n) \le c \cdot g(n) \quad \text{for all } n \ge n_0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33472"/>
                <a:ext cx="4010558" cy="360237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 175"/>
          <p:cNvSpPr txBox="1"/>
          <p:nvPr/>
        </p:nvSpPr>
        <p:spPr>
          <a:xfrm>
            <a:off x="777240" y="3097341"/>
            <a:ext cx="585216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Meaning: to the right of n₀, f(n) always lies </a:t>
            </a:r>
            <a:r>
              <a:rPr lang="en-US" sz="1850" b="1" dirty="0">
                <a:solidFill>
                  <a:schemeClr val="tx1"/>
                </a:solidFill>
              </a:rPr>
              <a:t>on or below</a:t>
            </a:r>
            <a:r>
              <a:rPr lang="en-US" sz="1850" dirty="0">
                <a:solidFill>
                  <a:schemeClr val="tx1"/>
                </a:solidFill>
              </a:rPr>
              <a:t> c · g(n). g is an </a:t>
            </a:r>
            <a:r>
              <a:rPr lang="en-US" sz="1850" b="1" dirty="0">
                <a:solidFill>
                  <a:schemeClr val="tx1"/>
                </a:solidFill>
              </a:rPr>
              <a:t>upper bound</a:t>
            </a:r>
            <a:r>
              <a:rPr lang="en-US" sz="1850" dirty="0">
                <a:solidFill>
                  <a:schemeClr val="tx1"/>
                </a:solidFill>
              </a:rPr>
              <a:t> on the growth of f.</a:t>
            </a:r>
            <a:endParaRPr lang="en-US" sz="1850" dirty="0"/>
          </a:p>
        </p:txBody>
      </p:sp>
      <p:sp>
        <p:nvSpPr>
          <p:cNvPr id="10" name="Examples of O(n) functions card 176"/>
          <p:cNvSpPr/>
          <p:nvPr/>
        </p:nvSpPr>
        <p:spPr>
          <a:xfrm>
            <a:off x="548640" y="4145853"/>
            <a:ext cx="6309360" cy="1234790"/>
          </a:xfrm>
          <a:prstGeom prst="roundRect">
            <a:avLst>
              <a:gd name="adj" fmla="val 740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Icon circle 177"/>
          <p:cNvSpPr/>
          <p:nvPr/>
        </p:nvSpPr>
        <p:spPr>
          <a:xfrm>
            <a:off x="749808" y="4310445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2" name="Icon 17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392741"/>
            <a:ext cx="219456" cy="219456"/>
          </a:xfrm>
          <a:prstGeom prst="rect">
            <a:avLst/>
          </a:prstGeom>
        </p:spPr>
      </p:pic>
      <p:sp>
        <p:nvSpPr>
          <p:cNvPr id="13" name="Card heading 179"/>
          <p:cNvSpPr txBox="1"/>
          <p:nvPr/>
        </p:nvSpPr>
        <p:spPr>
          <a:xfrm>
            <a:off x="1243584" y="4310445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Examples of O(n) functions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2n + 11, \quad 1000n + 1, \quad 0.25n + 6, \quad 7n"/>
              <p:cNvSpPr txBox="1"/>
              <p:nvPr/>
            </p:nvSpPr>
            <p:spPr>
              <a:xfrm>
                <a:off x="777240" y="4831653"/>
                <a:ext cx="4378598" cy="2655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+11, 1000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+1, 0.25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+6, 7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50" dirty="0"/>
              </a:p>
            </p:txBody>
          </p:sp>
        </mc:Choice>
        <mc:Fallback xmlns="">
          <p:pic>
            <p:nvPicPr>
              <p:cNvPr id="14" name="EQ|a2f6f59e788f|20.5" descr="2n + 11, \quad 1000n + 1, \quad 0.25n + 6, \quad 7n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240" y="4831653"/>
                <a:ext cx="4378598" cy="265526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Graph O 180" descr="Graph: 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1444752"/>
            <a:ext cx="4553712" cy="34516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O Notation — Example</a:t>
            </a:r>
            <a:endParaRPr lang="en-US" sz="3000" dirty="0"/>
          </a:p>
        </p:txBody>
      </p:sp>
      <p:sp>
        <p:nvSpPr>
          <p:cNvPr id="3" name="Step circle 194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195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96"/>
          <p:cNvSpPr txBox="1"/>
          <p:nvPr/>
        </p:nvSpPr>
        <p:spPr>
          <a:xfrm>
            <a:off x="1097280" y="1340358"/>
            <a:ext cx="548640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O(n) means a </a:t>
            </a:r>
            <a:r>
              <a:rPr lang="en-US" sz="1850" b="1" dirty="0">
                <a:solidFill>
                  <a:schemeClr val="tx1"/>
                </a:solidFill>
              </a:rPr>
              <a:t>linear upper bound</a:t>
            </a:r>
            <a:r>
              <a:rPr lang="en-US" sz="1850" dirty="0">
                <a:solidFill>
                  <a:schemeClr val="tx1"/>
                </a:solidFill>
              </a:rPr>
              <a:t>: some linear function c · n stays above f(n) for all large n.</a:t>
            </a:r>
            <a:endParaRPr lang="en-US" sz="1850" dirty="0"/>
          </a:p>
        </p:txBody>
      </p:sp>
      <p:sp>
        <p:nvSpPr>
          <p:cNvPr id="6" name="Step circle 197"/>
          <p:cNvSpPr/>
          <p:nvPr/>
        </p:nvSpPr>
        <p:spPr>
          <a:xfrm>
            <a:off x="548640" y="213283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198"/>
          <p:cNvSpPr txBox="1"/>
          <p:nvPr/>
        </p:nvSpPr>
        <p:spPr>
          <a:xfrm>
            <a:off x="548640" y="213283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199"/>
          <p:cNvSpPr txBox="1"/>
          <p:nvPr/>
        </p:nvSpPr>
        <p:spPr>
          <a:xfrm>
            <a:off x="1097280" y="2165604"/>
            <a:ext cx="548640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Constant running times are also O(n). Let us prove that </a:t>
            </a:r>
            <a:r>
              <a:rPr lang="en-US" sz="1850" b="1" dirty="0">
                <a:solidFill>
                  <a:schemeClr val="tx1"/>
                </a:solidFill>
              </a:rPr>
              <a:t>f(n) = 12 is O(n)</a:t>
            </a:r>
            <a:r>
              <a:rPr lang="en-US" sz="1850" dirty="0">
                <a:solidFill>
                  <a:schemeClr val="tx1"/>
                </a:solidFill>
              </a:rPr>
              <a:t>.</a:t>
            </a:r>
            <a:endParaRPr lang="en-US" sz="1850" dirty="0"/>
          </a:p>
        </p:txBody>
      </p:sp>
      <p:sp>
        <p:nvSpPr>
          <p:cNvPr id="9" name="Step circle 200"/>
          <p:cNvSpPr/>
          <p:nvPr/>
        </p:nvSpPr>
        <p:spPr>
          <a:xfrm>
            <a:off x="548640" y="295808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tep number 201"/>
          <p:cNvSpPr txBox="1"/>
          <p:nvPr/>
        </p:nvSpPr>
        <p:spPr>
          <a:xfrm>
            <a:off x="5486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202"/>
          <p:cNvSpPr txBox="1"/>
          <p:nvPr/>
        </p:nvSpPr>
        <p:spPr>
          <a:xfrm>
            <a:off x="1097280" y="2990850"/>
            <a:ext cx="54864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Choose </a:t>
            </a:r>
            <a:r>
              <a:rPr lang="en-US" sz="1850" b="1" dirty="0">
                <a:solidFill>
                  <a:schemeClr val="tx1"/>
                </a:solidFill>
              </a:rPr>
              <a:t>c = 1</a:t>
            </a:r>
            <a:r>
              <a:rPr lang="en-US" sz="1850" dirty="0">
                <a:solidFill>
                  <a:schemeClr val="tx1"/>
                </a:solidFill>
              </a:rPr>
              <a:t> and </a:t>
            </a:r>
            <a:r>
              <a:rPr lang="en-US" sz="1850" b="1" dirty="0">
                <a:solidFill>
                  <a:schemeClr val="tx1"/>
                </a:solidFill>
              </a:rPr>
              <a:t>n₀ = 12</a:t>
            </a:r>
            <a:r>
              <a:rPr lang="en-US" sz="1850" dirty="0">
                <a:solidFill>
                  <a:schemeClr val="tx1"/>
                </a:solidFill>
              </a:rPr>
              <a:t>. For every n ≥ 12:</a:t>
            </a:r>
            <a:endParaRPr lang="en-US" sz="1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 12" descr="f(n) = 12 \le 1 \cdot n = c \cdot n"/>
              <p:cNvSpPr txBox="1"/>
              <p:nvPr/>
            </p:nvSpPr>
            <p:spPr>
              <a:xfrm>
                <a:off x="1234440" y="3336798"/>
                <a:ext cx="2777383" cy="30770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)=12≤1·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50" dirty="0"/>
              </a:p>
            </p:txBody>
          </p:sp>
        </mc:Choice>
        <mc:Fallback xmlns="">
          <p:pic>
            <p:nvPicPr>
              <p:cNvPr id="12" name="EQ|83880c790999|20.5" descr="f(n) = 12 \le 1 \cdot n = c \cdot n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3336798"/>
                <a:ext cx="2777383" cy="307702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tep circle 203"/>
          <p:cNvSpPr/>
          <p:nvPr/>
        </p:nvSpPr>
        <p:spPr>
          <a:xfrm>
            <a:off x="548640" y="388224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tep number 204"/>
          <p:cNvSpPr txBox="1"/>
          <p:nvPr/>
        </p:nvSpPr>
        <p:spPr>
          <a:xfrm>
            <a:off x="548640" y="3882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tep text 205"/>
          <p:cNvSpPr txBox="1"/>
          <p:nvPr/>
        </p:nvSpPr>
        <p:spPr>
          <a:xfrm>
            <a:off x="1097280" y="3915010"/>
            <a:ext cx="54864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So the definition holds, and</a:t>
            </a:r>
            <a:endParaRPr lang="en-US" sz="1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uation 16" descr="12 = O(n)"/>
              <p:cNvSpPr txBox="1"/>
              <p:nvPr/>
            </p:nvSpPr>
            <p:spPr>
              <a:xfrm>
                <a:off x="1234440" y="4260958"/>
                <a:ext cx="1445895" cy="37524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12=</m:t>
                      </m:r>
                      <m:r>
                        <a:rPr lang="en-US" sz="25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5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5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5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pic>
            <p:nvPicPr>
              <p:cNvPr id="16" name="EQ|d859a52e0516|25" descr="12 = O(n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4260958"/>
                <a:ext cx="1445895" cy="375247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Graph 12 206" descr="Graph: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444752"/>
            <a:ext cx="4416552" cy="29200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Ω Notation</a:t>
            </a:r>
            <a:endParaRPr lang="en-US" sz="3000" dirty="0"/>
          </a:p>
        </p:txBody>
      </p:sp>
      <p:sp>
        <p:nvSpPr>
          <p:cNvPr id="3" name="Definition card 235"/>
          <p:cNvSpPr/>
          <p:nvPr/>
        </p:nvSpPr>
        <p:spPr>
          <a:xfrm>
            <a:off x="548640" y="1307592"/>
            <a:ext cx="6309360" cy="2259486"/>
          </a:xfrm>
          <a:prstGeom prst="roundRect">
            <a:avLst>
              <a:gd name="adj" fmla="val 4047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Icon circle 236"/>
          <p:cNvSpPr/>
          <p:nvPr/>
        </p:nvSpPr>
        <p:spPr>
          <a:xfrm>
            <a:off x="74980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con 23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554480"/>
            <a:ext cx="219456" cy="219456"/>
          </a:xfrm>
          <a:prstGeom prst="rect">
            <a:avLst/>
          </a:prstGeom>
        </p:spPr>
      </p:pic>
      <p:sp>
        <p:nvSpPr>
          <p:cNvPr id="6" name="Card heading 238"/>
          <p:cNvSpPr txBox="1"/>
          <p:nvPr/>
        </p:nvSpPr>
        <p:spPr>
          <a:xfrm>
            <a:off x="1243584" y="1472184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7" name="Text 239"/>
          <p:cNvSpPr txBox="1"/>
          <p:nvPr/>
        </p:nvSpPr>
        <p:spPr>
          <a:xfrm>
            <a:off x="777240" y="1965960"/>
            <a:ext cx="58521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chemeClr val="tx1"/>
                </a:solidFill>
              </a:rPr>
              <a:t>O gives an upper bound; Ω gives a </a:t>
            </a:r>
            <a:r>
              <a:rPr lang="en-US" sz="1750" b="1" dirty="0">
                <a:solidFill>
                  <a:schemeClr val="tx1"/>
                </a:solidFill>
              </a:rPr>
              <a:t>lower bound</a:t>
            </a:r>
            <a:r>
              <a:rPr lang="en-US" sz="1750" dirty="0">
                <a:solidFill>
                  <a:schemeClr val="tx1"/>
                </a:solidFill>
              </a:rPr>
              <a:t>. f(n) = Ω(g(n)) if there exist positive constants </a:t>
            </a:r>
            <a:r>
              <a:rPr lang="en-US" sz="1750" b="1" dirty="0">
                <a:solidFill>
                  <a:schemeClr val="tx1"/>
                </a:solidFill>
              </a:rPr>
              <a:t>c</a:t>
            </a:r>
            <a:r>
              <a:rPr lang="en-US" sz="1750" dirty="0">
                <a:solidFill>
                  <a:schemeClr val="tx1"/>
                </a:solidFill>
              </a:rPr>
              <a:t> and </a:t>
            </a:r>
            <a:r>
              <a:rPr lang="en-US" sz="1750" b="1" dirty="0">
                <a:solidFill>
                  <a:schemeClr val="tx1"/>
                </a:solidFill>
              </a:rPr>
              <a:t>n₀</a:t>
            </a:r>
            <a:r>
              <a:rPr lang="en-US" sz="1750" dirty="0">
                <a:solidFill>
                  <a:schemeClr val="tx1"/>
                </a:solidFill>
              </a:rPr>
              <a:t> such that</a:t>
            </a:r>
            <a:endParaRPr lang="en-US" sz="1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f(n) \ge c \cdot g(n) \quad \text{for all } n \ge n_0"/>
              <p:cNvSpPr txBox="1"/>
              <p:nvPr/>
            </p:nvSpPr>
            <p:spPr>
              <a:xfrm>
                <a:off x="777240" y="2602992"/>
                <a:ext cx="3759898" cy="33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8" name="EQ|31f0b0952825|22.5" descr="f(n) \ge c \cdot g(n) \quad \text{for all } n \ge n_0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02992"/>
                <a:ext cx="3759898" cy="337722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 240"/>
          <p:cNvSpPr txBox="1"/>
          <p:nvPr/>
        </p:nvSpPr>
        <p:spPr>
          <a:xfrm>
            <a:off x="777240" y="3044346"/>
            <a:ext cx="5852160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chemeClr val="tx1"/>
                </a:solidFill>
              </a:rPr>
              <a:t>Meaning: to the right of n₀, f(n) always lies </a:t>
            </a:r>
            <a:r>
              <a:rPr lang="en-US" sz="1750" b="1" dirty="0">
                <a:solidFill>
                  <a:schemeClr val="tx1"/>
                </a:solidFill>
              </a:rPr>
              <a:t>on or above</a:t>
            </a:r>
            <a:r>
              <a:rPr lang="en-US" sz="1750" dirty="0">
                <a:solidFill>
                  <a:schemeClr val="tx1"/>
                </a:solidFill>
              </a:rPr>
              <a:t> c · g(n).</a:t>
            </a:r>
            <a:endParaRPr lang="en-US" sz="1750" dirty="0"/>
          </a:p>
        </p:txBody>
      </p:sp>
      <p:sp>
        <p:nvSpPr>
          <p:cNvPr id="10" name="Examples card 241"/>
          <p:cNvSpPr/>
          <p:nvPr/>
        </p:nvSpPr>
        <p:spPr>
          <a:xfrm>
            <a:off x="548640" y="3795678"/>
            <a:ext cx="6309360" cy="2165993"/>
          </a:xfrm>
          <a:prstGeom prst="roundRect">
            <a:avLst>
              <a:gd name="adj" fmla="val 4222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Icon circle 242"/>
          <p:cNvSpPr/>
          <p:nvPr/>
        </p:nvSpPr>
        <p:spPr>
          <a:xfrm>
            <a:off x="749808" y="396027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2" name="Icon 24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042566"/>
            <a:ext cx="219456" cy="219456"/>
          </a:xfrm>
          <a:prstGeom prst="rect">
            <a:avLst/>
          </a:prstGeom>
        </p:spPr>
      </p:pic>
      <p:sp>
        <p:nvSpPr>
          <p:cNvPr id="13" name="Card heading 244"/>
          <p:cNvSpPr txBox="1"/>
          <p:nvPr/>
        </p:nvSpPr>
        <p:spPr>
          <a:xfrm>
            <a:off x="1243584" y="3960270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Examples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2n + 3 = \Omega(n), \qquad 2n + 3 = \Omega(1)"/>
              <p:cNvSpPr txBox="1"/>
              <p:nvPr/>
            </p:nvSpPr>
            <p:spPr>
              <a:xfrm>
                <a:off x="777240" y="4481478"/>
                <a:ext cx="3607795" cy="29269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+3=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),  2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+3=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4" name="EQ|81c3c45341a0|19.5" descr="2n + 3 = \Omega(n), \qquad 2n + 3 = \Omega(1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240" y="4481478"/>
                <a:ext cx="3607795" cy="2926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quation 15" descr="5n^{2} + 1000 = \Omega(n^{2})"/>
              <p:cNvSpPr txBox="1"/>
              <p:nvPr/>
            </p:nvSpPr>
            <p:spPr>
              <a:xfrm>
                <a:off x="777240" y="4905235"/>
                <a:ext cx="2086204" cy="3209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+1000=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5" name="EQ|65495f5b47bc|19.5" descr="5n^{2} + 1000 = \Omega(n^{2}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7240" y="4905235"/>
                <a:ext cx="2086204" cy="320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uation 16" descr="n^{4} + 3n^{2} + 2n + 2 = \Omega(n^{4}) \;\text{ and also }\; \Omega(n^{2})"/>
              <p:cNvSpPr txBox="1"/>
              <p:nvPr/>
            </p:nvSpPr>
            <p:spPr>
              <a:xfrm>
                <a:off x="777240" y="5357253"/>
                <a:ext cx="4576542" cy="3209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+2=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)  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also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 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6" name="EQ|ffe161633fad|19.5" descr="n^{4} + 3n^{2} + 2n + 2 = \Omega(n^{4}) \;\text{ and also }\; \Omega(n^{2})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7240" y="5357253"/>
                <a:ext cx="4576542" cy="320954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Graph Omega 245" descr="Graph: Omeg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1444752"/>
            <a:ext cx="4553712" cy="34516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Properties of O and Ω</a:t>
            </a:r>
            <a:endParaRPr lang="en-US" sz="3000" dirty="0"/>
          </a:p>
        </p:txBody>
      </p:sp>
      <p:sp>
        <p:nvSpPr>
          <p:cNvPr id="3" name="Theorem (duality) card 263"/>
          <p:cNvSpPr/>
          <p:nvPr/>
        </p:nvSpPr>
        <p:spPr>
          <a:xfrm>
            <a:off x="548640" y="1307592"/>
            <a:ext cx="5408676" cy="1635106"/>
          </a:xfrm>
          <a:prstGeom prst="roundRect">
            <a:avLst>
              <a:gd name="adj" fmla="val 5592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Icon circle 264"/>
          <p:cNvSpPr/>
          <p:nvPr/>
        </p:nvSpPr>
        <p:spPr>
          <a:xfrm>
            <a:off x="74980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con 26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554480"/>
            <a:ext cx="219456" cy="219456"/>
          </a:xfrm>
          <a:prstGeom prst="rect">
            <a:avLst/>
          </a:prstGeom>
        </p:spPr>
      </p:pic>
      <p:sp>
        <p:nvSpPr>
          <p:cNvPr id="6" name="Card heading 266"/>
          <p:cNvSpPr txBox="1"/>
          <p:nvPr/>
        </p:nvSpPr>
        <p:spPr>
          <a:xfrm>
            <a:off x="1243584" y="1472184"/>
            <a:ext cx="4530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Theorem (duality)</a:t>
            </a:r>
            <a:endParaRPr lang="en-US" sz="1700" dirty="0"/>
          </a:p>
        </p:txBody>
      </p:sp>
      <p:sp>
        <p:nvSpPr>
          <p:cNvPr id="7" name="Text 267"/>
          <p:cNvSpPr txBox="1"/>
          <p:nvPr/>
        </p:nvSpPr>
        <p:spPr>
          <a:xfrm>
            <a:off x="777240" y="1965960"/>
            <a:ext cx="4951476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For any two functions f(n) and g(n):</a:t>
            </a:r>
            <a:endParaRPr lang="en-US" sz="1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f(n) = O(g(n)) \;\Leftrightarrow\; g(n) = \Omega(f(n))"/>
              <p:cNvSpPr txBox="1"/>
              <p:nvPr/>
            </p:nvSpPr>
            <p:spPr>
              <a:xfrm>
                <a:off x="777240" y="2351532"/>
                <a:ext cx="4042684" cy="30770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)) ⇔ 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50" dirty="0"/>
              </a:p>
            </p:txBody>
          </p:sp>
        </mc:Choice>
        <mc:Fallback xmlns="">
          <p:pic>
            <p:nvPicPr>
              <p:cNvPr id="8" name="EQ|07f7a5631412|20.5" descr="f(n) = O(g(n)) \;\Leftrightarrow\; g(n) = \Omega(f(n)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351532"/>
                <a:ext cx="4042684" cy="307702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flexivity card 269"/>
          <p:cNvSpPr/>
          <p:nvPr/>
        </p:nvSpPr>
        <p:spPr>
          <a:xfrm>
            <a:off x="6231636" y="1307592"/>
            <a:ext cx="5408676" cy="1635106"/>
          </a:xfrm>
          <a:prstGeom prst="roundRect">
            <a:avLst>
              <a:gd name="adj" fmla="val 5592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270"/>
          <p:cNvSpPr/>
          <p:nvPr/>
        </p:nvSpPr>
        <p:spPr>
          <a:xfrm>
            <a:off x="6432804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27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554480"/>
            <a:ext cx="219456" cy="219456"/>
          </a:xfrm>
          <a:prstGeom prst="rect">
            <a:avLst/>
          </a:prstGeom>
        </p:spPr>
      </p:pic>
      <p:sp>
        <p:nvSpPr>
          <p:cNvPr id="12" name="Card heading 272"/>
          <p:cNvSpPr txBox="1"/>
          <p:nvPr/>
        </p:nvSpPr>
        <p:spPr>
          <a:xfrm>
            <a:off x="6926580" y="1472184"/>
            <a:ext cx="4530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Reflexivity</a:t>
            </a:r>
            <a:endParaRPr lang="en-US" sz="1700" dirty="0"/>
          </a:p>
        </p:txBody>
      </p:sp>
      <p:sp>
        <p:nvSpPr>
          <p:cNvPr id="13" name="Text 273"/>
          <p:cNvSpPr txBox="1"/>
          <p:nvPr/>
        </p:nvSpPr>
        <p:spPr>
          <a:xfrm>
            <a:off x="6460236" y="1965960"/>
            <a:ext cx="4951476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For every function f(n):</a:t>
            </a:r>
            <a:endParaRPr lang="en-US" sz="1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f(n) = O(f(n)), \qquad f(n) = \Omega(f(n))"/>
              <p:cNvSpPr txBox="1"/>
              <p:nvPr/>
            </p:nvSpPr>
            <p:spPr>
              <a:xfrm>
                <a:off x="6460236" y="2351532"/>
                <a:ext cx="4131723" cy="30770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)),  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50" dirty="0"/>
              </a:p>
            </p:txBody>
          </p:sp>
        </mc:Choice>
        <mc:Fallback xmlns="">
          <p:pic>
            <p:nvPicPr>
              <p:cNvPr id="14" name="EQ|f1333b865300|20.5" descr="f(n) = O(f(n)), \qquad f(n) = \Omega(f(n)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60236" y="2351532"/>
                <a:ext cx="4131723" cy="307702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ransitivity card 274"/>
          <p:cNvSpPr/>
          <p:nvPr/>
        </p:nvSpPr>
        <p:spPr>
          <a:xfrm>
            <a:off x="548640" y="3217018"/>
            <a:ext cx="11091672" cy="1715733"/>
          </a:xfrm>
          <a:prstGeom prst="roundRect">
            <a:avLst>
              <a:gd name="adj" fmla="val 53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Icon circle 275"/>
          <p:cNvSpPr/>
          <p:nvPr/>
        </p:nvSpPr>
        <p:spPr>
          <a:xfrm>
            <a:off x="749808" y="338161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con 27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3463906"/>
            <a:ext cx="219456" cy="219456"/>
          </a:xfrm>
          <a:prstGeom prst="rect">
            <a:avLst/>
          </a:prstGeom>
        </p:spPr>
      </p:pic>
      <p:sp>
        <p:nvSpPr>
          <p:cNvPr id="18" name="Card heading 277"/>
          <p:cNvSpPr txBox="1"/>
          <p:nvPr/>
        </p:nvSpPr>
        <p:spPr>
          <a:xfrm>
            <a:off x="1243584" y="3381610"/>
            <a:ext cx="10213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Transitivity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quation 19" descr="f(n) = O(g(n)) \text{ and } g(n) = O(h(n)) \;\Rightarrow\; f(n) = O(h(n))"/>
              <p:cNvSpPr txBox="1"/>
              <p:nvPr/>
            </p:nvSpPr>
            <p:spPr>
              <a:xfrm>
                <a:off x="777240" y="3902818"/>
                <a:ext cx="6373368" cy="30770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)) ⇒ 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50" dirty="0"/>
              </a:p>
            </p:txBody>
          </p:sp>
        </mc:Choice>
        <mc:Fallback xmlns="">
          <p:pic>
            <p:nvPicPr>
              <p:cNvPr id="19" name="EQ|02b622a2c3f8|20.5" descr="f(n) = O(g(n)) \text{ and } g(n) = O(h(n)) \;\Rightarrow\; f(n) = O(h(n))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7240" y="3902818"/>
                <a:ext cx="6373368" cy="3077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uation 20" descr="f(n) = \Omega(g(n)) \text{ and } g(n) = \Omega(h(n)) \;\Rightarrow\; f(n) = \Omega(h(n))"/>
              <p:cNvSpPr txBox="1"/>
              <p:nvPr/>
            </p:nvSpPr>
            <p:spPr>
              <a:xfrm>
                <a:off x="777240" y="4341585"/>
                <a:ext cx="6285922" cy="30770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)) ⇒ 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50" dirty="0"/>
              </a:p>
            </p:txBody>
          </p:sp>
        </mc:Choice>
        <mc:Fallback xmlns="">
          <p:pic>
            <p:nvPicPr>
              <p:cNvPr id="20" name="EQ|85d3061a2e1b|20.5" descr="f(n) = \Omega(g(n)) \text{ and } g(n) = \Omega(h(n)) \;\Rightarrow\; f(n) = \Omega(h(n))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7240" y="4341585"/>
                <a:ext cx="6285922" cy="307702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Θ Notation</a:t>
            </a:r>
            <a:endParaRPr lang="en-US" sz="3000" dirty="0"/>
          </a:p>
        </p:txBody>
      </p:sp>
      <p:sp>
        <p:nvSpPr>
          <p:cNvPr id="3" name="Definition card 295"/>
          <p:cNvSpPr/>
          <p:nvPr/>
        </p:nvSpPr>
        <p:spPr>
          <a:xfrm>
            <a:off x="548640" y="1307592"/>
            <a:ext cx="6309360" cy="2511176"/>
          </a:xfrm>
          <a:prstGeom prst="roundRect">
            <a:avLst>
              <a:gd name="adj" fmla="val 3641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Icon circle 296"/>
          <p:cNvSpPr/>
          <p:nvPr/>
        </p:nvSpPr>
        <p:spPr>
          <a:xfrm>
            <a:off x="74980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con 29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554480"/>
            <a:ext cx="219456" cy="219456"/>
          </a:xfrm>
          <a:prstGeom prst="rect">
            <a:avLst/>
          </a:prstGeom>
        </p:spPr>
      </p:pic>
      <p:sp>
        <p:nvSpPr>
          <p:cNvPr id="6" name="Card heading 298"/>
          <p:cNvSpPr txBox="1"/>
          <p:nvPr/>
        </p:nvSpPr>
        <p:spPr>
          <a:xfrm>
            <a:off x="1243584" y="1472184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7" name="Text 299"/>
          <p:cNvSpPr txBox="1"/>
          <p:nvPr/>
        </p:nvSpPr>
        <p:spPr>
          <a:xfrm>
            <a:off x="777240" y="1965960"/>
            <a:ext cx="58521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chemeClr val="tx1"/>
                </a:solidFill>
              </a:rPr>
              <a:t>f(n) = Θ(g(n)) if there exist positive constants </a:t>
            </a:r>
            <a:r>
              <a:rPr lang="en-US" sz="1750" b="1" dirty="0">
                <a:solidFill>
                  <a:schemeClr val="tx1"/>
                </a:solidFill>
              </a:rPr>
              <a:t>c₁, c₂</a:t>
            </a:r>
            <a:r>
              <a:rPr lang="en-US" sz="1750" dirty="0">
                <a:solidFill>
                  <a:schemeClr val="tx1"/>
                </a:solidFill>
              </a:rPr>
              <a:t> and </a:t>
            </a:r>
            <a:r>
              <a:rPr lang="en-US" sz="1750" b="1" dirty="0">
                <a:solidFill>
                  <a:schemeClr val="tx1"/>
                </a:solidFill>
              </a:rPr>
              <a:t>n₀</a:t>
            </a:r>
            <a:r>
              <a:rPr lang="en-US" sz="1750" dirty="0">
                <a:solidFill>
                  <a:schemeClr val="tx1"/>
                </a:solidFill>
              </a:rPr>
              <a:t> such that</a:t>
            </a:r>
            <a:endParaRPr lang="en-US" sz="1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c_1 \cdot g(n) \le f(n) \le c_2 \cdot g(n) \quad \text{for all } n \ge n_0"/>
              <p:cNvSpPr txBox="1"/>
              <p:nvPr/>
            </p:nvSpPr>
            <p:spPr>
              <a:xfrm>
                <a:off x="777240" y="2602992"/>
                <a:ext cx="5005039" cy="3227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sSub>
                        <m:sSub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8" name="EQ|2eb4e0689158|21.5" descr="c_1 \cdot g(n) \le f(n) \le c_2 \cdot g(n) \quad \text{for all } n \ge n_0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02992"/>
                <a:ext cx="5005039" cy="322712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 300"/>
          <p:cNvSpPr txBox="1"/>
          <p:nvPr/>
        </p:nvSpPr>
        <p:spPr>
          <a:xfrm>
            <a:off x="777240" y="3029336"/>
            <a:ext cx="58521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chemeClr val="tx1"/>
                </a:solidFill>
              </a:rPr>
              <a:t>f is bounded </a:t>
            </a:r>
            <a:r>
              <a:rPr lang="en-US" sz="1750" b="1" dirty="0">
                <a:solidFill>
                  <a:schemeClr val="tx1"/>
                </a:solidFill>
              </a:rPr>
              <a:t>from above and from below</a:t>
            </a:r>
            <a:r>
              <a:rPr lang="en-US" sz="1750" dirty="0">
                <a:solidFill>
                  <a:schemeClr val="tx1"/>
                </a:solidFill>
              </a:rPr>
              <a:t> by multiples of g — it behaves like g. This is a </a:t>
            </a:r>
            <a:r>
              <a:rPr lang="en-US" sz="1750" b="1" dirty="0">
                <a:solidFill>
                  <a:schemeClr val="tx1"/>
                </a:solidFill>
              </a:rPr>
              <a:t>tight</a:t>
            </a:r>
            <a:r>
              <a:rPr lang="en-US" sz="1750" dirty="0">
                <a:solidFill>
                  <a:schemeClr val="tx1"/>
                </a:solidFill>
              </a:rPr>
              <a:t> bound.</a:t>
            </a:r>
            <a:endParaRPr lang="en-US" sz="1750" dirty="0"/>
          </a:p>
        </p:txBody>
      </p:sp>
      <p:sp>
        <p:nvSpPr>
          <p:cNvPr id="10" name="Example card 302"/>
          <p:cNvSpPr/>
          <p:nvPr/>
        </p:nvSpPr>
        <p:spPr>
          <a:xfrm>
            <a:off x="548640" y="4047368"/>
            <a:ext cx="6309360" cy="2085137"/>
          </a:xfrm>
          <a:prstGeom prst="roundRect">
            <a:avLst>
              <a:gd name="adj" fmla="val 438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Icon circle 303"/>
          <p:cNvSpPr/>
          <p:nvPr/>
        </p:nvSpPr>
        <p:spPr>
          <a:xfrm>
            <a:off x="749808" y="421196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2" name="Icon 30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294256"/>
            <a:ext cx="219456" cy="219456"/>
          </a:xfrm>
          <a:prstGeom prst="rect">
            <a:avLst/>
          </a:prstGeom>
        </p:spPr>
      </p:pic>
      <p:sp>
        <p:nvSpPr>
          <p:cNvPr id="13" name="Card heading 305"/>
          <p:cNvSpPr txBox="1"/>
          <p:nvPr/>
        </p:nvSpPr>
        <p:spPr>
          <a:xfrm>
            <a:off x="1243584" y="4211960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Example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3n^{2} + 5n + 2 = O(n^{2}) \;\text{ and }\; 3n^{2} + 5n + 2 = \Omega(n^{2})"/>
              <p:cNvSpPr txBox="1"/>
              <p:nvPr/>
            </p:nvSpPr>
            <p:spPr>
              <a:xfrm>
                <a:off x="777240" y="4733168"/>
                <a:ext cx="5263028" cy="3209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+2=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)  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 3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19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+2=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4" name="EQ|4ceec77ac32b|19.5" descr="3n^{2} + 5n + 2 = O(n^{2}) \;\text{ and }\; 3n^{2} + 5n + 2 = \Omega(n^{2}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240" y="4733168"/>
                <a:ext cx="5263028" cy="320954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 306"/>
          <p:cNvSpPr txBox="1"/>
          <p:nvPr/>
        </p:nvSpPr>
        <p:spPr>
          <a:xfrm>
            <a:off x="777240" y="5157755"/>
            <a:ext cx="5852160" cy="29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chemeClr val="tx1"/>
                </a:solidFill>
              </a:rPr>
              <a:t>so n² is both an upper and a lower bound:</a:t>
            </a:r>
            <a:endParaRPr lang="en-US" sz="1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uation 16" descr="3n^{2} + 5n + 2 = \Theta(n^{2})"/>
              <p:cNvSpPr txBox="1"/>
              <p:nvPr/>
            </p:nvSpPr>
            <p:spPr>
              <a:xfrm>
                <a:off x="777240" y="5528087"/>
                <a:ext cx="2312031" cy="3209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9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19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9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+2=</m:t>
                      </m:r>
                      <m:r>
                        <m:rPr>
                          <m:sty m:val="p"/>
                        </m:rPr>
                        <a:rPr lang="en-US" sz="19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9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9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pic>
            <p:nvPicPr>
              <p:cNvPr id="16" name="EQ|cc4db124c19e|19.5" descr="3n^{2} + 5n + 2 = \Theta(n^{2}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7240" y="5528087"/>
                <a:ext cx="2312031" cy="320954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Graph Theta 307" descr="Graph: The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1444752"/>
            <a:ext cx="4553712" cy="338565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Properties of Θ</a:t>
            </a:r>
            <a:endParaRPr lang="en-US" sz="3000" dirty="0"/>
          </a:p>
        </p:txBody>
      </p:sp>
      <p:sp>
        <p:nvSpPr>
          <p:cNvPr id="3" name="Theorem card 327"/>
          <p:cNvSpPr/>
          <p:nvPr/>
        </p:nvSpPr>
        <p:spPr>
          <a:xfrm>
            <a:off x="548640" y="1307592"/>
            <a:ext cx="11091672" cy="1672631"/>
          </a:xfrm>
          <a:prstGeom prst="roundRect">
            <a:avLst>
              <a:gd name="adj" fmla="val 5467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Icon circle 328"/>
          <p:cNvSpPr/>
          <p:nvPr/>
        </p:nvSpPr>
        <p:spPr>
          <a:xfrm>
            <a:off x="74980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con 32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554480"/>
            <a:ext cx="219456" cy="219456"/>
          </a:xfrm>
          <a:prstGeom prst="rect">
            <a:avLst/>
          </a:prstGeom>
        </p:spPr>
      </p:pic>
      <p:sp>
        <p:nvSpPr>
          <p:cNvPr id="6" name="Card heading 330"/>
          <p:cNvSpPr txBox="1"/>
          <p:nvPr/>
        </p:nvSpPr>
        <p:spPr>
          <a:xfrm>
            <a:off x="1243584" y="1472184"/>
            <a:ext cx="10213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Theorem</a:t>
            </a:r>
            <a:endParaRPr lang="en-US" sz="1700" dirty="0"/>
          </a:p>
        </p:txBody>
      </p:sp>
      <p:sp>
        <p:nvSpPr>
          <p:cNvPr id="7" name="Text 331"/>
          <p:cNvSpPr txBox="1"/>
          <p:nvPr/>
        </p:nvSpPr>
        <p:spPr>
          <a:xfrm>
            <a:off x="777240" y="1965960"/>
            <a:ext cx="1063447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dirty="0">
                <a:solidFill>
                  <a:schemeClr val="tx1"/>
                </a:solidFill>
              </a:rPr>
              <a:t>For any two functions f(n) and g(n):</a:t>
            </a:r>
            <a:endParaRPr lang="en-US" sz="18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f(n) = \Theta(g(n)) \;\Leftrightarrow\; f(n) = O(g(n)) \text{ and } f(n) = \Omega(g(n))"/>
              <p:cNvSpPr txBox="1"/>
              <p:nvPr/>
            </p:nvSpPr>
            <p:spPr>
              <a:xfrm>
                <a:off x="777240" y="2351532"/>
                <a:ext cx="7090985" cy="34522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)) ⇔ 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3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300" dirty="0"/>
              </a:p>
            </p:txBody>
          </p:sp>
        </mc:Choice>
        <mc:Fallback xmlns="">
          <p:pic>
            <p:nvPicPr>
              <p:cNvPr id="8" name="EQ|311c59385c29|23" descr="f(n) = \Theta(g(n)) \;\Leftrightarrow\; f(n) = O(g(n)) \text{ and } f(n) = \Omega(g(n)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351532"/>
                <a:ext cx="7090985" cy="345227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ransitivity card 332"/>
          <p:cNvSpPr/>
          <p:nvPr/>
        </p:nvSpPr>
        <p:spPr>
          <a:xfrm>
            <a:off x="548640" y="3254543"/>
            <a:ext cx="3514344" cy="1682496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333"/>
          <p:cNvSpPr/>
          <p:nvPr/>
        </p:nvSpPr>
        <p:spPr>
          <a:xfrm>
            <a:off x="749808" y="3419135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33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501431"/>
            <a:ext cx="219456" cy="219456"/>
          </a:xfrm>
          <a:prstGeom prst="rect">
            <a:avLst/>
          </a:prstGeom>
        </p:spPr>
      </p:pic>
      <p:sp>
        <p:nvSpPr>
          <p:cNvPr id="12" name="Card heading 335"/>
          <p:cNvSpPr txBox="1"/>
          <p:nvPr/>
        </p:nvSpPr>
        <p:spPr>
          <a:xfrm>
            <a:off x="1243584" y="3419135"/>
            <a:ext cx="263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Transitivity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 13" descr="f = \Theta(g),\; g = \Theta(h) \;\Rightarrow\; f = \Theta(h)"/>
              <p:cNvSpPr txBox="1"/>
              <p:nvPr/>
            </p:nvSpPr>
            <p:spPr>
              <a:xfrm>
                <a:off x="777240" y="3940343"/>
                <a:ext cx="3023592" cy="24015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), </m:t>
                      </m:r>
                      <m:r>
                        <a:rPr lang="en-US" sz="1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) ⇒ </m:t>
                      </m:r>
                      <m:r>
                        <a:rPr lang="en-US" sz="1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pic>
            <p:nvPicPr>
              <p:cNvPr id="13" name="EQ|5c0d96abf65c|16" descr="f = \Theta(g),\; g = \Theta(h) \;\Rightarrow\; f = \Theta(h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240" y="3940343"/>
                <a:ext cx="3023592" cy="240158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Reflexivity card 336"/>
          <p:cNvSpPr/>
          <p:nvPr/>
        </p:nvSpPr>
        <p:spPr>
          <a:xfrm>
            <a:off x="4337304" y="3254543"/>
            <a:ext cx="3514344" cy="1682496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Icon circle 337"/>
          <p:cNvSpPr/>
          <p:nvPr/>
        </p:nvSpPr>
        <p:spPr>
          <a:xfrm>
            <a:off x="4538472" y="3419135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6" name="Icon 33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768" y="3501431"/>
            <a:ext cx="219456" cy="219456"/>
          </a:xfrm>
          <a:prstGeom prst="rect">
            <a:avLst/>
          </a:prstGeom>
        </p:spPr>
      </p:pic>
      <p:sp>
        <p:nvSpPr>
          <p:cNvPr id="17" name="Card heading 339"/>
          <p:cNvSpPr txBox="1"/>
          <p:nvPr/>
        </p:nvSpPr>
        <p:spPr>
          <a:xfrm>
            <a:off x="5032248" y="3419135"/>
            <a:ext cx="263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Reflexivity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Equation 18" descr="f(n) = \Theta(f(n))"/>
              <p:cNvSpPr txBox="1"/>
              <p:nvPr/>
            </p:nvSpPr>
            <p:spPr>
              <a:xfrm>
                <a:off x="4565904" y="3940343"/>
                <a:ext cx="1779201" cy="30770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50" dirty="0"/>
              </a:p>
            </p:txBody>
          </p:sp>
        </mc:Choice>
        <mc:Fallback xmlns="">
          <p:pic>
            <p:nvPicPr>
              <p:cNvPr id="18" name="EQ|64b02854c722|20.5" descr="f(n) = \Theta(f(n))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5904" y="3940343"/>
                <a:ext cx="1779201" cy="307702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Symmetry card 340"/>
          <p:cNvSpPr/>
          <p:nvPr/>
        </p:nvSpPr>
        <p:spPr>
          <a:xfrm>
            <a:off x="8125968" y="3254543"/>
            <a:ext cx="3514344" cy="1682496"/>
          </a:xfrm>
          <a:prstGeom prst="roundRect">
            <a:avLst>
              <a:gd name="adj" fmla="val 543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Icon circle 341"/>
          <p:cNvSpPr/>
          <p:nvPr/>
        </p:nvSpPr>
        <p:spPr>
          <a:xfrm>
            <a:off x="8327136" y="3419135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1" name="Icon 34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9432" y="3501431"/>
            <a:ext cx="219456" cy="219456"/>
          </a:xfrm>
          <a:prstGeom prst="rect">
            <a:avLst/>
          </a:prstGeom>
        </p:spPr>
      </p:pic>
      <p:sp>
        <p:nvSpPr>
          <p:cNvPr id="22" name="Card heading 343"/>
          <p:cNvSpPr txBox="1"/>
          <p:nvPr/>
        </p:nvSpPr>
        <p:spPr>
          <a:xfrm>
            <a:off x="8820912" y="3419135"/>
            <a:ext cx="263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Symmetry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uation 23" descr="f = \Theta(g) \;\Leftrightarrow\; g = \Theta(f)"/>
              <p:cNvSpPr txBox="1"/>
              <p:nvPr/>
            </p:nvSpPr>
            <p:spPr>
              <a:xfrm>
                <a:off x="8354568" y="3940343"/>
                <a:ext cx="2650852" cy="30770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) ⇔ 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50" dirty="0"/>
              </a:p>
            </p:txBody>
          </p:sp>
        </mc:Choice>
        <mc:Fallback xmlns="">
          <p:pic>
            <p:nvPicPr>
              <p:cNvPr id="23" name="EQ|f0567df08424|20.5" descr="f = \Theta(g) \;\Leftrightarrow\; g = \Theta(f)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54568" y="3940343"/>
                <a:ext cx="2650852" cy="307702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Summary: O, Ω and Θ</a:t>
            </a:r>
            <a:endParaRPr lang="en-US" sz="3000" dirty="0"/>
          </a:p>
        </p:txBody>
      </p:sp>
      <p:pic>
        <p:nvPicPr>
          <p:cNvPr id="3" name="Graph O 365" descr="Graph: 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61872"/>
            <a:ext cx="3361944" cy="2548279"/>
          </a:xfrm>
          <a:prstGeom prst="rect">
            <a:avLst/>
          </a:prstGeom>
        </p:spPr>
      </p:pic>
      <p:sp>
        <p:nvSpPr>
          <p:cNvPr id="4" name="O(g(n)) — upper bound card 367"/>
          <p:cNvSpPr/>
          <p:nvPr/>
        </p:nvSpPr>
        <p:spPr>
          <a:xfrm>
            <a:off x="548640" y="3947311"/>
            <a:ext cx="3544824" cy="1780577"/>
          </a:xfrm>
          <a:prstGeom prst="roundRect">
            <a:avLst>
              <a:gd name="adj" fmla="val 513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Icon circle 368"/>
          <p:cNvSpPr/>
          <p:nvPr/>
        </p:nvSpPr>
        <p:spPr>
          <a:xfrm>
            <a:off x="749808" y="4111903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36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194199"/>
            <a:ext cx="219456" cy="219456"/>
          </a:xfrm>
          <a:prstGeom prst="rect">
            <a:avLst/>
          </a:prstGeom>
        </p:spPr>
      </p:pic>
      <p:sp>
        <p:nvSpPr>
          <p:cNvPr id="7" name="Card heading 370"/>
          <p:cNvSpPr txBox="1"/>
          <p:nvPr/>
        </p:nvSpPr>
        <p:spPr>
          <a:xfrm>
            <a:off x="1243584" y="4111903"/>
            <a:ext cx="266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O(g(n)) — upper bound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0 \le f(n) \le c \cdot g(n)"/>
              <p:cNvSpPr txBox="1"/>
              <p:nvPr/>
            </p:nvSpPr>
            <p:spPr>
              <a:xfrm>
                <a:off x="777240" y="4633111"/>
                <a:ext cx="1858872" cy="2626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50" dirty="0"/>
              </a:p>
            </p:txBody>
          </p:sp>
        </mc:Choice>
        <mc:Fallback xmlns="">
          <p:pic>
            <p:nvPicPr>
              <p:cNvPr id="8" name="EQ|b7fd24fe566c|17.5" descr="0 \le f(n) \le c \cdot g(n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7240" y="4633111"/>
                <a:ext cx="1858872" cy="262673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 371"/>
          <p:cNvSpPr txBox="1"/>
          <p:nvPr/>
        </p:nvSpPr>
        <p:spPr>
          <a:xfrm>
            <a:off x="777240" y="4999415"/>
            <a:ext cx="308762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chemeClr val="tx1"/>
                </a:solidFill>
              </a:rPr>
              <a:t>for all n ≥ n₀ — f lies </a:t>
            </a:r>
            <a:r>
              <a:rPr lang="en-US" sz="1550" b="1" dirty="0">
                <a:solidFill>
                  <a:schemeClr val="tx1"/>
                </a:solidFill>
              </a:rPr>
              <a:t>on or below</a:t>
            </a:r>
            <a:r>
              <a:rPr lang="en-US" sz="1550" dirty="0">
                <a:solidFill>
                  <a:schemeClr val="tx1"/>
                </a:solidFill>
              </a:rPr>
              <a:t> c · g(n)</a:t>
            </a:r>
            <a:endParaRPr lang="en-US" sz="1550" dirty="0"/>
          </a:p>
        </p:txBody>
      </p:sp>
      <p:pic>
        <p:nvPicPr>
          <p:cNvPr id="10" name="Graph Omega 372" descr="Graph: Omeg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504" y="1261872"/>
            <a:ext cx="3361944" cy="2548279"/>
          </a:xfrm>
          <a:prstGeom prst="rect">
            <a:avLst/>
          </a:prstGeom>
        </p:spPr>
      </p:pic>
      <p:sp>
        <p:nvSpPr>
          <p:cNvPr id="11" name="Ω(g(n)) — lower bound card 374"/>
          <p:cNvSpPr/>
          <p:nvPr/>
        </p:nvSpPr>
        <p:spPr>
          <a:xfrm>
            <a:off x="4322064" y="3947311"/>
            <a:ext cx="3544824" cy="1780577"/>
          </a:xfrm>
          <a:prstGeom prst="roundRect">
            <a:avLst>
              <a:gd name="adj" fmla="val 5135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Icon circle 375"/>
          <p:cNvSpPr/>
          <p:nvPr/>
        </p:nvSpPr>
        <p:spPr>
          <a:xfrm>
            <a:off x="4523232" y="4111903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3" name="Icon 37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528" y="4194199"/>
            <a:ext cx="219456" cy="219456"/>
          </a:xfrm>
          <a:prstGeom prst="rect">
            <a:avLst/>
          </a:prstGeom>
        </p:spPr>
      </p:pic>
      <p:sp>
        <p:nvSpPr>
          <p:cNvPr id="14" name="Card heading 377"/>
          <p:cNvSpPr txBox="1"/>
          <p:nvPr/>
        </p:nvSpPr>
        <p:spPr>
          <a:xfrm>
            <a:off x="5017008" y="4111903"/>
            <a:ext cx="266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Ω(g(n)) — lower bound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quation 15" descr="0 \le c \cdot g(n) \le f(n)"/>
              <p:cNvSpPr txBox="1"/>
              <p:nvPr/>
            </p:nvSpPr>
            <p:spPr>
              <a:xfrm>
                <a:off x="4550664" y="4633111"/>
                <a:ext cx="1858872" cy="2626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50" dirty="0"/>
              </a:p>
            </p:txBody>
          </p:sp>
        </mc:Choice>
        <mc:Fallback xmlns="">
          <p:pic>
            <p:nvPicPr>
              <p:cNvPr id="15" name="EQ|6c07fcd5199b|17.5" descr="0 \le c \cdot g(n) \le f(n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0664" y="4633111"/>
                <a:ext cx="1858872" cy="262673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 378"/>
          <p:cNvSpPr txBox="1"/>
          <p:nvPr/>
        </p:nvSpPr>
        <p:spPr>
          <a:xfrm>
            <a:off x="4550664" y="4999415"/>
            <a:ext cx="308762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chemeClr val="tx1"/>
                </a:solidFill>
              </a:rPr>
              <a:t>for all n ≥ n₀ — f lies </a:t>
            </a:r>
            <a:r>
              <a:rPr lang="en-US" sz="1550" b="1" dirty="0">
                <a:solidFill>
                  <a:schemeClr val="tx1"/>
                </a:solidFill>
              </a:rPr>
              <a:t>on or above</a:t>
            </a:r>
            <a:r>
              <a:rPr lang="en-US" sz="1550" dirty="0">
                <a:solidFill>
                  <a:schemeClr val="tx1"/>
                </a:solidFill>
              </a:rPr>
              <a:t> c · g(n)</a:t>
            </a:r>
            <a:endParaRPr lang="en-US" sz="1550" dirty="0"/>
          </a:p>
        </p:txBody>
      </p:sp>
      <p:pic>
        <p:nvPicPr>
          <p:cNvPr id="17" name="Graph Theta 379" descr="Graph: The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6928" y="1261872"/>
            <a:ext cx="3361944" cy="2499587"/>
          </a:xfrm>
          <a:prstGeom prst="rect">
            <a:avLst/>
          </a:prstGeom>
        </p:spPr>
      </p:pic>
      <p:sp>
        <p:nvSpPr>
          <p:cNvPr id="18" name="Θ(g(n)) — tight bound card 381"/>
          <p:cNvSpPr/>
          <p:nvPr/>
        </p:nvSpPr>
        <p:spPr>
          <a:xfrm>
            <a:off x="8095488" y="3898619"/>
            <a:ext cx="3544824" cy="1780577"/>
          </a:xfrm>
          <a:prstGeom prst="roundRect">
            <a:avLst>
              <a:gd name="adj" fmla="val 513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Icon circle 382"/>
          <p:cNvSpPr/>
          <p:nvPr/>
        </p:nvSpPr>
        <p:spPr>
          <a:xfrm>
            <a:off x="8296656" y="4063211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con 38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952" y="4145507"/>
            <a:ext cx="219456" cy="219456"/>
          </a:xfrm>
          <a:prstGeom prst="rect">
            <a:avLst/>
          </a:prstGeom>
        </p:spPr>
      </p:pic>
      <p:sp>
        <p:nvSpPr>
          <p:cNvPr id="21" name="Card heading 384"/>
          <p:cNvSpPr txBox="1"/>
          <p:nvPr/>
        </p:nvSpPr>
        <p:spPr>
          <a:xfrm>
            <a:off x="8790432" y="4063211"/>
            <a:ext cx="266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Θ(g(n)) — tight bound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Equation 22" descr="0 \le c_1 g(n) \le f(n) \le c_2 g(n)"/>
              <p:cNvSpPr txBox="1"/>
              <p:nvPr/>
            </p:nvSpPr>
            <p:spPr>
              <a:xfrm>
                <a:off x="8324088" y="4584419"/>
                <a:ext cx="2676335" cy="2626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0≤</m:t>
                      </m:r>
                      <m:sSub>
                        <m:sSubPr>
                          <m:ctrlPr>
                            <a:rPr lang="en-US" sz="17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7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sSub>
                        <m:sSubPr>
                          <m:ctrlPr>
                            <a:rPr lang="en-US" sz="17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7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7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50" dirty="0"/>
              </a:p>
            </p:txBody>
          </p:sp>
        </mc:Choice>
        <mc:Fallback xmlns="">
          <p:pic>
            <p:nvPicPr>
              <p:cNvPr id="22" name="EQ|d6c15a7dc575|17.5" descr="0 \le c_1 g(n) \le f(n) \le c_2 g(n)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24088" y="4584419"/>
                <a:ext cx="2676335" cy="262673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 385"/>
          <p:cNvSpPr txBox="1"/>
          <p:nvPr/>
        </p:nvSpPr>
        <p:spPr>
          <a:xfrm>
            <a:off x="8324088" y="4950723"/>
            <a:ext cx="308762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chemeClr val="tx1"/>
                </a:solidFill>
              </a:rPr>
              <a:t>for all n ≥ n₀ — f lies </a:t>
            </a:r>
            <a:r>
              <a:rPr lang="en-US" sz="1550" b="1" dirty="0">
                <a:solidFill>
                  <a:schemeClr val="tx1"/>
                </a:solidFill>
              </a:rPr>
              <a:t>between</a:t>
            </a:r>
            <a:r>
              <a:rPr lang="en-US" sz="1550" dirty="0">
                <a:solidFill>
                  <a:schemeClr val="tx1"/>
                </a:solidFill>
              </a:rPr>
              <a:t> c₁g(n) and c₂g(n)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1</a:t>
            </a:r>
            <a:endParaRPr lang="en-US" sz="3000" dirty="0"/>
          </a:p>
        </p:txBody>
      </p:sp>
      <p:sp>
        <p:nvSpPr>
          <p:cNvPr id="3" name="Prompt 397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Prove the following claim using the </a:t>
            </a:r>
            <a:r>
              <a:rPr lang="en-US" sz="2300" b="1" dirty="0">
                <a:solidFill>
                  <a:schemeClr val="tx1"/>
                </a:solidFill>
              </a:rPr>
              <a:t>definition</a:t>
            </a:r>
            <a:r>
              <a:rPr lang="en-US" sz="2300" dirty="0">
                <a:solidFill>
                  <a:schemeClr val="tx1"/>
                </a:solidFill>
              </a:rPr>
              <a:t> of O:</a:t>
            </a:r>
            <a:endParaRPr lang="en-US" sz="2300" dirty="0"/>
          </a:p>
        </p:txBody>
      </p:sp>
      <p:sp>
        <p:nvSpPr>
          <p:cNvPr id="4" name="Claim card 398"/>
          <p:cNvSpPr/>
          <p:nvPr/>
        </p:nvSpPr>
        <p:spPr>
          <a:xfrm>
            <a:off x="548640" y="1932432"/>
            <a:ext cx="6035040" cy="1561795"/>
          </a:xfrm>
          <a:prstGeom prst="roundRect">
            <a:avLst>
              <a:gd name="adj" fmla="val 585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Icon circle 399"/>
          <p:cNvSpPr/>
          <p:nvPr/>
        </p:nvSpPr>
        <p:spPr>
          <a:xfrm>
            <a:off x="74980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40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79320"/>
            <a:ext cx="219456" cy="219456"/>
          </a:xfrm>
          <a:prstGeom prst="rect">
            <a:avLst/>
          </a:prstGeom>
        </p:spPr>
      </p:pic>
      <p:sp>
        <p:nvSpPr>
          <p:cNvPr id="7" name="Card heading 401"/>
          <p:cNvSpPr txBox="1"/>
          <p:nvPr/>
        </p:nvSpPr>
        <p:spPr>
          <a:xfrm>
            <a:off x="1243584" y="2097024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n^{2} = O(n^{3})"/>
              <p:cNvSpPr txBox="1"/>
              <p:nvPr/>
            </p:nvSpPr>
            <p:spPr>
              <a:xfrm>
                <a:off x="777240" y="2618232"/>
                <a:ext cx="2268572" cy="59253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pic>
            <p:nvPicPr>
              <p:cNvPr id="8" name="EQ|5e835585db1c|36" descr="n^{2} = O(n^{3}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18232"/>
                <a:ext cx="2268572" cy="592531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efinition to use card 403"/>
          <p:cNvSpPr/>
          <p:nvPr/>
        </p:nvSpPr>
        <p:spPr>
          <a:xfrm>
            <a:off x="6903720" y="1932432"/>
            <a:ext cx="4736592" cy="1894302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404"/>
          <p:cNvSpPr/>
          <p:nvPr/>
        </p:nvSpPr>
        <p:spPr>
          <a:xfrm>
            <a:off x="710488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40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179320"/>
            <a:ext cx="219456" cy="219456"/>
          </a:xfrm>
          <a:prstGeom prst="rect">
            <a:avLst/>
          </a:prstGeom>
        </p:spPr>
      </p:pic>
      <p:sp>
        <p:nvSpPr>
          <p:cNvPr id="12" name="Card heading 406"/>
          <p:cNvSpPr txBox="1"/>
          <p:nvPr/>
        </p:nvSpPr>
        <p:spPr>
          <a:xfrm>
            <a:off x="7598664" y="20970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Definition to use</a:t>
            </a:r>
            <a:endParaRPr lang="en-US" sz="1700" dirty="0"/>
          </a:p>
        </p:txBody>
      </p:sp>
      <p:sp>
        <p:nvSpPr>
          <p:cNvPr id="13" name="Text 407"/>
          <p:cNvSpPr txBox="1"/>
          <p:nvPr/>
        </p:nvSpPr>
        <p:spPr>
          <a:xfrm>
            <a:off x="7132320" y="2590800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f(n) = O(g(n)) if there are positive constants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n₀</a:t>
            </a:r>
            <a:r>
              <a:rPr lang="en-US" sz="1800" dirty="0">
                <a:solidFill>
                  <a:schemeClr val="tx1"/>
                </a:solidFill>
              </a:rPr>
              <a:t> such that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f(n) \le c \cdot g(n) \quad \text{for all } n \ge n_0"/>
              <p:cNvSpPr txBox="1"/>
              <p:nvPr/>
            </p:nvSpPr>
            <p:spPr>
              <a:xfrm>
                <a:off x="7132320" y="3243072"/>
                <a:ext cx="3342132" cy="300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pic>
            <p:nvPicPr>
              <p:cNvPr id="14" name="EQ|a8b39bcf510f|20" descr="f(n) \le c \cdot g(n) \quad \text{for all } n \ge n_0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2320" y="3243072"/>
                <a:ext cx="3342132" cy="30019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1</a:t>
            </a:r>
            <a:endParaRPr lang="en-US" sz="3000" dirty="0"/>
          </a:p>
        </p:txBody>
      </p:sp>
      <p:sp>
        <p:nvSpPr>
          <p:cNvPr id="3" name="Step circle 428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429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430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By the definition of O we must find positive constants c and n₀ such that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 descr="n^{2} \le c \cdot n^{3} \quad \text{for all } n \ge n_0"/>
              <p:cNvSpPr txBox="1"/>
              <p:nvPr/>
            </p:nvSpPr>
            <p:spPr>
              <a:xfrm>
                <a:off x="1234440" y="2002536"/>
                <a:ext cx="3233513" cy="3412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6" name="EQ|9c2a41ca0cc4|22.5" descr="n^{2} \le c \cdot n^{3} \quad \text{for all } n \ge n_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2002536"/>
                <a:ext cx="3233513" cy="3412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431"/>
          <p:cNvSpPr/>
          <p:nvPr/>
        </p:nvSpPr>
        <p:spPr>
          <a:xfrm>
            <a:off x="548640" y="257692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tep number 432"/>
          <p:cNvSpPr txBox="1"/>
          <p:nvPr/>
        </p:nvSpPr>
        <p:spPr>
          <a:xfrm>
            <a:off x="548640" y="2576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433"/>
          <p:cNvSpPr txBox="1"/>
          <p:nvPr/>
        </p:nvSpPr>
        <p:spPr>
          <a:xfrm>
            <a:off x="1097280" y="2598264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Divide both sides by n² (allowed, because n² &gt; 0):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uation 10" descr="1 \le c \cdot n"/>
              <p:cNvSpPr txBox="1"/>
              <p:nvPr/>
            </p:nvSpPr>
            <p:spPr>
              <a:xfrm>
                <a:off x="1234440" y="2967072"/>
                <a:ext cx="1083530" cy="2743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0" name="EQ|a53a24b55c85|22.5" descr="1 \le c \cdot n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2967072"/>
                <a:ext cx="1083530" cy="274354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tep circle 434"/>
          <p:cNvSpPr/>
          <p:nvPr/>
        </p:nvSpPr>
        <p:spPr>
          <a:xfrm>
            <a:off x="548640" y="347459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tep number 435"/>
          <p:cNvSpPr txBox="1"/>
          <p:nvPr/>
        </p:nvSpPr>
        <p:spPr>
          <a:xfrm>
            <a:off x="548640" y="34745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text 436"/>
          <p:cNvSpPr txBox="1"/>
          <p:nvPr/>
        </p:nvSpPr>
        <p:spPr>
          <a:xfrm>
            <a:off x="1097280" y="3495934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Choose </a:t>
            </a:r>
            <a:r>
              <a:rPr lang="en-US" sz="2000" b="1" dirty="0">
                <a:solidFill>
                  <a:schemeClr val="tx1"/>
                </a:solidFill>
              </a:rPr>
              <a:t>c = 1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b="1" dirty="0">
                <a:solidFill>
                  <a:schemeClr val="tx1"/>
                </a:solidFill>
              </a:rPr>
              <a:t>n₀ = 1</a:t>
            </a:r>
            <a:r>
              <a:rPr lang="en-US" sz="2000" dirty="0">
                <a:solidFill>
                  <a:schemeClr val="tx1"/>
                </a:solidFill>
              </a:rPr>
              <a:t>. Then for every n ≥ 1: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c \cdot n = n \ge 1"/>
              <p:cNvSpPr txBox="1"/>
              <p:nvPr/>
            </p:nvSpPr>
            <p:spPr>
              <a:xfrm>
                <a:off x="1234440" y="3864742"/>
                <a:ext cx="1632238" cy="2743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4" name="EQ|2cc9dd664025|22.5" descr="c \cdot n = n \ge 1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440" y="3864742"/>
                <a:ext cx="1632238" cy="274354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Step circle 437"/>
          <p:cNvSpPr/>
          <p:nvPr/>
        </p:nvSpPr>
        <p:spPr>
          <a:xfrm>
            <a:off x="548640" y="437226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tep number 438"/>
          <p:cNvSpPr txBox="1"/>
          <p:nvPr/>
        </p:nvSpPr>
        <p:spPr>
          <a:xfrm>
            <a:off x="548640" y="43722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 text 439"/>
          <p:cNvSpPr txBox="1"/>
          <p:nvPr/>
        </p:nvSpPr>
        <p:spPr>
          <a:xfrm>
            <a:off x="1097280" y="4393604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inequality holds for all n ≥ 1, therefore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Equation 18" descr="n^{2} = O(n^{3})"/>
              <p:cNvSpPr txBox="1"/>
              <p:nvPr/>
            </p:nvSpPr>
            <p:spPr>
              <a:xfrm>
                <a:off x="1234440" y="4762412"/>
                <a:ext cx="1701429" cy="4443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7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7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7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7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7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7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7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7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7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7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700" dirty="0"/>
              </a:p>
            </p:txBody>
          </p:sp>
        </mc:Choice>
        <mc:Fallback xmlns="">
          <p:pic>
            <p:nvPicPr>
              <p:cNvPr id="18" name="EQ|ab52db61674e|27" descr="n^{2} = O(n^{3}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4440" y="4762412"/>
                <a:ext cx="1701429" cy="444398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Answer card 442"/>
          <p:cNvSpPr/>
          <p:nvPr/>
        </p:nvSpPr>
        <p:spPr>
          <a:xfrm>
            <a:off x="7818120" y="1307592"/>
            <a:ext cx="3822192" cy="2899752"/>
          </a:xfrm>
          <a:prstGeom prst="roundRect">
            <a:avLst>
              <a:gd name="adj" fmla="val 3153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Icon circle 443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1" name="Icon 44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2" name="Card heading 445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23" name="Text 446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Constants that work: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quation 24" descr="c = 1, \quad n_0 = 1"/>
              <p:cNvSpPr txBox="1"/>
              <p:nvPr/>
            </p:nvSpPr>
            <p:spPr>
              <a:xfrm>
                <a:off x="8046720" y="2359152"/>
                <a:ext cx="2121865" cy="3302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5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=1, </m:t>
                      </m:r>
                      <m:sSub>
                        <m:sSubPr>
                          <m:ctrlPr>
                            <a:rPr lang="en-US" sz="25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5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5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550" dirty="0"/>
              </a:p>
            </p:txBody>
          </p:sp>
        </mc:Choice>
        <mc:Fallback xmlns="">
          <p:pic>
            <p:nvPicPr>
              <p:cNvPr id="24" name="EQ|9a738950772c|25.5" descr="c = 1, \quad n_0 = 1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6720" y="2359152"/>
                <a:ext cx="2121865" cy="33028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 447"/>
          <p:cNvSpPr txBox="1"/>
          <p:nvPr/>
        </p:nvSpPr>
        <p:spPr>
          <a:xfrm>
            <a:off x="8046720" y="2793072"/>
            <a:ext cx="3364992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Other pairs work too — for example c = 1/2 with n₀ = 2. The definition only asks that </a:t>
            </a:r>
            <a:r>
              <a:rPr lang="en-US" sz="1900" b="1" dirty="0">
                <a:solidFill>
                  <a:schemeClr val="tx1"/>
                </a:solidFill>
              </a:rPr>
              <a:t>some</a:t>
            </a:r>
            <a:r>
              <a:rPr lang="en-US" sz="1900" dirty="0">
                <a:solidFill>
                  <a:schemeClr val="tx1"/>
                </a:solidFill>
              </a:rPr>
              <a:t> pair exists.</a:t>
            </a:r>
            <a:endParaRPr lang="en-US" sz="1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1 — Explanation</a:t>
            </a:r>
            <a:endParaRPr lang="en-US" sz="3000" dirty="0"/>
          </a:p>
        </p:txBody>
      </p:sp>
      <p:sp>
        <p:nvSpPr>
          <p:cNvPr id="3" name="Step circle 467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468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469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prove:</a:t>
            </a:r>
            <a:r>
              <a:rPr lang="en-US" sz="2000" dirty="0">
                <a:solidFill>
                  <a:schemeClr val="tx1"/>
                </a:solidFill>
              </a:rPr>
              <a:t> n² grows no faster than n³ — from some point on, n² stays below a constant multiple of n³.</a:t>
            </a:r>
            <a:endParaRPr lang="en-US" sz="2000" dirty="0"/>
          </a:p>
        </p:txBody>
      </p:sp>
      <p:sp>
        <p:nvSpPr>
          <p:cNvPr id="6" name="Step circle 470"/>
          <p:cNvSpPr/>
          <p:nvPr/>
        </p:nvSpPr>
        <p:spPr>
          <a:xfrm>
            <a:off x="548640" y="21625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471"/>
          <p:cNvSpPr txBox="1"/>
          <p:nvPr/>
        </p:nvSpPr>
        <p:spPr>
          <a:xfrm>
            <a:off x="548640" y="21625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472"/>
          <p:cNvSpPr txBox="1"/>
          <p:nvPr/>
        </p:nvSpPr>
        <p:spPr>
          <a:xfrm>
            <a:off x="1097280" y="2183892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divide by n²:</a:t>
            </a:r>
            <a:r>
              <a:rPr lang="en-US" sz="2000" dirty="0">
                <a:solidFill>
                  <a:schemeClr val="tx1"/>
                </a:solidFill>
              </a:rPr>
              <a:t> it turns the condition into a very simple one, 1 ≤ c · n.</a:t>
            </a:r>
            <a:endParaRPr lang="en-US" sz="2000" dirty="0"/>
          </a:p>
        </p:txBody>
      </p:sp>
      <p:sp>
        <p:nvSpPr>
          <p:cNvPr id="9" name="Step circle 473"/>
          <p:cNvSpPr/>
          <p:nvPr/>
        </p:nvSpPr>
        <p:spPr>
          <a:xfrm>
            <a:off x="548640" y="30175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tep number 474"/>
          <p:cNvSpPr txBox="1"/>
          <p:nvPr/>
        </p:nvSpPr>
        <p:spPr>
          <a:xfrm>
            <a:off x="54864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475"/>
          <p:cNvSpPr txBox="1"/>
          <p:nvPr/>
        </p:nvSpPr>
        <p:spPr>
          <a:xfrm>
            <a:off x="1097280" y="3038856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hardest case is the smallest n.</a:t>
            </a:r>
            <a:r>
              <a:rPr lang="en-US" sz="2000" dirty="0">
                <a:solidFill>
                  <a:schemeClr val="tx1"/>
                </a:solidFill>
              </a:rPr>
              <a:t> c · n grows with n, so if 1 ≤ c · n₀ holds, it holds for every larger n too. Any pair with c · n₀ ≥ 1 is a valid answer.</a:t>
            </a:r>
            <a:endParaRPr lang="en-US" sz="2000" dirty="0"/>
          </a:p>
        </p:txBody>
      </p:sp>
      <p:sp>
        <p:nvSpPr>
          <p:cNvPr id="12" name="Step circle 476"/>
          <p:cNvSpPr/>
          <p:nvPr/>
        </p:nvSpPr>
        <p:spPr>
          <a:xfrm>
            <a:off x="548640" y="417728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tep number 477"/>
          <p:cNvSpPr txBox="1"/>
          <p:nvPr/>
        </p:nvSpPr>
        <p:spPr>
          <a:xfrm>
            <a:off x="548640" y="41772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478"/>
          <p:cNvSpPr txBox="1"/>
          <p:nvPr/>
        </p:nvSpPr>
        <p:spPr>
          <a:xfrm>
            <a:off x="1097280" y="4198620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 careful:</a:t>
            </a:r>
            <a:r>
              <a:rPr lang="en-US" sz="2000" dirty="0">
                <a:solidFill>
                  <a:schemeClr val="tx1"/>
                </a:solidFill>
              </a:rPr>
              <a:t> c must be one fixed number for </a:t>
            </a:r>
            <a:r>
              <a:rPr lang="en-US" sz="2000" b="1" dirty="0">
                <a:solidFill>
                  <a:schemeClr val="tx1"/>
                </a:solidFill>
              </a:rPr>
              <a:t>all</a:t>
            </a:r>
            <a:r>
              <a:rPr lang="en-US" sz="2000" dirty="0">
                <a:solidFill>
                  <a:schemeClr val="tx1"/>
                </a:solidFill>
              </a:rPr>
              <a:t> n ≥ n₀ at once. Saying “1/n → 0, so any c works” is not enough — c = 0.01 fails for n₀ = 1, because 0.01 · 1 &lt; 1.</a:t>
            </a:r>
            <a:endParaRPr lang="en-US" sz="2000" dirty="0"/>
          </a:p>
        </p:txBody>
      </p:sp>
      <p:sp>
        <p:nvSpPr>
          <p:cNvPr id="15" name="Check the numbers card 480"/>
          <p:cNvSpPr/>
          <p:nvPr/>
        </p:nvSpPr>
        <p:spPr>
          <a:xfrm>
            <a:off x="7818120" y="1307592"/>
            <a:ext cx="3822192" cy="1203960"/>
          </a:xfrm>
          <a:prstGeom prst="roundRect">
            <a:avLst>
              <a:gd name="adj" fmla="val 7595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Icon circle 481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con 48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8" name="Card heading 483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 the numbers</a:t>
            </a:r>
            <a:endParaRPr lang="en-US" sz="1700" dirty="0"/>
          </a:p>
        </p:txBody>
      </p:sp>
      <p:sp>
        <p:nvSpPr>
          <p:cNvPr id="19" name="Text 484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n² is never above n³ for n ≥ 1:</a:t>
            </a:r>
            <a:endParaRPr lang="en-US" sz="1900" dirty="0"/>
          </a:p>
        </p:txBody>
      </p:sp>
      <p:graphicFrame>
        <p:nvGraphicFramePr>
          <p:cNvPr id="20" name="Trace table 4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648712"/>
          <a:ext cx="3822192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· n³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2</a:t>
            </a:r>
            <a:endParaRPr lang="en-US" sz="3000" dirty="0"/>
          </a:p>
        </p:txBody>
      </p:sp>
      <p:sp>
        <p:nvSpPr>
          <p:cNvPr id="3" name="Prompt 497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The running time of an algorithm is </a:t>
            </a:r>
            <a:r>
              <a:rPr lang="en-US" sz="2300" b="1" dirty="0">
                <a:solidFill>
                  <a:schemeClr val="tx1"/>
                </a:solidFill>
              </a:rPr>
              <a:t>10n² + 5n</a:t>
            </a:r>
            <a:r>
              <a:rPr lang="en-US" sz="2300" dirty="0">
                <a:solidFill>
                  <a:schemeClr val="tx1"/>
                </a:solidFill>
              </a:rPr>
              <a:t>. Show, using the definition, that it is in O(n²):</a:t>
            </a:r>
            <a:endParaRPr lang="en-US" sz="2300" dirty="0"/>
          </a:p>
        </p:txBody>
      </p:sp>
      <p:sp>
        <p:nvSpPr>
          <p:cNvPr id="4" name="Claim card 498"/>
          <p:cNvSpPr/>
          <p:nvPr/>
        </p:nvSpPr>
        <p:spPr>
          <a:xfrm>
            <a:off x="548640" y="1932432"/>
            <a:ext cx="6035040" cy="1561795"/>
          </a:xfrm>
          <a:prstGeom prst="roundRect">
            <a:avLst>
              <a:gd name="adj" fmla="val 585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Icon circle 499"/>
          <p:cNvSpPr/>
          <p:nvPr/>
        </p:nvSpPr>
        <p:spPr>
          <a:xfrm>
            <a:off x="74980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50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79320"/>
            <a:ext cx="219456" cy="219456"/>
          </a:xfrm>
          <a:prstGeom prst="rect">
            <a:avLst/>
          </a:prstGeom>
        </p:spPr>
      </p:pic>
      <p:sp>
        <p:nvSpPr>
          <p:cNvPr id="7" name="Card heading 501"/>
          <p:cNvSpPr txBox="1"/>
          <p:nvPr/>
        </p:nvSpPr>
        <p:spPr>
          <a:xfrm>
            <a:off x="1243584" y="2097024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10n^{2} + 5n = O(n^{2})"/>
              <p:cNvSpPr txBox="1"/>
              <p:nvPr/>
            </p:nvSpPr>
            <p:spPr>
              <a:xfrm>
                <a:off x="777240" y="2618232"/>
                <a:ext cx="3744468" cy="59253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pic>
            <p:nvPicPr>
              <p:cNvPr id="8" name="EQ|c9513be665ca|36" descr="10n^{2} + 5n = O(n^{2}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18232"/>
                <a:ext cx="3744468" cy="592531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efinition to use card 503"/>
          <p:cNvSpPr/>
          <p:nvPr/>
        </p:nvSpPr>
        <p:spPr>
          <a:xfrm>
            <a:off x="6903720" y="1932432"/>
            <a:ext cx="4736592" cy="1894302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504"/>
          <p:cNvSpPr/>
          <p:nvPr/>
        </p:nvSpPr>
        <p:spPr>
          <a:xfrm>
            <a:off x="710488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50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179320"/>
            <a:ext cx="219456" cy="219456"/>
          </a:xfrm>
          <a:prstGeom prst="rect">
            <a:avLst/>
          </a:prstGeom>
        </p:spPr>
      </p:pic>
      <p:sp>
        <p:nvSpPr>
          <p:cNvPr id="12" name="Card heading 506"/>
          <p:cNvSpPr txBox="1"/>
          <p:nvPr/>
        </p:nvSpPr>
        <p:spPr>
          <a:xfrm>
            <a:off x="7598664" y="20970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Definition to use</a:t>
            </a:r>
            <a:endParaRPr lang="en-US" sz="1700" dirty="0"/>
          </a:p>
        </p:txBody>
      </p:sp>
      <p:sp>
        <p:nvSpPr>
          <p:cNvPr id="13" name="Text 507"/>
          <p:cNvSpPr txBox="1"/>
          <p:nvPr/>
        </p:nvSpPr>
        <p:spPr>
          <a:xfrm>
            <a:off x="7132320" y="2590800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f(n) = O(g(n)) if there are positive constants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n₀</a:t>
            </a:r>
            <a:r>
              <a:rPr lang="en-US" sz="1800" dirty="0">
                <a:solidFill>
                  <a:schemeClr val="tx1"/>
                </a:solidFill>
              </a:rPr>
              <a:t> such that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f(n) \le c \cdot g(n) \quad \text{for all } n \ge n_0"/>
              <p:cNvSpPr txBox="1"/>
              <p:nvPr/>
            </p:nvSpPr>
            <p:spPr>
              <a:xfrm>
                <a:off x="7132320" y="3243072"/>
                <a:ext cx="3342132" cy="300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pic>
            <p:nvPicPr>
              <p:cNvPr id="14" name="EQ|a8b39bcf510f|20" descr="f(n) \le c \cdot g(n) \quad \text{for all } n \ge n_0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2320" y="3243072"/>
                <a:ext cx="3342132" cy="30019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2</a:t>
            </a:r>
            <a:endParaRPr lang="en-US" sz="3000" dirty="0"/>
          </a:p>
        </p:txBody>
      </p:sp>
      <p:sp>
        <p:nvSpPr>
          <p:cNvPr id="3" name="Step circle 548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549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550"/>
          <p:cNvSpPr txBox="1"/>
          <p:nvPr/>
        </p:nvSpPr>
        <p:spPr>
          <a:xfrm>
            <a:off x="1097280" y="1336548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We must find positive constants c and n₀ such that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 descr="10n^{2} + 5n \le c \cdot n^{2} \quad \text{for all } n \ge n_0"/>
              <p:cNvSpPr txBox="1"/>
              <p:nvPr/>
            </p:nvSpPr>
            <p:spPr>
              <a:xfrm>
                <a:off x="1234440" y="1690116"/>
                <a:ext cx="3971239" cy="3260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sSup>
                        <m:sSup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6" name="EQ|9dfd266bbffa|21.5" descr="10n^{2} + 5n \le c \cdot n^{2} \quad \text{for all } n \ge n_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1690116"/>
                <a:ext cx="3971239" cy="326054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551"/>
          <p:cNvSpPr/>
          <p:nvPr/>
        </p:nvSpPr>
        <p:spPr>
          <a:xfrm>
            <a:off x="548640" y="2241113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tep number 552"/>
          <p:cNvSpPr txBox="1"/>
          <p:nvPr/>
        </p:nvSpPr>
        <p:spPr>
          <a:xfrm>
            <a:off x="548640" y="22411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553"/>
          <p:cNvSpPr txBox="1"/>
          <p:nvPr/>
        </p:nvSpPr>
        <p:spPr>
          <a:xfrm>
            <a:off x="1097280" y="2270069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Divide both sides by n² &gt; 0: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uation 10" descr="10 + \frac{5}{n} \le c"/>
              <p:cNvSpPr txBox="1"/>
              <p:nvPr/>
            </p:nvSpPr>
            <p:spPr>
              <a:xfrm>
                <a:off x="1234440" y="2623637"/>
                <a:ext cx="1322108" cy="6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10+</m:t>
                      </m:r>
                      <m:f>
                        <m:f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10" name="EQ|cc1f216f5ea3|21.5" descr="10 + \frac{5}{n} \le c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2623637"/>
                <a:ext cx="1322108" cy="607777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tep circle 554"/>
          <p:cNvSpPr/>
          <p:nvPr/>
        </p:nvSpPr>
        <p:spPr>
          <a:xfrm>
            <a:off x="548640" y="34563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tep number 555"/>
          <p:cNvSpPr txBox="1"/>
          <p:nvPr/>
        </p:nvSpPr>
        <p:spPr>
          <a:xfrm>
            <a:off x="548640" y="34563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text 556"/>
          <p:cNvSpPr txBox="1"/>
          <p:nvPr/>
        </p:nvSpPr>
        <p:spPr>
          <a:xfrm>
            <a:off x="1097280" y="3485312"/>
            <a:ext cx="63550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5/n gets </a:t>
            </a:r>
            <a:r>
              <a:rPr lang="en-US" sz="1900" b="1" dirty="0">
                <a:solidFill>
                  <a:schemeClr val="tx1"/>
                </a:solidFill>
              </a:rPr>
              <a:t>smaller</a:t>
            </a:r>
            <a:r>
              <a:rPr lang="en-US" sz="1900" dirty="0">
                <a:solidFill>
                  <a:schemeClr val="tx1"/>
                </a:solidFill>
              </a:rPr>
              <a:t> as n grows, so the left side is largest at the smallest n, n = n₀. Choose </a:t>
            </a:r>
            <a:r>
              <a:rPr lang="en-US" sz="1900" b="1" dirty="0">
                <a:solidFill>
                  <a:schemeClr val="tx1"/>
                </a:solidFill>
              </a:rPr>
              <a:t>n₀ = 1</a:t>
            </a:r>
            <a:r>
              <a:rPr lang="en-US" sz="1900" dirty="0">
                <a:solidFill>
                  <a:schemeClr val="tx1"/>
                </a:solidFill>
              </a:rPr>
              <a:t>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10 + \frac{5}{1} = 15 \;\Rightarrow\; c = 15"/>
              <p:cNvSpPr txBox="1"/>
              <p:nvPr/>
            </p:nvSpPr>
            <p:spPr>
              <a:xfrm>
                <a:off x="1234440" y="4128440"/>
                <a:ext cx="2742514" cy="6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10+</m:t>
                      </m:r>
                      <m:f>
                        <m:f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=15 ⇒ 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14" name="EQ|741d74c49076|21.5" descr="10 + \frac{5}{1} = 15 \;\Rightarrow\; c = 15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440" y="4128440"/>
                <a:ext cx="2742514" cy="607777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Step circle 557"/>
          <p:cNvSpPr/>
          <p:nvPr/>
        </p:nvSpPr>
        <p:spPr>
          <a:xfrm>
            <a:off x="548640" y="4961159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tep number 558"/>
          <p:cNvSpPr txBox="1"/>
          <p:nvPr/>
        </p:nvSpPr>
        <p:spPr>
          <a:xfrm>
            <a:off x="548640" y="496115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 text 559"/>
          <p:cNvSpPr txBox="1"/>
          <p:nvPr/>
        </p:nvSpPr>
        <p:spPr>
          <a:xfrm>
            <a:off x="1097280" y="4990115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Direct check: for n ≥ 1 we have 5n ≤ 5n², so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Equation 18" descr="10n^{2} + 5n \le 10n^{2} + 5n^{2} = 15n^{2}"/>
              <p:cNvSpPr txBox="1"/>
              <p:nvPr/>
            </p:nvSpPr>
            <p:spPr>
              <a:xfrm>
                <a:off x="1234440" y="5343683"/>
                <a:ext cx="3704164" cy="3227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sSup>
                        <m:sSup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≤10</m:t>
                      </m:r>
                      <m:sSup>
                        <m:sSup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sSup>
                        <m:sSup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18" name="EQ|febc175a572d|21.5" descr="10n^{2} + 5n \le 10n^{2} + 5n^{2} = 15n^{2}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4440" y="5343683"/>
                <a:ext cx="3704164" cy="3227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quation 19" descr="10n^{2} + 5n = O(n^{2})"/>
              <p:cNvSpPr txBox="1"/>
              <p:nvPr/>
            </p:nvSpPr>
            <p:spPr>
              <a:xfrm>
                <a:off x="1234440" y="5772059"/>
                <a:ext cx="2548319" cy="4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sSup>
                        <m:sSupPr>
                          <m:ctrlPr>
                            <a:rPr lang="en-US" sz="24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50" dirty="0"/>
              </a:p>
            </p:txBody>
          </p:sp>
        </mc:Choice>
        <mc:Fallback xmlns="">
          <p:pic>
            <p:nvPicPr>
              <p:cNvPr id="19" name="EQ|fd9f5b143777|24.5" descr="10n^{2} + 5n = O(n^{2}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34440" y="5772059"/>
                <a:ext cx="2548319" cy="40325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Answer card 562"/>
          <p:cNvSpPr/>
          <p:nvPr/>
        </p:nvSpPr>
        <p:spPr>
          <a:xfrm>
            <a:off x="7818120" y="1307592"/>
            <a:ext cx="3822192" cy="2255483"/>
          </a:xfrm>
          <a:prstGeom prst="roundRect">
            <a:avLst>
              <a:gd name="adj" fmla="val 4054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Icon circle 563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2" name="Icon 56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3" name="Card heading 565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24" name="Text 566"/>
          <p:cNvSpPr txBox="1"/>
          <p:nvPr/>
        </p:nvSpPr>
        <p:spPr>
          <a:xfrm>
            <a:off x="8046720" y="1965960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Constants that work: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Equation 25" descr="c = 15, \quad n_0 = 1"/>
              <p:cNvSpPr txBox="1"/>
              <p:nvPr/>
            </p:nvSpPr>
            <p:spPr>
              <a:xfrm>
                <a:off x="8046720" y="2343912"/>
                <a:ext cx="2141561" cy="3108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=15, </m:t>
                      </m:r>
                      <m:sSub>
                        <m:sSubPr>
                          <m:ctrlPr>
                            <a:rPr lang="en-US" sz="24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pic>
            <p:nvPicPr>
              <p:cNvPr id="25" name="EQ|a0574fd0a383|24" descr="c = 15, \quad n_0 = 1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6720" y="2343912"/>
                <a:ext cx="2141561" cy="310859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 567"/>
          <p:cNvSpPr txBox="1"/>
          <p:nvPr/>
        </p:nvSpPr>
        <p:spPr>
          <a:xfrm>
            <a:off x="8046720" y="2758403"/>
            <a:ext cx="3364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Another valid pair: n₀ = 5 and c = 11.</a:t>
            </a:r>
            <a:endParaRPr lang="en-US" sz="1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2 — Explanation</a:t>
            </a:r>
            <a:endParaRPr lang="en-US" sz="3000" dirty="0"/>
          </a:p>
        </p:txBody>
      </p:sp>
      <p:sp>
        <p:nvSpPr>
          <p:cNvPr id="3" name="Step circle 587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588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589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Intuition:</a:t>
            </a:r>
            <a:r>
              <a:rPr lang="en-US" sz="2000" dirty="0">
                <a:solidFill>
                  <a:schemeClr val="tx1"/>
                </a:solidFill>
              </a:rPr>
              <a:t> for large n the term 10n² dominates; 5n is small in comparison, so the whole expression behaves like 10n².</a:t>
            </a:r>
            <a:endParaRPr lang="en-US" sz="2000" dirty="0"/>
          </a:p>
        </p:txBody>
      </p:sp>
      <p:sp>
        <p:nvSpPr>
          <p:cNvPr id="6" name="Step circle 590"/>
          <p:cNvSpPr/>
          <p:nvPr/>
        </p:nvSpPr>
        <p:spPr>
          <a:xfrm>
            <a:off x="548640" y="21625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591"/>
          <p:cNvSpPr txBox="1"/>
          <p:nvPr/>
        </p:nvSpPr>
        <p:spPr>
          <a:xfrm>
            <a:off x="548640" y="21625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592"/>
          <p:cNvSpPr txBox="1"/>
          <p:nvPr/>
        </p:nvSpPr>
        <p:spPr>
          <a:xfrm>
            <a:off x="1097280" y="2183892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c must be bigger than 10:</a:t>
            </a:r>
            <a:r>
              <a:rPr lang="en-US" sz="2000" dirty="0">
                <a:solidFill>
                  <a:schemeClr val="tx1"/>
                </a:solidFill>
              </a:rPr>
              <a:t> 10 + 5/n is always greater than 10, so c = 10 never works — c needs extra room for the 5n term.</a:t>
            </a:r>
            <a:endParaRPr lang="en-US" sz="2000" dirty="0"/>
          </a:p>
        </p:txBody>
      </p:sp>
      <p:sp>
        <p:nvSpPr>
          <p:cNvPr id="9" name="Step circle 593"/>
          <p:cNvSpPr/>
          <p:nvPr/>
        </p:nvSpPr>
        <p:spPr>
          <a:xfrm>
            <a:off x="548640" y="33223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tep number 594"/>
          <p:cNvSpPr txBox="1"/>
          <p:nvPr/>
        </p:nvSpPr>
        <p:spPr>
          <a:xfrm>
            <a:off x="548640" y="3322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595"/>
          <p:cNvSpPr txBox="1"/>
          <p:nvPr/>
        </p:nvSpPr>
        <p:spPr>
          <a:xfrm>
            <a:off x="1097280" y="3343656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to choose:</a:t>
            </a:r>
            <a:r>
              <a:rPr lang="en-US" sz="2000" dirty="0">
                <a:solidFill>
                  <a:schemeClr val="tx1"/>
                </a:solidFill>
              </a:rPr>
              <a:t> pick n₀ first, then take c as the value of the left side at n = n₀ (its worst case):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 12" descr="c = 10 + \frac{5}{n_0}"/>
              <p:cNvSpPr txBox="1"/>
              <p:nvPr/>
            </p:nvSpPr>
            <p:spPr>
              <a:xfrm>
                <a:off x="1234440" y="4017264"/>
                <a:ext cx="1472790" cy="68069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=10+</m:t>
                      </m:r>
                      <m:f>
                        <m:fPr>
                          <m:ctrlP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b>
                            <m:sSubPr>
                              <m:ctrlPr>
                                <a:rPr lang="en-US" sz="22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2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2" name="EQ|31ee967593af|22.5" descr="c = 10 + \frac{5}{n_0}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4017264"/>
                <a:ext cx="1472790" cy="680691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tep circle 596"/>
          <p:cNvSpPr/>
          <p:nvPr/>
        </p:nvSpPr>
        <p:spPr>
          <a:xfrm>
            <a:off x="548640" y="4931127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tep number 597"/>
          <p:cNvSpPr txBox="1"/>
          <p:nvPr/>
        </p:nvSpPr>
        <p:spPr>
          <a:xfrm>
            <a:off x="548640" y="493112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tep text 598"/>
          <p:cNvSpPr txBox="1"/>
          <p:nvPr/>
        </p:nvSpPr>
        <p:spPr>
          <a:xfrm>
            <a:off x="1097280" y="4952463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Trade-off:</a:t>
            </a:r>
            <a:r>
              <a:rPr lang="en-US" sz="2000" dirty="0">
                <a:solidFill>
                  <a:schemeClr val="tx1"/>
                </a:solidFill>
              </a:rPr>
              <a:t> a larger n₀ gives a smaller c — n₀ = 1 → c = 15,  n₀ = 5 → c = 11,  n₀ = 50 → c = 10.1.</a:t>
            </a:r>
            <a:endParaRPr lang="en-US" sz="2000" dirty="0"/>
          </a:p>
        </p:txBody>
      </p:sp>
      <p:sp>
        <p:nvSpPr>
          <p:cNvPr id="16" name="Check: c = 15, n₀ = 1 card 600"/>
          <p:cNvSpPr/>
          <p:nvPr/>
        </p:nvSpPr>
        <p:spPr>
          <a:xfrm>
            <a:off x="7818120" y="1307592"/>
            <a:ext cx="3822192" cy="1493520"/>
          </a:xfrm>
          <a:prstGeom prst="roundRect">
            <a:avLst>
              <a:gd name="adj" fmla="val 6122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Icon circle 601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8" name="Icon 60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9" name="Card heading 603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Check: c = 15, n₀ = 1</a:t>
            </a:r>
            <a:endParaRPr lang="en-US" sz="1700" dirty="0"/>
          </a:p>
        </p:txBody>
      </p:sp>
      <p:sp>
        <p:nvSpPr>
          <p:cNvPr id="20" name="Text 604"/>
          <p:cNvSpPr txBox="1"/>
          <p:nvPr/>
        </p:nvSpPr>
        <p:spPr>
          <a:xfrm>
            <a:off x="8046720" y="196596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 left column never exceeds the right one:</a:t>
            </a:r>
            <a:endParaRPr lang="en-US" sz="1900" dirty="0"/>
          </a:p>
        </p:txBody>
      </p:sp>
      <p:graphicFrame>
        <p:nvGraphicFramePr>
          <p:cNvPr id="21" name="Trace table 6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938272"/>
          <a:ext cx="3822192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10n² + 5n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15n²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3</a:t>
            </a:r>
            <a:endParaRPr lang="en-US" sz="3000" dirty="0"/>
          </a:p>
        </p:txBody>
      </p:sp>
      <p:sp>
        <p:nvSpPr>
          <p:cNvPr id="3" name="Prompt 619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Prove or disprove</a:t>
            </a:r>
            <a:r>
              <a:rPr lang="en-US" sz="2300" dirty="0">
                <a:solidFill>
                  <a:schemeClr val="tx1"/>
                </a:solidFill>
              </a:rPr>
              <a:t> the following claim:</a:t>
            </a:r>
            <a:endParaRPr lang="en-US" sz="2300" dirty="0"/>
          </a:p>
        </p:txBody>
      </p:sp>
      <p:sp>
        <p:nvSpPr>
          <p:cNvPr id="4" name="Claim card 620"/>
          <p:cNvSpPr/>
          <p:nvPr/>
        </p:nvSpPr>
        <p:spPr>
          <a:xfrm>
            <a:off x="548640" y="1932432"/>
            <a:ext cx="6035040" cy="1561795"/>
          </a:xfrm>
          <a:prstGeom prst="roundRect">
            <a:avLst>
              <a:gd name="adj" fmla="val 585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Icon circle 621"/>
          <p:cNvSpPr/>
          <p:nvPr/>
        </p:nvSpPr>
        <p:spPr>
          <a:xfrm>
            <a:off x="74980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6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79320"/>
            <a:ext cx="219456" cy="219456"/>
          </a:xfrm>
          <a:prstGeom prst="rect">
            <a:avLst/>
          </a:prstGeom>
        </p:spPr>
      </p:pic>
      <p:sp>
        <p:nvSpPr>
          <p:cNvPr id="7" name="Card heading 623"/>
          <p:cNvSpPr txBox="1"/>
          <p:nvPr/>
        </p:nvSpPr>
        <p:spPr>
          <a:xfrm>
            <a:off x="1243584" y="2097024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n^{2} \ne O(n)"/>
              <p:cNvSpPr txBox="1"/>
              <p:nvPr/>
            </p:nvSpPr>
            <p:spPr>
              <a:xfrm>
                <a:off x="777240" y="2618232"/>
                <a:ext cx="2095750" cy="59253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pic>
            <p:nvPicPr>
              <p:cNvPr id="8" name="EQ|bffb2078e280|36" descr="n^{2} \ne O(n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18232"/>
                <a:ext cx="2095750" cy="592531"/>
              </a:xfrm>
              <a:prstGeom prst="rect">
                <a:avLst/>
              </a:prstGeom>
            </p:spPr>
          </p:pic>
        </mc:Fallback>
      </mc:AlternateContent>
      <p:sp>
        <p:nvSpPr>
          <p:cNvPr id="9" name="What to use card 626"/>
          <p:cNvSpPr/>
          <p:nvPr/>
        </p:nvSpPr>
        <p:spPr>
          <a:xfrm>
            <a:off x="6903720" y="1932432"/>
            <a:ext cx="4736592" cy="2519142"/>
          </a:xfrm>
          <a:prstGeom prst="roundRect">
            <a:avLst>
              <a:gd name="adj" fmla="val 36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627"/>
          <p:cNvSpPr/>
          <p:nvPr/>
        </p:nvSpPr>
        <p:spPr>
          <a:xfrm>
            <a:off x="710488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62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179320"/>
            <a:ext cx="219456" cy="219456"/>
          </a:xfrm>
          <a:prstGeom prst="rect">
            <a:avLst/>
          </a:prstGeom>
        </p:spPr>
      </p:pic>
      <p:sp>
        <p:nvSpPr>
          <p:cNvPr id="12" name="Card heading 629"/>
          <p:cNvSpPr txBox="1"/>
          <p:nvPr/>
        </p:nvSpPr>
        <p:spPr>
          <a:xfrm>
            <a:off x="7598664" y="20970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use</a:t>
            </a:r>
            <a:endParaRPr lang="en-US" sz="1700" dirty="0"/>
          </a:p>
        </p:txBody>
      </p:sp>
      <p:sp>
        <p:nvSpPr>
          <p:cNvPr id="13" name="Text 630"/>
          <p:cNvSpPr txBox="1"/>
          <p:nvPr/>
        </p:nvSpPr>
        <p:spPr>
          <a:xfrm>
            <a:off x="7132320" y="2590800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f(n) = O(g(n)) if there are positive constants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n₀</a:t>
            </a:r>
            <a:r>
              <a:rPr lang="en-US" sz="1800" dirty="0">
                <a:solidFill>
                  <a:schemeClr val="tx1"/>
                </a:solidFill>
              </a:rPr>
              <a:t> such that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f(n) \le c \cdot g(n) \quad \text{for all } n \ge n_0"/>
              <p:cNvSpPr txBox="1"/>
              <p:nvPr/>
            </p:nvSpPr>
            <p:spPr>
              <a:xfrm>
                <a:off x="7132320" y="3243072"/>
                <a:ext cx="3342132" cy="300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pic>
            <p:nvPicPr>
              <p:cNvPr id="14" name="EQ|a8b39bcf510f|20" descr="f(n) \le c \cdot g(n) \quad \text{for all } n \ge n_0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2320" y="3243072"/>
                <a:ext cx="3342132" cy="300198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 631"/>
          <p:cNvSpPr txBox="1"/>
          <p:nvPr/>
        </p:nvSpPr>
        <p:spPr>
          <a:xfrm>
            <a:off x="7132320" y="3646902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To show that f is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O(g), assume it is and reach a contradiction.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3</a:t>
            </a:r>
            <a:endParaRPr lang="en-US" sz="3000" dirty="0"/>
          </a:p>
        </p:txBody>
      </p:sp>
      <p:sp>
        <p:nvSpPr>
          <p:cNvPr id="3" name="Step circle 650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651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652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Assume the opposite:</a:t>
            </a:r>
            <a:r>
              <a:rPr lang="en-US" sz="2000" dirty="0">
                <a:solidFill>
                  <a:schemeClr val="tx1"/>
                </a:solidFill>
              </a:rPr>
              <a:t> n² = O(n). Then there are constants c &gt; 0 and n₀ such that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 descr="n^{2} \le c \cdot n \quad \text{for all } n \ge n_0"/>
              <p:cNvSpPr txBox="1"/>
              <p:nvPr/>
            </p:nvSpPr>
            <p:spPr>
              <a:xfrm>
                <a:off x="1234440" y="2002536"/>
                <a:ext cx="3127248" cy="3412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6" name="EQ|8169b698f55c|22.5" descr="n^{2} \le c \cdot n \quad \text{for all } n \ge n_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2002536"/>
                <a:ext cx="3127248" cy="3412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653"/>
          <p:cNvSpPr/>
          <p:nvPr/>
        </p:nvSpPr>
        <p:spPr>
          <a:xfrm>
            <a:off x="548640" y="257692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tep number 654"/>
          <p:cNvSpPr txBox="1"/>
          <p:nvPr/>
        </p:nvSpPr>
        <p:spPr>
          <a:xfrm>
            <a:off x="548640" y="2576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655"/>
          <p:cNvSpPr txBox="1"/>
          <p:nvPr/>
        </p:nvSpPr>
        <p:spPr>
          <a:xfrm>
            <a:off x="1097280" y="2598264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Divide both sides by n &gt; 0: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uation 10" descr="n \le c \quad \text{for all } n \ge n_0"/>
              <p:cNvSpPr txBox="1"/>
              <p:nvPr/>
            </p:nvSpPr>
            <p:spPr>
              <a:xfrm>
                <a:off x="1234440" y="2967072"/>
                <a:ext cx="2633472" cy="2931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0" name="EQ|ac49aa5ea527|22.5" descr="n \le c \quad \text{for all } n \ge n_0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2967072"/>
                <a:ext cx="2633472" cy="2931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tep circle 656"/>
          <p:cNvSpPr/>
          <p:nvPr/>
        </p:nvSpPr>
        <p:spPr>
          <a:xfrm>
            <a:off x="548640" y="3493423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tep number 657"/>
          <p:cNvSpPr txBox="1"/>
          <p:nvPr/>
        </p:nvSpPr>
        <p:spPr>
          <a:xfrm>
            <a:off x="548640" y="349342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text 658"/>
          <p:cNvSpPr txBox="1"/>
          <p:nvPr/>
        </p:nvSpPr>
        <p:spPr>
          <a:xfrm>
            <a:off x="1097280" y="3514759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Take a number larger than both n₀ and c: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n_1 = \max(n_0, c) + 1"/>
              <p:cNvSpPr txBox="1"/>
              <p:nvPr/>
            </p:nvSpPr>
            <p:spPr>
              <a:xfrm>
                <a:off x="1234440" y="3883567"/>
                <a:ext cx="2429481" cy="33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)+1</m:t>
                      </m:r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4" name="EQ|6f7a8b65a2c4|22.5" descr="n_1 = \max(n_0, c) + 1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440" y="3883567"/>
                <a:ext cx="2429481" cy="337722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Step circle 659"/>
          <p:cNvSpPr/>
          <p:nvPr/>
        </p:nvSpPr>
        <p:spPr>
          <a:xfrm>
            <a:off x="548640" y="445446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tep number 660"/>
          <p:cNvSpPr txBox="1"/>
          <p:nvPr/>
        </p:nvSpPr>
        <p:spPr>
          <a:xfrm>
            <a:off x="548640" y="445446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 text 661"/>
          <p:cNvSpPr txBox="1"/>
          <p:nvPr/>
        </p:nvSpPr>
        <p:spPr>
          <a:xfrm>
            <a:off x="1097280" y="447579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n₁ ≥ n₀, but n₁ &gt; c — this contradicts step 2. So the assumption is false.</a:t>
            </a:r>
            <a:endParaRPr lang="en-US" sz="2000" dirty="0"/>
          </a:p>
        </p:txBody>
      </p:sp>
      <p:sp>
        <p:nvSpPr>
          <p:cNvPr id="18" name="Answer card 663"/>
          <p:cNvSpPr/>
          <p:nvPr/>
        </p:nvSpPr>
        <p:spPr>
          <a:xfrm>
            <a:off x="7818120" y="1307592"/>
            <a:ext cx="3822192" cy="1787652"/>
          </a:xfrm>
          <a:prstGeom prst="roundRect">
            <a:avLst>
              <a:gd name="adj" fmla="val 511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Icon circle 664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con 66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666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22" name="Text 667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 claim is </a:t>
            </a:r>
            <a:r>
              <a:rPr lang="en-US" sz="1900" b="1" dirty="0">
                <a:solidFill>
                  <a:schemeClr val="tx1"/>
                </a:solidFill>
              </a:rPr>
              <a:t>true</a:t>
            </a:r>
            <a:r>
              <a:rPr lang="en-US" sz="1900" dirty="0">
                <a:solidFill>
                  <a:schemeClr val="tx1"/>
                </a:solidFill>
              </a:rPr>
              <a:t>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uation 23" descr="n^{2} \ne O(n)"/>
              <p:cNvSpPr txBox="1"/>
              <p:nvPr/>
            </p:nvSpPr>
            <p:spPr>
              <a:xfrm>
                <a:off x="8046720" y="2359152"/>
                <a:ext cx="1600920" cy="4526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7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7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7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7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750" dirty="0"/>
              </a:p>
            </p:txBody>
          </p:sp>
        </mc:Choice>
        <mc:Fallback xmlns="">
          <p:pic>
            <p:nvPicPr>
              <p:cNvPr id="23" name="EQ|c7104ad04432|27.5" descr="n^{2} \ne O(n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6720" y="2359152"/>
                <a:ext cx="1600920" cy="45262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3 — Explanation</a:t>
            </a:r>
            <a:endParaRPr lang="en-US" sz="3000" dirty="0"/>
          </a:p>
        </p:txBody>
      </p:sp>
      <p:sp>
        <p:nvSpPr>
          <p:cNvPr id="3" name="Step circle 687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688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689"/>
          <p:cNvSpPr txBox="1"/>
          <p:nvPr/>
        </p:nvSpPr>
        <p:spPr>
          <a:xfrm>
            <a:off x="1097280" y="1328928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Strategy:</a:t>
            </a:r>
            <a:r>
              <a:rPr lang="en-US" sz="2000" dirty="0">
                <a:solidFill>
                  <a:schemeClr val="tx1"/>
                </a:solidFill>
              </a:rPr>
              <a:t> to prove that f is </a:t>
            </a:r>
            <a:r>
              <a:rPr lang="en-US" sz="2000" b="1" dirty="0">
                <a:solidFill>
                  <a:schemeClr val="tx1"/>
                </a:solidFill>
              </a:rPr>
              <a:t>not</a:t>
            </a:r>
            <a:r>
              <a:rPr lang="en-US" sz="2000" dirty="0">
                <a:solidFill>
                  <a:schemeClr val="tx1"/>
                </a:solidFill>
              </a:rPr>
              <a:t> O(g), assume it is and show that this leads to something impossible (proof by contradiction).</a:t>
            </a:r>
            <a:endParaRPr lang="en-US" sz="2000" dirty="0"/>
          </a:p>
        </p:txBody>
      </p:sp>
      <p:sp>
        <p:nvSpPr>
          <p:cNvPr id="6" name="Step circle 690"/>
          <p:cNvSpPr/>
          <p:nvPr/>
        </p:nvSpPr>
        <p:spPr>
          <a:xfrm>
            <a:off x="548640" y="24673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691"/>
          <p:cNvSpPr txBox="1"/>
          <p:nvPr/>
        </p:nvSpPr>
        <p:spPr>
          <a:xfrm>
            <a:off x="548640" y="24673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692"/>
          <p:cNvSpPr txBox="1"/>
          <p:nvPr/>
        </p:nvSpPr>
        <p:spPr>
          <a:xfrm>
            <a:off x="1097280" y="2488692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impossible statement:</a:t>
            </a:r>
            <a:r>
              <a:rPr lang="en-US" sz="2000" dirty="0">
                <a:solidFill>
                  <a:schemeClr val="tx1"/>
                </a:solidFill>
              </a:rPr>
              <a:t> step 2 says that n — which keeps growing — stays below a fixed number c for all n ≥ n₀. No fixed number can stay above all natural numbers.</a:t>
            </a:r>
            <a:endParaRPr lang="en-US" sz="2000" dirty="0"/>
          </a:p>
        </p:txBody>
      </p:sp>
      <p:sp>
        <p:nvSpPr>
          <p:cNvPr id="9" name="Step circle 693"/>
          <p:cNvSpPr/>
          <p:nvPr/>
        </p:nvSpPr>
        <p:spPr>
          <a:xfrm>
            <a:off x="548640" y="36271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tep number 694"/>
          <p:cNvSpPr txBox="1"/>
          <p:nvPr/>
        </p:nvSpPr>
        <p:spPr>
          <a:xfrm>
            <a:off x="548640" y="3627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695"/>
          <p:cNvSpPr txBox="1"/>
          <p:nvPr/>
        </p:nvSpPr>
        <p:spPr>
          <a:xfrm>
            <a:off x="1097280" y="3648456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Whatever c we try, it fails:</a:t>
            </a:r>
            <a:r>
              <a:rPr lang="en-US" sz="2000" dirty="0">
                <a:solidFill>
                  <a:schemeClr val="tx1"/>
                </a:solidFill>
              </a:rPr>
              <a:t> n² / (c · n) = n / c, which becomes larger than 1 as soon as n &gt; c.</a:t>
            </a:r>
            <a:endParaRPr lang="en-US" sz="2000" dirty="0"/>
          </a:p>
        </p:txBody>
      </p:sp>
      <p:sp>
        <p:nvSpPr>
          <p:cNvPr id="12" name="Step circle 696"/>
          <p:cNvSpPr/>
          <p:nvPr/>
        </p:nvSpPr>
        <p:spPr>
          <a:xfrm>
            <a:off x="548640" y="448208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tep number 697"/>
          <p:cNvSpPr txBox="1"/>
          <p:nvPr/>
        </p:nvSpPr>
        <p:spPr>
          <a:xfrm>
            <a:off x="548640" y="4482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698"/>
          <p:cNvSpPr txBox="1"/>
          <p:nvPr/>
        </p:nvSpPr>
        <p:spPr>
          <a:xfrm>
            <a:off x="1097280" y="4503420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Meaning:</a:t>
            </a:r>
            <a:r>
              <a:rPr lang="en-US" sz="2000" dirty="0">
                <a:solidFill>
                  <a:schemeClr val="tx1"/>
                </a:solidFill>
              </a:rPr>
              <a:t> n² grows strictly faster than n. No constant multiple of n can bound n² from above.</a:t>
            </a:r>
            <a:endParaRPr lang="en-US" sz="2000" dirty="0"/>
          </a:p>
        </p:txBody>
      </p:sp>
      <p:sp>
        <p:nvSpPr>
          <p:cNvPr id="15" name="Try c = 100 card 700"/>
          <p:cNvSpPr/>
          <p:nvPr/>
        </p:nvSpPr>
        <p:spPr>
          <a:xfrm>
            <a:off x="7818120" y="1307592"/>
            <a:ext cx="3822192" cy="1203960"/>
          </a:xfrm>
          <a:prstGeom prst="roundRect">
            <a:avLst>
              <a:gd name="adj" fmla="val 7595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Icon circle 701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con 70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8" name="Card heading 703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Try c = 100</a:t>
            </a:r>
            <a:endParaRPr lang="en-US" sz="1700" dirty="0"/>
          </a:p>
        </p:txBody>
      </p:sp>
      <p:sp>
        <p:nvSpPr>
          <p:cNvPr id="19" name="Text 704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n² ≤ 100 · n breaks once n &gt; 100:</a:t>
            </a:r>
            <a:endParaRPr lang="en-US" sz="1900" dirty="0"/>
          </a:p>
        </p:txBody>
      </p:sp>
      <p:graphicFrame>
        <p:nvGraphicFramePr>
          <p:cNvPr id="22" name="Trace table 7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648712"/>
          <a:ext cx="3822192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 · 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10 201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10 100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4</a:t>
            </a:r>
            <a:endParaRPr lang="en-US" sz="3000" dirty="0"/>
          </a:p>
        </p:txBody>
      </p:sp>
      <p:sp>
        <p:nvSpPr>
          <p:cNvPr id="3" name="Prompt 719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Prove or disprove</a:t>
            </a:r>
            <a:r>
              <a:rPr lang="en-US" sz="2300" dirty="0">
                <a:solidFill>
                  <a:schemeClr val="tx1"/>
                </a:solidFill>
              </a:rPr>
              <a:t> the following claim:</a:t>
            </a:r>
            <a:endParaRPr lang="en-US" sz="2300" dirty="0"/>
          </a:p>
        </p:txBody>
      </p:sp>
      <p:sp>
        <p:nvSpPr>
          <p:cNvPr id="4" name="Claim card 720"/>
          <p:cNvSpPr/>
          <p:nvPr/>
        </p:nvSpPr>
        <p:spPr>
          <a:xfrm>
            <a:off x="548640" y="1932432"/>
            <a:ext cx="6035040" cy="1561795"/>
          </a:xfrm>
          <a:prstGeom prst="roundRect">
            <a:avLst>
              <a:gd name="adj" fmla="val 585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Icon circle 721"/>
          <p:cNvSpPr/>
          <p:nvPr/>
        </p:nvSpPr>
        <p:spPr>
          <a:xfrm>
            <a:off x="74980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7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79320"/>
            <a:ext cx="219456" cy="219456"/>
          </a:xfrm>
          <a:prstGeom prst="rect">
            <a:avLst/>
          </a:prstGeom>
        </p:spPr>
      </p:pic>
      <p:sp>
        <p:nvSpPr>
          <p:cNvPr id="7" name="Card heading 723"/>
          <p:cNvSpPr txBox="1"/>
          <p:nvPr/>
        </p:nvSpPr>
        <p:spPr>
          <a:xfrm>
            <a:off x="1243584" y="2097024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n^{2} \ne \Omega(n^{3})"/>
              <p:cNvSpPr txBox="1"/>
              <p:nvPr/>
            </p:nvSpPr>
            <p:spPr>
              <a:xfrm>
                <a:off x="777240" y="2618232"/>
                <a:ext cx="2219194" cy="59253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m:rPr>
                          <m:sty m:val="p"/>
                        </m:rP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pic>
            <p:nvPicPr>
              <p:cNvPr id="8" name="EQ|1756f480613b|36" descr="n^{2} \ne \Omega(n^{3}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18232"/>
                <a:ext cx="2219194" cy="592531"/>
              </a:xfrm>
              <a:prstGeom prst="rect">
                <a:avLst/>
              </a:prstGeom>
            </p:spPr>
          </p:pic>
        </mc:Fallback>
      </mc:AlternateContent>
      <p:sp>
        <p:nvSpPr>
          <p:cNvPr id="9" name="What to use card 726"/>
          <p:cNvSpPr/>
          <p:nvPr/>
        </p:nvSpPr>
        <p:spPr>
          <a:xfrm>
            <a:off x="6903720" y="1932432"/>
            <a:ext cx="4736592" cy="2519142"/>
          </a:xfrm>
          <a:prstGeom prst="roundRect">
            <a:avLst>
              <a:gd name="adj" fmla="val 3630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727"/>
          <p:cNvSpPr/>
          <p:nvPr/>
        </p:nvSpPr>
        <p:spPr>
          <a:xfrm>
            <a:off x="710488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72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179320"/>
            <a:ext cx="219456" cy="219456"/>
          </a:xfrm>
          <a:prstGeom prst="rect">
            <a:avLst/>
          </a:prstGeom>
        </p:spPr>
      </p:pic>
      <p:sp>
        <p:nvSpPr>
          <p:cNvPr id="12" name="Card heading 729"/>
          <p:cNvSpPr txBox="1"/>
          <p:nvPr/>
        </p:nvSpPr>
        <p:spPr>
          <a:xfrm>
            <a:off x="7598664" y="20970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use</a:t>
            </a:r>
            <a:endParaRPr lang="en-US" sz="1700" dirty="0"/>
          </a:p>
        </p:txBody>
      </p:sp>
      <p:sp>
        <p:nvSpPr>
          <p:cNvPr id="13" name="Text 730"/>
          <p:cNvSpPr txBox="1"/>
          <p:nvPr/>
        </p:nvSpPr>
        <p:spPr>
          <a:xfrm>
            <a:off x="7132320" y="2590800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f(n) = Ω(g(n)) if there are positive constants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n₀</a:t>
            </a:r>
            <a:r>
              <a:rPr lang="en-US" sz="1800" dirty="0">
                <a:solidFill>
                  <a:schemeClr val="tx1"/>
                </a:solidFill>
              </a:rPr>
              <a:t> such that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f(n) \ge c \cdot g(n) \quad \text{for all } n \ge n_0"/>
              <p:cNvSpPr txBox="1"/>
              <p:nvPr/>
            </p:nvSpPr>
            <p:spPr>
              <a:xfrm>
                <a:off x="7132320" y="3243072"/>
                <a:ext cx="3342132" cy="300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pic>
            <p:nvPicPr>
              <p:cNvPr id="14" name="EQ|31f0b0952825|20" descr="f(n) \ge c \cdot g(n) \quad \text{for all } n \ge n_0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2320" y="3243072"/>
                <a:ext cx="3342132" cy="300198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 731"/>
          <p:cNvSpPr txBox="1"/>
          <p:nvPr/>
        </p:nvSpPr>
        <p:spPr>
          <a:xfrm>
            <a:off x="7132320" y="3646902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To show that f is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Ω(g), assume it is and reach a contradiction.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4</a:t>
            </a:r>
            <a:endParaRPr lang="en-US" sz="3000" dirty="0"/>
          </a:p>
        </p:txBody>
      </p:sp>
      <p:sp>
        <p:nvSpPr>
          <p:cNvPr id="3" name="Step circle 750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751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752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Assume the opposite:</a:t>
            </a:r>
            <a:r>
              <a:rPr lang="en-US" sz="2000" dirty="0">
                <a:solidFill>
                  <a:schemeClr val="tx1"/>
                </a:solidFill>
              </a:rPr>
              <a:t> n² = Ω(n³). Then there are constants c &gt; 0 and n₀ such that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 descr="n^{2} \ge c \cdot n^{3} \quad \text{for all } n \ge n_0"/>
              <p:cNvSpPr txBox="1"/>
              <p:nvPr/>
            </p:nvSpPr>
            <p:spPr>
              <a:xfrm>
                <a:off x="1234440" y="2002536"/>
                <a:ext cx="3233513" cy="3412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6" name="EQ|8015efde1503|22.5" descr="n^{2} \ge c \cdot n^{3} \quad \text{for all } n \ge n_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2002536"/>
                <a:ext cx="3233513" cy="3412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753"/>
          <p:cNvSpPr/>
          <p:nvPr/>
        </p:nvSpPr>
        <p:spPr>
          <a:xfrm>
            <a:off x="548640" y="2576928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tep number 754"/>
          <p:cNvSpPr txBox="1"/>
          <p:nvPr/>
        </p:nvSpPr>
        <p:spPr>
          <a:xfrm>
            <a:off x="548640" y="2576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755"/>
          <p:cNvSpPr txBox="1"/>
          <p:nvPr/>
        </p:nvSpPr>
        <p:spPr>
          <a:xfrm>
            <a:off x="1097280" y="2598264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Divide both sides by c · n² &gt; 0: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uation 10" descr="n \le \frac{1}{c} \quad \text{for all } n \ge n_0"/>
              <p:cNvSpPr txBox="1"/>
              <p:nvPr/>
            </p:nvSpPr>
            <p:spPr>
              <a:xfrm>
                <a:off x="1234440" y="2967072"/>
                <a:ext cx="2678015" cy="63604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0" name="EQ|8b136b92d10a|22.5" descr="n \le \frac{1}{c} \quad \text{for all } n \ge n_0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2967072"/>
                <a:ext cx="2678015" cy="636045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tep circle 756"/>
          <p:cNvSpPr/>
          <p:nvPr/>
        </p:nvSpPr>
        <p:spPr>
          <a:xfrm>
            <a:off x="548640" y="3836289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tep number 757"/>
          <p:cNvSpPr txBox="1"/>
          <p:nvPr/>
        </p:nvSpPr>
        <p:spPr>
          <a:xfrm>
            <a:off x="548640" y="383628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text 758"/>
          <p:cNvSpPr txBox="1"/>
          <p:nvPr/>
        </p:nvSpPr>
        <p:spPr>
          <a:xfrm>
            <a:off x="1097280" y="3857625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Choose a natural number larger than both n₀ and 1/c: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n_1 &gt; \max\left(n_0, \frac{1}{c}\right)"/>
              <p:cNvSpPr txBox="1"/>
              <p:nvPr/>
            </p:nvSpPr>
            <p:spPr>
              <a:xfrm>
                <a:off x="1234440" y="4226433"/>
                <a:ext cx="2266535" cy="726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4" name="EQ|394aaf143871|22.5" descr="n_1 &gt; \max\left(n_0, \frac{1}{c}\right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440" y="4226433"/>
                <a:ext cx="2266535" cy="726982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Step circle 759"/>
          <p:cNvSpPr/>
          <p:nvPr/>
        </p:nvSpPr>
        <p:spPr>
          <a:xfrm>
            <a:off x="548640" y="5186587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tep number 760"/>
          <p:cNvSpPr txBox="1"/>
          <p:nvPr/>
        </p:nvSpPr>
        <p:spPr>
          <a:xfrm>
            <a:off x="548640" y="518658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 text 761"/>
          <p:cNvSpPr txBox="1"/>
          <p:nvPr/>
        </p:nvSpPr>
        <p:spPr>
          <a:xfrm>
            <a:off x="1097280" y="5207923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n₁ ≥ n₀, so by step 2 n₁ ≤ 1/c — but we chose n₁ &gt; 1/c. Contradiction, so the assumption is false.</a:t>
            </a:r>
            <a:endParaRPr lang="en-US" sz="2000" dirty="0"/>
          </a:p>
        </p:txBody>
      </p:sp>
      <p:sp>
        <p:nvSpPr>
          <p:cNvPr id="18" name="Answer card 763"/>
          <p:cNvSpPr/>
          <p:nvPr/>
        </p:nvSpPr>
        <p:spPr>
          <a:xfrm>
            <a:off x="7818120" y="1307592"/>
            <a:ext cx="3822192" cy="1787652"/>
          </a:xfrm>
          <a:prstGeom prst="roundRect">
            <a:avLst>
              <a:gd name="adj" fmla="val 511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Icon circle 764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con 76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766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22" name="Text 767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 claim is </a:t>
            </a:r>
            <a:r>
              <a:rPr lang="en-US" sz="1900" b="1" dirty="0">
                <a:solidFill>
                  <a:schemeClr val="tx1"/>
                </a:solidFill>
              </a:rPr>
              <a:t>true</a:t>
            </a:r>
            <a:r>
              <a:rPr lang="en-US" sz="1900" dirty="0">
                <a:solidFill>
                  <a:schemeClr val="tx1"/>
                </a:solidFill>
              </a:rPr>
              <a:t>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uation 23" descr="n^{2} \ne \Omega(n^{3})"/>
              <p:cNvSpPr txBox="1"/>
              <p:nvPr/>
            </p:nvSpPr>
            <p:spPr>
              <a:xfrm>
                <a:off x="8046720" y="2359152"/>
                <a:ext cx="1695218" cy="4526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7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7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7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m:rPr>
                          <m:sty m:val="p"/>
                        </m:rP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7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7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7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750" dirty="0"/>
              </a:p>
            </p:txBody>
          </p:sp>
        </mc:Choice>
        <mc:Fallback xmlns="">
          <p:pic>
            <p:nvPicPr>
              <p:cNvPr id="23" name="EQ|3ff119ea5501|27.5" descr="n^{2} \ne \Omega(n^{3}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6720" y="2359152"/>
                <a:ext cx="1695218" cy="45262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4 — Explanation</a:t>
            </a:r>
            <a:endParaRPr lang="en-US" sz="3000" dirty="0"/>
          </a:p>
        </p:txBody>
      </p:sp>
      <p:sp>
        <p:nvSpPr>
          <p:cNvPr id="3" name="Step circle 787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788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789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Ω would mean here:</a:t>
            </a:r>
            <a:r>
              <a:rPr lang="en-US" sz="2000" dirty="0">
                <a:solidFill>
                  <a:schemeClr val="tx1"/>
                </a:solidFill>
              </a:rPr>
              <a:t> n² is at least a fixed fraction c of n³ for all large n.</a:t>
            </a:r>
            <a:endParaRPr lang="en-US" sz="2000" dirty="0"/>
          </a:p>
        </p:txBody>
      </p:sp>
      <p:sp>
        <p:nvSpPr>
          <p:cNvPr id="6" name="Step circle 790"/>
          <p:cNvSpPr/>
          <p:nvPr/>
        </p:nvSpPr>
        <p:spPr>
          <a:xfrm>
            <a:off x="548640" y="21625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791"/>
          <p:cNvSpPr txBox="1"/>
          <p:nvPr/>
        </p:nvSpPr>
        <p:spPr>
          <a:xfrm>
            <a:off x="548640" y="21625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792"/>
          <p:cNvSpPr txBox="1"/>
          <p:nvPr/>
        </p:nvSpPr>
        <p:spPr>
          <a:xfrm>
            <a:off x="1097280" y="2183892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But the fraction shrinks to zero: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quation 9" descr="\frac{n^{2}}{n^{3}} = \frac{1}{n} \to 0"/>
              <p:cNvSpPr txBox="1"/>
              <p:nvPr/>
            </p:nvSpPr>
            <p:spPr>
              <a:xfrm>
                <a:off x="1234440" y="2552700"/>
                <a:ext cx="1536158" cy="68583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2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50" b="0" i="1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250" b="0" i="0">
                                  <a:solidFill>
                                    <a:srgbClr val="1E2A2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9" name="EQ|e1e8353234cb|22.5" descr="\frac{n^{2}}{n^{3}} = \frac{1}{n} \to 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2552700"/>
                <a:ext cx="1536158" cy="685834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Step circle 793"/>
          <p:cNvSpPr/>
          <p:nvPr/>
        </p:nvSpPr>
        <p:spPr>
          <a:xfrm>
            <a:off x="548640" y="347170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tep number 794"/>
          <p:cNvSpPr txBox="1"/>
          <p:nvPr/>
        </p:nvSpPr>
        <p:spPr>
          <a:xfrm>
            <a:off x="548640" y="34717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tep text 795"/>
          <p:cNvSpPr txBox="1"/>
          <p:nvPr/>
        </p:nvSpPr>
        <p:spPr>
          <a:xfrm>
            <a:off x="1097280" y="3493042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Whatever c &gt; 0 we choose, 1/n drops below c as soon as n &gt; 1/c — so n² falls below c · n³.</a:t>
            </a:r>
            <a:endParaRPr lang="en-US" sz="2000" dirty="0"/>
          </a:p>
        </p:txBody>
      </p:sp>
      <p:sp>
        <p:nvSpPr>
          <p:cNvPr id="13" name="Step circle 796"/>
          <p:cNvSpPr/>
          <p:nvPr/>
        </p:nvSpPr>
        <p:spPr>
          <a:xfrm>
            <a:off x="548640" y="432667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tep number 797"/>
          <p:cNvSpPr txBox="1"/>
          <p:nvPr/>
        </p:nvSpPr>
        <p:spPr>
          <a:xfrm>
            <a:off x="548640" y="43266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tep text 798"/>
          <p:cNvSpPr txBox="1"/>
          <p:nvPr/>
        </p:nvSpPr>
        <p:spPr>
          <a:xfrm>
            <a:off x="1097280" y="4348006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Meaning:</a:t>
            </a:r>
            <a:r>
              <a:rPr lang="en-US" sz="2000" dirty="0">
                <a:solidFill>
                  <a:schemeClr val="tx1"/>
                </a:solidFill>
              </a:rPr>
              <a:t> n² grows strictly slower than n³, so n³ cannot be a lower bound for n².</a:t>
            </a:r>
            <a:endParaRPr lang="en-US" sz="2000" dirty="0"/>
          </a:p>
        </p:txBody>
      </p:sp>
      <p:sp>
        <p:nvSpPr>
          <p:cNvPr id="16" name="Try c = 0.01 card 800"/>
          <p:cNvSpPr/>
          <p:nvPr/>
        </p:nvSpPr>
        <p:spPr>
          <a:xfrm>
            <a:off x="7818120" y="1307592"/>
            <a:ext cx="3822192" cy="1493520"/>
          </a:xfrm>
          <a:prstGeom prst="roundRect">
            <a:avLst>
              <a:gd name="adj" fmla="val 6122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Icon circle 801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8" name="Icon 80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9" name="Card heading 803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Try c = 0.01</a:t>
            </a:r>
            <a:endParaRPr lang="en-US" sz="1700" dirty="0"/>
          </a:p>
        </p:txBody>
      </p:sp>
      <p:sp>
        <p:nvSpPr>
          <p:cNvPr id="20" name="Text 804"/>
          <p:cNvSpPr txBox="1"/>
          <p:nvPr/>
        </p:nvSpPr>
        <p:spPr>
          <a:xfrm>
            <a:off x="8046720" y="1965960"/>
            <a:ext cx="3364992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n² ≥ 0.01 · n³ breaks once n &gt; 100:</a:t>
            </a:r>
            <a:endParaRPr lang="en-US" sz="1900" dirty="0"/>
          </a:p>
        </p:txBody>
      </p:sp>
      <p:graphicFrame>
        <p:nvGraphicFramePr>
          <p:cNvPr id="25" name="Trace table 8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938272"/>
          <a:ext cx="3822192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 · n³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5</a:t>
            </a:r>
            <a:endParaRPr lang="en-US" sz="3000" dirty="0"/>
          </a:p>
        </p:txBody>
      </p:sp>
      <p:sp>
        <p:nvSpPr>
          <p:cNvPr id="3" name="Prompt 817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Prove or disprove</a:t>
            </a:r>
            <a:r>
              <a:rPr lang="en-US" sz="2300" dirty="0">
                <a:solidFill>
                  <a:schemeClr val="tx1"/>
                </a:solidFill>
              </a:rPr>
              <a:t> the following claim:</a:t>
            </a:r>
            <a:endParaRPr lang="en-US" sz="2300" dirty="0"/>
          </a:p>
        </p:txBody>
      </p:sp>
      <p:sp>
        <p:nvSpPr>
          <p:cNvPr id="4" name="Claim card 818"/>
          <p:cNvSpPr/>
          <p:nvPr/>
        </p:nvSpPr>
        <p:spPr>
          <a:xfrm>
            <a:off x="548640" y="1932432"/>
            <a:ext cx="6035040" cy="1986936"/>
          </a:xfrm>
          <a:prstGeom prst="roundRect">
            <a:avLst>
              <a:gd name="adj" fmla="val 4602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Icon circle 819"/>
          <p:cNvSpPr/>
          <p:nvPr/>
        </p:nvSpPr>
        <p:spPr>
          <a:xfrm>
            <a:off x="74980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8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79320"/>
            <a:ext cx="219456" cy="219456"/>
          </a:xfrm>
          <a:prstGeom prst="rect">
            <a:avLst/>
          </a:prstGeom>
        </p:spPr>
      </p:pic>
      <p:sp>
        <p:nvSpPr>
          <p:cNvPr id="7" name="Card heading 821"/>
          <p:cNvSpPr txBox="1"/>
          <p:nvPr/>
        </p:nvSpPr>
        <p:spPr>
          <a:xfrm>
            <a:off x="1243584" y="2097024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\frac{1}{2}n^{2} \ne O(n)"/>
              <p:cNvSpPr txBox="1"/>
              <p:nvPr/>
            </p:nvSpPr>
            <p:spPr>
              <a:xfrm>
                <a:off x="777240" y="2618232"/>
                <a:ext cx="2367327" cy="101767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pic>
            <p:nvPicPr>
              <p:cNvPr id="8" name="EQ|1d6f9c2a77fe|36" descr="\frac{1}{2}n^{2} \ne O(n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18232"/>
                <a:ext cx="2367327" cy="1017672"/>
              </a:xfrm>
              <a:prstGeom prst="rect">
                <a:avLst/>
              </a:prstGeom>
            </p:spPr>
          </p:pic>
        </mc:Fallback>
      </mc:AlternateContent>
      <p:sp>
        <p:nvSpPr>
          <p:cNvPr id="9" name="What to use card 823"/>
          <p:cNvSpPr/>
          <p:nvPr/>
        </p:nvSpPr>
        <p:spPr>
          <a:xfrm>
            <a:off x="6903720" y="1932432"/>
            <a:ext cx="4736592" cy="1894302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824"/>
          <p:cNvSpPr/>
          <p:nvPr/>
        </p:nvSpPr>
        <p:spPr>
          <a:xfrm>
            <a:off x="710488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82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179320"/>
            <a:ext cx="219456" cy="219456"/>
          </a:xfrm>
          <a:prstGeom prst="rect">
            <a:avLst/>
          </a:prstGeom>
        </p:spPr>
      </p:pic>
      <p:sp>
        <p:nvSpPr>
          <p:cNvPr id="12" name="Card heading 826"/>
          <p:cNvSpPr txBox="1"/>
          <p:nvPr/>
        </p:nvSpPr>
        <p:spPr>
          <a:xfrm>
            <a:off x="7598664" y="20970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use</a:t>
            </a:r>
            <a:endParaRPr lang="en-US" sz="1700" dirty="0"/>
          </a:p>
        </p:txBody>
      </p:sp>
      <p:sp>
        <p:nvSpPr>
          <p:cNvPr id="13" name="Text 827"/>
          <p:cNvSpPr txBox="1"/>
          <p:nvPr/>
        </p:nvSpPr>
        <p:spPr>
          <a:xfrm>
            <a:off x="7132320" y="2590800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f(n) = O(g(n)) if there are positive constants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n₀</a:t>
            </a:r>
            <a:r>
              <a:rPr lang="en-US" sz="1800" dirty="0">
                <a:solidFill>
                  <a:schemeClr val="tx1"/>
                </a:solidFill>
              </a:rPr>
              <a:t> such that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f(n) \le c \cdot g(n) \quad \text{for all } n \ge n_0"/>
              <p:cNvSpPr txBox="1"/>
              <p:nvPr/>
            </p:nvSpPr>
            <p:spPr>
              <a:xfrm>
                <a:off x="7132320" y="3243072"/>
                <a:ext cx="3342132" cy="300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pic>
            <p:nvPicPr>
              <p:cNvPr id="14" name="EQ|a8b39bcf510f|20" descr="f(n) \le c \cdot g(n) \quad \text{for all } n \ge n_0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2320" y="3243072"/>
                <a:ext cx="3342132" cy="30019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5</a:t>
            </a:r>
            <a:endParaRPr lang="en-US" sz="3000" dirty="0"/>
          </a:p>
        </p:txBody>
      </p:sp>
      <p:sp>
        <p:nvSpPr>
          <p:cNvPr id="3" name="Step circle 846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847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848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Assume the opposite:</a:t>
            </a:r>
            <a:r>
              <a:rPr lang="en-US" sz="2000" dirty="0">
                <a:solidFill>
                  <a:schemeClr val="tx1"/>
                </a:solidFill>
              </a:rPr>
              <a:t> ½n² = O(n). Then there are constants c &gt; 0 and n₀ such that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 descr="\frac{1}{2}n^{2} \le c \cdot n \quad \text{for all } n \ge n_0"/>
              <p:cNvSpPr txBox="1"/>
              <p:nvPr/>
            </p:nvSpPr>
            <p:spPr>
              <a:xfrm>
                <a:off x="1234440" y="2002536"/>
                <a:ext cx="3296984" cy="63604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6" name="EQ|79efaf49dbde|22.5" descr="\frac{1}{2}n^{2} \le c \cdot n \quad \text{for all } n \ge n_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2002536"/>
                <a:ext cx="3296984" cy="636045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849"/>
          <p:cNvSpPr/>
          <p:nvPr/>
        </p:nvSpPr>
        <p:spPr>
          <a:xfrm>
            <a:off x="548640" y="2871753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tep number 850"/>
          <p:cNvSpPr txBox="1"/>
          <p:nvPr/>
        </p:nvSpPr>
        <p:spPr>
          <a:xfrm>
            <a:off x="548640" y="287175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851"/>
          <p:cNvSpPr txBox="1"/>
          <p:nvPr/>
        </p:nvSpPr>
        <p:spPr>
          <a:xfrm>
            <a:off x="1097280" y="2893089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Multiply both sides by 2 / n &gt; 0: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uation 10" descr="n \le 2c \quad \text{for all } n \ge n_0"/>
              <p:cNvSpPr txBox="1"/>
              <p:nvPr/>
            </p:nvSpPr>
            <p:spPr>
              <a:xfrm>
                <a:off x="1234440" y="3261897"/>
                <a:ext cx="2768952" cy="2931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≤2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0" name="EQ|6a08909e30d6|22.5" descr="n \le 2c \quad \text{for all } n \ge n_0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3261897"/>
                <a:ext cx="2768952" cy="2931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tep circle 852"/>
          <p:cNvSpPr/>
          <p:nvPr/>
        </p:nvSpPr>
        <p:spPr>
          <a:xfrm>
            <a:off x="548640" y="3788249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tep number 853"/>
          <p:cNvSpPr txBox="1"/>
          <p:nvPr/>
        </p:nvSpPr>
        <p:spPr>
          <a:xfrm>
            <a:off x="548640" y="378824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text 854"/>
          <p:cNvSpPr txBox="1"/>
          <p:nvPr/>
        </p:nvSpPr>
        <p:spPr>
          <a:xfrm>
            <a:off x="1097280" y="3809585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Choose a natural number larger than both n₀ and 2c: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n_1 &gt; \max(n_0, 2c)"/>
              <p:cNvSpPr txBox="1"/>
              <p:nvPr/>
            </p:nvSpPr>
            <p:spPr>
              <a:xfrm>
                <a:off x="1234440" y="4178393"/>
                <a:ext cx="2096799" cy="33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,2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4" name="EQ|14954727b458|22.5" descr="n_1 &gt; \max(n_0, 2c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440" y="4178393"/>
                <a:ext cx="2096799" cy="337722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Step circle 855"/>
          <p:cNvSpPr/>
          <p:nvPr/>
        </p:nvSpPr>
        <p:spPr>
          <a:xfrm>
            <a:off x="548640" y="4749287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tep number 856"/>
          <p:cNvSpPr txBox="1"/>
          <p:nvPr/>
        </p:nvSpPr>
        <p:spPr>
          <a:xfrm>
            <a:off x="548640" y="474928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 text 857"/>
          <p:cNvSpPr txBox="1"/>
          <p:nvPr/>
        </p:nvSpPr>
        <p:spPr>
          <a:xfrm>
            <a:off x="1097280" y="4770623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n₁ ≥ n₀, so by step 2 n₁ ≤ 2c — but we chose n₁ &gt; 2c. Contradiction, so the assumption is false.</a:t>
            </a:r>
            <a:endParaRPr lang="en-US" sz="2000" dirty="0"/>
          </a:p>
        </p:txBody>
      </p:sp>
      <p:sp>
        <p:nvSpPr>
          <p:cNvPr id="18" name="Answer card 859"/>
          <p:cNvSpPr/>
          <p:nvPr/>
        </p:nvSpPr>
        <p:spPr>
          <a:xfrm>
            <a:off x="7818120" y="1307592"/>
            <a:ext cx="3822192" cy="2112413"/>
          </a:xfrm>
          <a:prstGeom prst="roundRect">
            <a:avLst>
              <a:gd name="adj" fmla="val 4329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Icon circle 860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con 86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862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22" name="Text 863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 claim is </a:t>
            </a:r>
            <a:r>
              <a:rPr lang="en-US" sz="1900" b="1" dirty="0">
                <a:solidFill>
                  <a:schemeClr val="tx1"/>
                </a:solidFill>
              </a:rPr>
              <a:t>true</a:t>
            </a:r>
            <a:r>
              <a:rPr lang="en-US" sz="1900" dirty="0">
                <a:solidFill>
                  <a:schemeClr val="tx1"/>
                </a:solidFill>
              </a:rPr>
              <a:t>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uation 23" descr="\frac{1}{2}n^{2} \ne O(n)"/>
              <p:cNvSpPr txBox="1"/>
              <p:nvPr/>
            </p:nvSpPr>
            <p:spPr>
              <a:xfrm>
                <a:off x="8046720" y="2359152"/>
                <a:ext cx="1808375" cy="7773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27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7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7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7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7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7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7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7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750" dirty="0"/>
              </a:p>
            </p:txBody>
          </p:sp>
        </mc:Choice>
        <mc:Fallback xmlns="">
          <p:pic>
            <p:nvPicPr>
              <p:cNvPr id="23" name="EQ|07c062e3d5f1|27.5" descr="\frac{1}{2}n^{2} \ne O(n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6720" y="2359152"/>
                <a:ext cx="1808375" cy="777389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5 — Explanation</a:t>
            </a:r>
            <a:endParaRPr lang="en-US" sz="3000" dirty="0"/>
          </a:p>
        </p:txBody>
      </p:sp>
      <p:sp>
        <p:nvSpPr>
          <p:cNvPr id="3" name="Step circle 880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881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882"/>
          <p:cNvSpPr txBox="1"/>
          <p:nvPr/>
        </p:nvSpPr>
        <p:spPr>
          <a:xfrm>
            <a:off x="1097280" y="1328928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Same idea as Question 3:</a:t>
            </a:r>
            <a:r>
              <a:rPr lang="en-US" sz="2000" dirty="0">
                <a:solidFill>
                  <a:schemeClr val="tx1"/>
                </a:solidFill>
              </a:rPr>
              <a:t> a function that keeps growing (n) cannot stay below a fixed number (2c).</a:t>
            </a:r>
            <a:endParaRPr lang="en-US" sz="2000" dirty="0"/>
          </a:p>
        </p:txBody>
      </p:sp>
      <p:sp>
        <p:nvSpPr>
          <p:cNvPr id="6" name="Step circle 883"/>
          <p:cNvSpPr/>
          <p:nvPr/>
        </p:nvSpPr>
        <p:spPr>
          <a:xfrm>
            <a:off x="548640" y="21625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884"/>
          <p:cNvSpPr txBox="1"/>
          <p:nvPr/>
        </p:nvSpPr>
        <p:spPr>
          <a:xfrm>
            <a:off x="548640" y="21625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885"/>
          <p:cNvSpPr txBox="1"/>
          <p:nvPr/>
        </p:nvSpPr>
        <p:spPr>
          <a:xfrm>
            <a:off x="1097280" y="2183892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factor ½ does not help.</a:t>
            </a:r>
            <a:r>
              <a:rPr lang="en-US" sz="2000" dirty="0">
                <a:solidFill>
                  <a:schemeClr val="tx1"/>
                </a:solidFill>
              </a:rPr>
              <a:t> Constant factors never change the order of growth: ½n² is still quadratic, and a quadratic function always overtakes c · n.</a:t>
            </a:r>
            <a:endParaRPr lang="en-US" sz="2000" dirty="0"/>
          </a:p>
        </p:txBody>
      </p:sp>
      <p:sp>
        <p:nvSpPr>
          <p:cNvPr id="9" name="Step circle 886"/>
          <p:cNvSpPr/>
          <p:nvPr/>
        </p:nvSpPr>
        <p:spPr>
          <a:xfrm>
            <a:off x="548640" y="33223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tep number 887"/>
          <p:cNvSpPr txBox="1"/>
          <p:nvPr/>
        </p:nvSpPr>
        <p:spPr>
          <a:xfrm>
            <a:off x="548640" y="3322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888"/>
          <p:cNvSpPr txBox="1"/>
          <p:nvPr/>
        </p:nvSpPr>
        <p:spPr>
          <a:xfrm>
            <a:off x="1097280" y="3343656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Where it breaks:</a:t>
            </a:r>
            <a:r>
              <a:rPr lang="en-US" sz="2000" dirty="0">
                <a:solidFill>
                  <a:schemeClr val="tx1"/>
                </a:solidFill>
              </a:rPr>
              <a:t> ½n² ≤ c · n is the same as n ≤ 2c, so it fails for every n &gt; 2c.</a:t>
            </a:r>
            <a:endParaRPr lang="en-US" sz="2000" dirty="0"/>
          </a:p>
        </p:txBody>
      </p:sp>
      <p:sp>
        <p:nvSpPr>
          <p:cNvPr id="12" name="Try c = 10 card 890"/>
          <p:cNvSpPr/>
          <p:nvPr/>
        </p:nvSpPr>
        <p:spPr>
          <a:xfrm>
            <a:off x="7818120" y="1307592"/>
            <a:ext cx="3822192" cy="1203960"/>
          </a:xfrm>
          <a:prstGeom prst="roundRect">
            <a:avLst>
              <a:gd name="adj" fmla="val 7595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Icon circle 891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4" name="Icon 89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5" name="Card heading 893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Try c = 10</a:t>
            </a:r>
            <a:endParaRPr lang="en-US" sz="1700" dirty="0"/>
          </a:p>
        </p:txBody>
      </p:sp>
      <p:sp>
        <p:nvSpPr>
          <p:cNvPr id="16" name="Text 894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½n² ≤ 10 · n breaks once n &gt; 20:</a:t>
            </a:r>
            <a:endParaRPr lang="en-US" sz="1900" dirty="0"/>
          </a:p>
        </p:txBody>
      </p:sp>
      <p:graphicFrame>
        <p:nvGraphicFramePr>
          <p:cNvPr id="28" name="Trace table 8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648712"/>
          <a:ext cx="3822192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½ n²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· 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6  (Exam 2018, Semester A, Moed B)</a:t>
            </a:r>
            <a:endParaRPr lang="en-US" sz="3000" dirty="0"/>
          </a:p>
        </p:txBody>
      </p:sp>
      <p:sp>
        <p:nvSpPr>
          <p:cNvPr id="3" name="Prompt 907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Prove or disprove</a:t>
            </a:r>
            <a:r>
              <a:rPr lang="en-US" sz="2300" dirty="0">
                <a:solidFill>
                  <a:schemeClr val="tx1"/>
                </a:solidFill>
              </a:rPr>
              <a:t> the following claim (log is base 2):</a:t>
            </a:r>
            <a:endParaRPr lang="en-US" sz="2300" dirty="0"/>
          </a:p>
        </p:txBody>
      </p:sp>
      <p:sp>
        <p:nvSpPr>
          <p:cNvPr id="4" name="Claim card 908"/>
          <p:cNvSpPr/>
          <p:nvPr/>
        </p:nvSpPr>
        <p:spPr>
          <a:xfrm>
            <a:off x="548640" y="1932432"/>
            <a:ext cx="6035040" cy="1509620"/>
          </a:xfrm>
          <a:prstGeom prst="roundRect">
            <a:avLst>
              <a:gd name="adj" fmla="val 6057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Icon circle 909"/>
          <p:cNvSpPr/>
          <p:nvPr/>
        </p:nvSpPr>
        <p:spPr>
          <a:xfrm>
            <a:off x="74980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9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79320"/>
            <a:ext cx="219456" cy="219456"/>
          </a:xfrm>
          <a:prstGeom prst="rect">
            <a:avLst/>
          </a:prstGeom>
        </p:spPr>
      </p:pic>
      <p:sp>
        <p:nvSpPr>
          <p:cNvPr id="7" name="Card heading 911"/>
          <p:cNvSpPr txBox="1"/>
          <p:nvPr/>
        </p:nvSpPr>
        <p:spPr>
          <a:xfrm>
            <a:off x="1243584" y="2097024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3n \log n + 2n = \Omega(n \log n)"/>
              <p:cNvSpPr txBox="1"/>
              <p:nvPr/>
            </p:nvSpPr>
            <p:spPr>
              <a:xfrm>
                <a:off x="777240" y="2618232"/>
                <a:ext cx="5116013" cy="5403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pic>
            <p:nvPicPr>
              <p:cNvPr id="8" name="EQ|bed07a4f1498|36" descr="3n \log n + 2n = \Omega(n \log n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18232"/>
                <a:ext cx="5116013" cy="540356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efinition to use card 913"/>
          <p:cNvSpPr/>
          <p:nvPr/>
        </p:nvSpPr>
        <p:spPr>
          <a:xfrm>
            <a:off x="6903720" y="1932432"/>
            <a:ext cx="4736592" cy="1894302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914"/>
          <p:cNvSpPr/>
          <p:nvPr/>
        </p:nvSpPr>
        <p:spPr>
          <a:xfrm>
            <a:off x="710488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9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179320"/>
            <a:ext cx="219456" cy="219456"/>
          </a:xfrm>
          <a:prstGeom prst="rect">
            <a:avLst/>
          </a:prstGeom>
        </p:spPr>
      </p:pic>
      <p:sp>
        <p:nvSpPr>
          <p:cNvPr id="12" name="Card heading 916"/>
          <p:cNvSpPr txBox="1"/>
          <p:nvPr/>
        </p:nvSpPr>
        <p:spPr>
          <a:xfrm>
            <a:off x="7598664" y="20970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Definition to use</a:t>
            </a:r>
            <a:endParaRPr lang="en-US" sz="1700" dirty="0"/>
          </a:p>
        </p:txBody>
      </p:sp>
      <p:sp>
        <p:nvSpPr>
          <p:cNvPr id="13" name="Text 917"/>
          <p:cNvSpPr txBox="1"/>
          <p:nvPr/>
        </p:nvSpPr>
        <p:spPr>
          <a:xfrm>
            <a:off x="7132320" y="2590800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f(n) = Ω(g(n)) if there are positive constants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n₀</a:t>
            </a:r>
            <a:r>
              <a:rPr lang="en-US" sz="1800" dirty="0">
                <a:solidFill>
                  <a:schemeClr val="tx1"/>
                </a:solidFill>
              </a:rPr>
              <a:t> such that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f(n) \ge c \cdot g(n) \quad \text{for all } n \ge n_0"/>
              <p:cNvSpPr txBox="1"/>
              <p:nvPr/>
            </p:nvSpPr>
            <p:spPr>
              <a:xfrm>
                <a:off x="7132320" y="3243072"/>
                <a:ext cx="3342132" cy="300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pic>
            <p:nvPicPr>
              <p:cNvPr id="14" name="EQ|31f0b0952825|20" descr="f(n) \ge c \cdot g(n) \quad \text{for all } n \ge n_0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2320" y="3243072"/>
                <a:ext cx="3342132" cy="30019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6</a:t>
            </a:r>
            <a:endParaRPr lang="en-US" sz="3000" dirty="0"/>
          </a:p>
        </p:txBody>
      </p:sp>
      <p:sp>
        <p:nvSpPr>
          <p:cNvPr id="3" name="Step circle 936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937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938"/>
          <p:cNvSpPr txBox="1"/>
          <p:nvPr/>
        </p:nvSpPr>
        <p:spPr>
          <a:xfrm>
            <a:off x="1097280" y="1328928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We must find positive constants c and n₀ such that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 descr="c \cdot n\log n \le 3n\log n + 2n \quad \text{for all } n \ge n_0"/>
              <p:cNvSpPr txBox="1"/>
              <p:nvPr/>
            </p:nvSpPr>
            <p:spPr>
              <a:xfrm>
                <a:off x="1234440" y="1697736"/>
                <a:ext cx="5044025" cy="30521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≤3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6" name="EQ|060d2cbcbcb5|22.5" descr="c \cdot n\log n \le 3n\log n + 2n \quad \text{for all } n \ge n_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1697736"/>
                <a:ext cx="5044025" cy="305215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939"/>
          <p:cNvSpPr/>
          <p:nvPr/>
        </p:nvSpPr>
        <p:spPr>
          <a:xfrm>
            <a:off x="548640" y="2236123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tep number 940"/>
          <p:cNvSpPr txBox="1"/>
          <p:nvPr/>
        </p:nvSpPr>
        <p:spPr>
          <a:xfrm>
            <a:off x="548640" y="223612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941"/>
          <p:cNvSpPr txBox="1"/>
          <p:nvPr/>
        </p:nvSpPr>
        <p:spPr>
          <a:xfrm>
            <a:off x="1097280" y="2257459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For n ≥ 2 we have n log n &gt; 0, so we may divide by it: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uation 10" descr="c \le 3 + \frac{2}{\log n}"/>
              <p:cNvSpPr txBox="1"/>
              <p:nvPr/>
            </p:nvSpPr>
            <p:spPr>
              <a:xfrm>
                <a:off x="1234440" y="2626267"/>
                <a:ext cx="1644171" cy="6926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≤3+</m:t>
                      </m:r>
                      <m:f>
                        <m:fPr>
                          <m:ctrlP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0" name="EQ|b7ea6f6b86c8|22.5" descr="c \le 3 + \frac{2}{\log n}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2626267"/>
                <a:ext cx="1644171" cy="692624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tep circle 942"/>
          <p:cNvSpPr/>
          <p:nvPr/>
        </p:nvSpPr>
        <p:spPr>
          <a:xfrm>
            <a:off x="548640" y="3552063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tep number 943"/>
          <p:cNvSpPr txBox="1"/>
          <p:nvPr/>
        </p:nvSpPr>
        <p:spPr>
          <a:xfrm>
            <a:off x="548640" y="355206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text 944"/>
          <p:cNvSpPr txBox="1"/>
          <p:nvPr/>
        </p:nvSpPr>
        <p:spPr>
          <a:xfrm>
            <a:off x="1097280" y="3573399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fraction 2 / log n is </a:t>
            </a:r>
            <a:r>
              <a:rPr lang="en-US" sz="2000" b="1" dirty="0">
                <a:solidFill>
                  <a:schemeClr val="tx1"/>
                </a:solidFill>
              </a:rPr>
              <a:t>positive</a:t>
            </a:r>
            <a:r>
              <a:rPr lang="en-US" sz="2000" dirty="0">
                <a:solidFill>
                  <a:schemeClr val="tx1"/>
                </a:solidFill>
              </a:rPr>
              <a:t>, so the right side is always greater than 3. Therefore </a:t>
            </a:r>
            <a:r>
              <a:rPr lang="en-US" sz="2000" b="1" dirty="0">
                <a:solidFill>
                  <a:schemeClr val="tx1"/>
                </a:solidFill>
              </a:rPr>
              <a:t>c = 3</a:t>
            </a:r>
            <a:r>
              <a:rPr lang="en-US" sz="2000" dirty="0">
                <a:solidFill>
                  <a:schemeClr val="tx1"/>
                </a:solidFill>
              </a:rPr>
              <a:t> works for every n ≥ 2.</a:t>
            </a:r>
            <a:endParaRPr lang="en-US" sz="2000" dirty="0"/>
          </a:p>
        </p:txBody>
      </p:sp>
      <p:sp>
        <p:nvSpPr>
          <p:cNvPr id="14" name="Step circle 945"/>
          <p:cNvSpPr/>
          <p:nvPr/>
        </p:nvSpPr>
        <p:spPr>
          <a:xfrm>
            <a:off x="548640" y="4407027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tep number 946"/>
          <p:cNvSpPr txBox="1"/>
          <p:nvPr/>
        </p:nvSpPr>
        <p:spPr>
          <a:xfrm>
            <a:off x="548640" y="440702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 text 947"/>
          <p:cNvSpPr txBox="1"/>
          <p:nvPr/>
        </p:nvSpPr>
        <p:spPr>
          <a:xfrm>
            <a:off x="1097280" y="4428363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With c = 3 and n₀ = 2 the definition holds, so the claim is true: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quation 17" descr="3n\log n + 2n = \Omega(n\log n)"/>
              <p:cNvSpPr txBox="1"/>
              <p:nvPr/>
            </p:nvSpPr>
            <p:spPr>
              <a:xfrm>
                <a:off x="1234440" y="5101971"/>
                <a:ext cx="3481731" cy="36774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50" dirty="0"/>
              </a:p>
            </p:txBody>
          </p:sp>
        </mc:Choice>
        <mc:Fallback xmlns="">
          <p:pic>
            <p:nvPicPr>
              <p:cNvPr id="17" name="EQ|6aa9f262167a|24.5" descr="3n\log n + 2n = \Omega(n\log n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440" y="5101971"/>
                <a:ext cx="3481731" cy="367742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Answer card 949"/>
          <p:cNvSpPr/>
          <p:nvPr/>
        </p:nvSpPr>
        <p:spPr>
          <a:xfrm>
            <a:off x="7818120" y="1307592"/>
            <a:ext cx="3822192" cy="1665312"/>
          </a:xfrm>
          <a:prstGeom prst="roundRect">
            <a:avLst>
              <a:gd name="adj" fmla="val 5491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Icon circle 950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con 95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952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22" name="Text 953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 claim is </a:t>
            </a:r>
            <a:r>
              <a:rPr lang="en-US" sz="1900" b="1" dirty="0">
                <a:solidFill>
                  <a:schemeClr val="tx1"/>
                </a:solidFill>
              </a:rPr>
              <a:t>true</a:t>
            </a:r>
            <a:r>
              <a:rPr lang="en-US" sz="1900" dirty="0">
                <a:solidFill>
                  <a:schemeClr val="tx1"/>
                </a:solidFill>
              </a:rPr>
              <a:t>, with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uation 23" descr="c = 3, \quad n_0 = 2"/>
              <p:cNvSpPr txBox="1"/>
              <p:nvPr/>
            </p:nvSpPr>
            <p:spPr>
              <a:xfrm>
                <a:off x="8046720" y="2359152"/>
                <a:ext cx="2121865" cy="3302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5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=3, </m:t>
                      </m:r>
                      <m:sSub>
                        <m:sSubPr>
                          <m:ctrlPr>
                            <a:rPr lang="en-US" sz="25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5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5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550" dirty="0"/>
              </a:p>
            </p:txBody>
          </p:sp>
        </mc:Choice>
        <mc:Fallback xmlns="">
          <p:pic>
            <p:nvPicPr>
              <p:cNvPr id="23" name="EQ|58f37925a880|25.5" descr="c = 3, \quad n_0 = 2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6720" y="2359152"/>
                <a:ext cx="2121865" cy="33028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6 — Explanation</a:t>
            </a:r>
            <a:endParaRPr lang="en-US" sz="3000" dirty="0"/>
          </a:p>
        </p:txBody>
      </p:sp>
      <p:sp>
        <p:nvSpPr>
          <p:cNvPr id="3" name="Step circle 970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971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972"/>
          <p:cNvSpPr txBox="1"/>
          <p:nvPr/>
        </p:nvSpPr>
        <p:spPr>
          <a:xfrm>
            <a:off x="1097280" y="1328928"/>
            <a:ext cx="6355080" cy="123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For a lower bound we may drop positive terms.</a:t>
            </a:r>
            <a:r>
              <a:rPr lang="en-US" sz="2000" dirty="0">
                <a:solidFill>
                  <a:schemeClr val="tx1"/>
                </a:solidFill>
              </a:rPr>
              <a:t> Removing + 2n only makes the function smaller, so 3n log n + 2n ≥ 3n log n — that is exactly the inequality with c = 3.</a:t>
            </a:r>
            <a:endParaRPr lang="en-US" sz="2000" dirty="0"/>
          </a:p>
        </p:txBody>
      </p:sp>
      <p:sp>
        <p:nvSpPr>
          <p:cNvPr id="6" name="Step circle 973"/>
          <p:cNvSpPr/>
          <p:nvPr/>
        </p:nvSpPr>
        <p:spPr>
          <a:xfrm>
            <a:off x="548640" y="27721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974"/>
          <p:cNvSpPr txBox="1"/>
          <p:nvPr/>
        </p:nvSpPr>
        <p:spPr>
          <a:xfrm>
            <a:off x="548640" y="27721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975"/>
          <p:cNvSpPr txBox="1"/>
          <p:nvPr/>
        </p:nvSpPr>
        <p:spPr>
          <a:xfrm>
            <a:off x="1097280" y="2793492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n₀ = 2:</a:t>
            </a:r>
            <a:r>
              <a:rPr lang="en-US" sz="2000" dirty="0">
                <a:solidFill>
                  <a:schemeClr val="tx1"/>
                </a:solidFill>
              </a:rPr>
              <a:t> log 1 = 0, so at n = 1 we cannot divide by n log n. From n = 2 on, log n ≥ 1 &gt; 0.</a:t>
            </a:r>
            <a:endParaRPr lang="en-US" sz="2000" dirty="0"/>
          </a:p>
        </p:txBody>
      </p:sp>
      <p:sp>
        <p:nvSpPr>
          <p:cNvPr id="9" name="Step circle 976"/>
          <p:cNvSpPr/>
          <p:nvPr/>
        </p:nvSpPr>
        <p:spPr>
          <a:xfrm>
            <a:off x="548640" y="36271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tep number 977"/>
          <p:cNvSpPr txBox="1"/>
          <p:nvPr/>
        </p:nvSpPr>
        <p:spPr>
          <a:xfrm>
            <a:off x="548640" y="3627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978"/>
          <p:cNvSpPr txBox="1"/>
          <p:nvPr/>
        </p:nvSpPr>
        <p:spPr>
          <a:xfrm>
            <a:off x="1097280" y="3648456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fact the bound is tight.</a:t>
            </a:r>
            <a:r>
              <a:rPr lang="en-US" sz="2000" dirty="0">
                <a:solidFill>
                  <a:schemeClr val="tx1"/>
                </a:solidFill>
              </a:rPr>
              <a:t> For n ≥ 2 we also have 2n ≤ 2n log n, so 3n log n + 2n ≤ 5n log n. Together: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uation 12" descr="3n\log n + 2n = \Theta(n\log n)"/>
              <p:cNvSpPr txBox="1"/>
              <p:nvPr/>
            </p:nvSpPr>
            <p:spPr>
              <a:xfrm>
                <a:off x="1234440" y="4322064"/>
                <a:ext cx="3212939" cy="33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2" name="EQ|14ff08a0e5d1|22.5" descr="3n\log n + 2n = \Theta(n\log n)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4322064"/>
                <a:ext cx="3212939" cy="337722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Check: c = 3 card 980"/>
          <p:cNvSpPr/>
          <p:nvPr/>
        </p:nvSpPr>
        <p:spPr>
          <a:xfrm>
            <a:off x="7818120" y="1307592"/>
            <a:ext cx="3822192" cy="1203960"/>
          </a:xfrm>
          <a:prstGeom prst="roundRect">
            <a:avLst>
              <a:gd name="adj" fmla="val 7595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Icon circle 981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5" name="Icon 98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6" name="Card heading 983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Check: c = 3</a:t>
            </a:r>
            <a:endParaRPr lang="en-US" sz="1700" dirty="0"/>
          </a:p>
        </p:txBody>
      </p:sp>
      <p:sp>
        <p:nvSpPr>
          <p:cNvPr id="17" name="Text 984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3 · n log n never exceeds f(n):</a:t>
            </a:r>
            <a:endParaRPr lang="en-US" sz="1900" dirty="0"/>
          </a:p>
        </p:txBody>
      </p:sp>
      <p:graphicFrame>
        <p:nvGraphicFramePr>
          <p:cNvPr id="31" name="Trace table 9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648712"/>
          <a:ext cx="3822192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 log 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 log n + 2n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7  (Exam 2018, Semester A, Moed B)</a:t>
            </a:r>
            <a:endParaRPr lang="en-US" sz="3000" dirty="0"/>
          </a:p>
        </p:txBody>
      </p:sp>
      <p:sp>
        <p:nvSpPr>
          <p:cNvPr id="3" name="Prompt 997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300" b="1" dirty="0">
                <a:solidFill>
                  <a:schemeClr val="tx1"/>
                </a:solidFill>
              </a:rPr>
              <a:t>Prove or disprove</a:t>
            </a:r>
            <a:r>
              <a:rPr lang="en-US" sz="2300" dirty="0">
                <a:solidFill>
                  <a:schemeClr val="tx1"/>
                </a:solidFill>
              </a:rPr>
              <a:t> the following claim:</a:t>
            </a:r>
            <a:endParaRPr lang="en-US" sz="2300" dirty="0"/>
          </a:p>
        </p:txBody>
      </p:sp>
      <p:sp>
        <p:nvSpPr>
          <p:cNvPr id="4" name="Claim card 998"/>
          <p:cNvSpPr/>
          <p:nvPr/>
        </p:nvSpPr>
        <p:spPr>
          <a:xfrm>
            <a:off x="548640" y="1932432"/>
            <a:ext cx="6035040" cy="1561795"/>
          </a:xfrm>
          <a:prstGeom prst="roundRect">
            <a:avLst>
              <a:gd name="adj" fmla="val 5855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Icon circle 999"/>
          <p:cNvSpPr/>
          <p:nvPr/>
        </p:nvSpPr>
        <p:spPr>
          <a:xfrm>
            <a:off x="74980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100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79320"/>
            <a:ext cx="219456" cy="219456"/>
          </a:xfrm>
          <a:prstGeom prst="rect">
            <a:avLst/>
          </a:prstGeom>
        </p:spPr>
      </p:pic>
      <p:sp>
        <p:nvSpPr>
          <p:cNvPr id="7" name="Card heading 1001"/>
          <p:cNvSpPr txBox="1"/>
          <p:nvPr/>
        </p:nvSpPr>
        <p:spPr>
          <a:xfrm>
            <a:off x="1243584" y="2097024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(n + 1)^{5} = O(n^{5})"/>
              <p:cNvSpPr txBox="1"/>
              <p:nvPr/>
            </p:nvSpPr>
            <p:spPr>
              <a:xfrm>
                <a:off x="777240" y="2618232"/>
                <a:ext cx="3371338" cy="59253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sSup>
                        <m:sSupPr>
                          <m:ctrlP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pic>
            <p:nvPicPr>
              <p:cNvPr id="8" name="EQ|b53e1674bde0|36" descr="(n + 1)^{5} = O(n^{5}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18232"/>
                <a:ext cx="3371338" cy="592531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efinition to use card 1003"/>
          <p:cNvSpPr/>
          <p:nvPr/>
        </p:nvSpPr>
        <p:spPr>
          <a:xfrm>
            <a:off x="6903720" y="1932432"/>
            <a:ext cx="4736592" cy="1894302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1004"/>
          <p:cNvSpPr/>
          <p:nvPr/>
        </p:nvSpPr>
        <p:spPr>
          <a:xfrm>
            <a:off x="710488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100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179320"/>
            <a:ext cx="219456" cy="219456"/>
          </a:xfrm>
          <a:prstGeom prst="rect">
            <a:avLst/>
          </a:prstGeom>
        </p:spPr>
      </p:pic>
      <p:sp>
        <p:nvSpPr>
          <p:cNvPr id="12" name="Card heading 1006"/>
          <p:cNvSpPr txBox="1"/>
          <p:nvPr/>
        </p:nvSpPr>
        <p:spPr>
          <a:xfrm>
            <a:off x="7598664" y="20970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Definition to use</a:t>
            </a:r>
            <a:endParaRPr lang="en-US" sz="1700" dirty="0"/>
          </a:p>
        </p:txBody>
      </p:sp>
      <p:sp>
        <p:nvSpPr>
          <p:cNvPr id="13" name="Text 1007"/>
          <p:cNvSpPr txBox="1"/>
          <p:nvPr/>
        </p:nvSpPr>
        <p:spPr>
          <a:xfrm>
            <a:off x="7132320" y="2590800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f(n) = O(g(n)) if there are positive constants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n₀</a:t>
            </a:r>
            <a:r>
              <a:rPr lang="en-US" sz="1800" dirty="0">
                <a:solidFill>
                  <a:schemeClr val="tx1"/>
                </a:solidFill>
              </a:rPr>
              <a:t> such that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f(n) \le c \cdot g(n) \quad \text{for all } n \ge n_0"/>
              <p:cNvSpPr txBox="1"/>
              <p:nvPr/>
            </p:nvSpPr>
            <p:spPr>
              <a:xfrm>
                <a:off x="7132320" y="3243072"/>
                <a:ext cx="3342132" cy="300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pic>
            <p:nvPicPr>
              <p:cNvPr id="14" name="EQ|a8b39bcf510f|20" descr="f(n) \le c \cdot g(n) \quad \text{for all } n \ge n_0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2320" y="3243072"/>
                <a:ext cx="3342132" cy="30019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7</a:t>
            </a:r>
            <a:endParaRPr lang="en-US" sz="3000" dirty="0"/>
          </a:p>
        </p:txBody>
      </p:sp>
      <p:sp>
        <p:nvSpPr>
          <p:cNvPr id="3" name="Step circle 1044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1045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046"/>
          <p:cNvSpPr txBox="1"/>
          <p:nvPr/>
        </p:nvSpPr>
        <p:spPr>
          <a:xfrm>
            <a:off x="1097280" y="1336548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We must find positive constants c and n₀ such that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 descr="(n+1)^{5} \le c \cdot n^{5} \quad \text{for all } n \ge n_0"/>
              <p:cNvSpPr txBox="1"/>
              <p:nvPr/>
            </p:nvSpPr>
            <p:spPr>
              <a:xfrm>
                <a:off x="1234440" y="1690116"/>
                <a:ext cx="3748398" cy="35387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6" name="EQ|96929e726b39|21.5" descr="(n+1)^{5} \le c \cdot n^{5} \quad \text{for all } n \ge n_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1690116"/>
                <a:ext cx="3748398" cy="353873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1047"/>
          <p:cNvSpPr/>
          <p:nvPr/>
        </p:nvSpPr>
        <p:spPr>
          <a:xfrm>
            <a:off x="548640" y="226893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tep number 1048"/>
          <p:cNvSpPr txBox="1"/>
          <p:nvPr/>
        </p:nvSpPr>
        <p:spPr>
          <a:xfrm>
            <a:off x="548640" y="226893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1049"/>
          <p:cNvSpPr txBox="1"/>
          <p:nvPr/>
        </p:nvSpPr>
        <p:spPr>
          <a:xfrm>
            <a:off x="1097280" y="2297887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Divide both sides by n⁵ &gt; 0: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uation 10" descr="\left(\frac{n+1}{n}\right)^{5} = \left(1 + \frac{1}{n}\right)^{5} \le c"/>
              <p:cNvSpPr txBox="1"/>
              <p:nvPr/>
            </p:nvSpPr>
            <p:spPr>
              <a:xfrm>
                <a:off x="1234440" y="2651455"/>
                <a:ext cx="3212674" cy="7453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=(1+</m:t>
                      </m:r>
                      <m:f>
                        <m:f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10" name="EQ|88d4e5df3510|21.5" descr="\left(\frac{n+1}{n}\right)^{5} = \left(1 + \frac{1}{n}\right)^{5} \le c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2651455"/>
                <a:ext cx="3212674" cy="745394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Step circle 1050"/>
          <p:cNvSpPr/>
          <p:nvPr/>
        </p:nvSpPr>
        <p:spPr>
          <a:xfrm>
            <a:off x="548640" y="362179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tep number 1051"/>
          <p:cNvSpPr txBox="1"/>
          <p:nvPr/>
        </p:nvSpPr>
        <p:spPr>
          <a:xfrm>
            <a:off x="548640" y="362179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text 1052"/>
          <p:cNvSpPr txBox="1"/>
          <p:nvPr/>
        </p:nvSpPr>
        <p:spPr>
          <a:xfrm>
            <a:off x="1097280" y="3650747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For n ≥ 1 we have 1/n ≤ 1, so 1 + 1/n ≤ 2 and therefore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\left(1 + \frac{1}{n}\right)^{5} \le 2^{5} = 32"/>
              <p:cNvSpPr txBox="1"/>
              <p:nvPr/>
            </p:nvSpPr>
            <p:spPr>
              <a:xfrm>
                <a:off x="1234440" y="4004315"/>
                <a:ext cx="2426290" cy="7453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f>
                        <m:f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=32</m:t>
                      </m:r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14" name="EQ|d03d21d67990|21.5" descr="\left(1 + \frac{1}{n}\right)^{5} \le 2^{5} = 32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440" y="4004315"/>
                <a:ext cx="2426290" cy="745394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Step circle 1053"/>
          <p:cNvSpPr/>
          <p:nvPr/>
        </p:nvSpPr>
        <p:spPr>
          <a:xfrm>
            <a:off x="548640" y="497465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tep number 1054"/>
          <p:cNvSpPr txBox="1"/>
          <p:nvPr/>
        </p:nvSpPr>
        <p:spPr>
          <a:xfrm>
            <a:off x="548640" y="49746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 text 1055"/>
          <p:cNvSpPr txBox="1"/>
          <p:nvPr/>
        </p:nvSpPr>
        <p:spPr>
          <a:xfrm>
            <a:off x="1097280" y="5003607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With c = 32 and n₀ = 1 the definition holds, so the claim is true: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Equation 18" descr="(n+1)^{5} = O(n^{5})"/>
              <p:cNvSpPr txBox="1"/>
              <p:nvPr/>
            </p:nvSpPr>
            <p:spPr>
              <a:xfrm>
                <a:off x="1234440" y="5357175"/>
                <a:ext cx="2294383" cy="4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sSup>
                        <m:sSupPr>
                          <m:ctrlPr>
                            <a:rPr lang="en-US" sz="24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50" dirty="0"/>
              </a:p>
            </p:txBody>
          </p:sp>
        </mc:Choice>
        <mc:Fallback xmlns="">
          <p:pic>
            <p:nvPicPr>
              <p:cNvPr id="18" name="EQ|7ba718c1c932|24.5" descr="(n+1)^{5} = O(n^{5})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4440" y="5357175"/>
                <a:ext cx="2294383" cy="40325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Answer card 1057"/>
          <p:cNvSpPr/>
          <p:nvPr/>
        </p:nvSpPr>
        <p:spPr>
          <a:xfrm>
            <a:off x="7818120" y="1307592"/>
            <a:ext cx="3822192" cy="1630643"/>
          </a:xfrm>
          <a:prstGeom prst="roundRect">
            <a:avLst>
              <a:gd name="adj" fmla="val 5608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Icon circle 1058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1" name="Icon 105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2" name="Card heading 1060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23" name="Text 1061"/>
          <p:cNvSpPr txBox="1"/>
          <p:nvPr/>
        </p:nvSpPr>
        <p:spPr>
          <a:xfrm>
            <a:off x="8046720" y="1965960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claim is </a:t>
            </a:r>
            <a:r>
              <a:rPr lang="en-US" sz="1800" b="1" dirty="0">
                <a:solidFill>
                  <a:schemeClr val="tx1"/>
                </a:solidFill>
              </a:rPr>
              <a:t>true</a:t>
            </a:r>
            <a:r>
              <a:rPr lang="en-US" sz="1800" dirty="0">
                <a:solidFill>
                  <a:schemeClr val="tx1"/>
                </a:solidFill>
              </a:rPr>
              <a:t>, with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Equation 24" descr="c = 32, \quad n_0 = 1"/>
              <p:cNvSpPr txBox="1"/>
              <p:nvPr/>
            </p:nvSpPr>
            <p:spPr>
              <a:xfrm>
                <a:off x="8046720" y="2343912"/>
                <a:ext cx="2141561" cy="3108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=32, </m:t>
                      </m:r>
                      <m:sSub>
                        <m:sSubPr>
                          <m:ctrlPr>
                            <a:rPr lang="en-US" sz="24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pic>
            <p:nvPicPr>
              <p:cNvPr id="24" name="EQ|b591af511ee3|24" descr="c = 32, \quad n_0 = 1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6720" y="2343912"/>
                <a:ext cx="2141561" cy="310859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7 — Explanation</a:t>
            </a:r>
            <a:endParaRPr lang="en-US" sz="3000" dirty="0"/>
          </a:p>
        </p:txBody>
      </p:sp>
      <p:sp>
        <p:nvSpPr>
          <p:cNvPr id="3" name="Step circle 1078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1079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080"/>
          <p:cNvSpPr txBox="1"/>
          <p:nvPr/>
        </p:nvSpPr>
        <p:spPr>
          <a:xfrm>
            <a:off x="1097280" y="1328928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Intuition:</a:t>
            </a:r>
            <a:r>
              <a:rPr lang="en-US" sz="2000" dirty="0">
                <a:solidFill>
                  <a:schemeClr val="tx1"/>
                </a:solidFill>
              </a:rPr>
              <a:t> expanding gives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 descr="(n+1)^{5} = n^{5} + 5n^{4} + 10n^{3} + 10n^{2} + 5n + 1"/>
              <p:cNvSpPr txBox="1"/>
              <p:nvPr/>
            </p:nvSpPr>
            <p:spPr>
              <a:xfrm>
                <a:off x="1234440" y="1697736"/>
                <a:ext cx="5347491" cy="370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sSup>
                        <m:sSupPr>
                          <m:ctrlP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6" name="EQ|148b2652b67d|22.5" descr="(n+1)^{5} = n^{5} + 5n^{4} + 10n^{3} + 10n^{2} + 5n + 1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1697736"/>
                <a:ext cx="5347491" cy="370332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1081"/>
          <p:cNvSpPr/>
          <p:nvPr/>
        </p:nvSpPr>
        <p:spPr>
          <a:xfrm>
            <a:off x="548640" y="230124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tep number 1082"/>
          <p:cNvSpPr txBox="1"/>
          <p:nvPr/>
        </p:nvSpPr>
        <p:spPr>
          <a:xfrm>
            <a:off x="548640" y="2301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1083"/>
          <p:cNvSpPr txBox="1"/>
          <p:nvPr/>
        </p:nvSpPr>
        <p:spPr>
          <a:xfrm>
            <a:off x="1097280" y="2322576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leading term is n⁵, and all other terms grow more slowly — so the order is n⁵.</a:t>
            </a:r>
            <a:endParaRPr lang="en-US" sz="2000" dirty="0"/>
          </a:p>
        </p:txBody>
      </p:sp>
      <p:sp>
        <p:nvSpPr>
          <p:cNvPr id="10" name="Step circle 1084"/>
          <p:cNvSpPr/>
          <p:nvPr/>
        </p:nvSpPr>
        <p:spPr>
          <a:xfrm>
            <a:off x="548640" y="315620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tep number 1085"/>
          <p:cNvSpPr txBox="1"/>
          <p:nvPr/>
        </p:nvSpPr>
        <p:spPr>
          <a:xfrm>
            <a:off x="548640" y="31562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tep text 1086"/>
          <p:cNvSpPr txBox="1"/>
          <p:nvPr/>
        </p:nvSpPr>
        <p:spPr>
          <a:xfrm>
            <a:off x="1097280" y="3177540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worst case is n = 1:</a:t>
            </a:r>
            <a:r>
              <a:rPr lang="en-US" sz="2000" dirty="0">
                <a:solidFill>
                  <a:schemeClr val="tx1"/>
                </a:solidFill>
              </a:rPr>
              <a:t> there (1 + 1/n)⁵ = 2⁵ = 32 exactly. For larger n the ratio (n+1)⁵ / n⁵ gets smaller and approaches 1, so c = 32 is enough everywhere.</a:t>
            </a:r>
            <a:endParaRPr lang="en-US" sz="2000" dirty="0"/>
          </a:p>
        </p:txBody>
      </p:sp>
      <p:sp>
        <p:nvSpPr>
          <p:cNvPr id="13" name="Check: c = 32 card 1088"/>
          <p:cNvSpPr/>
          <p:nvPr/>
        </p:nvSpPr>
        <p:spPr>
          <a:xfrm>
            <a:off x="7818120" y="1307592"/>
            <a:ext cx="3822192" cy="1203960"/>
          </a:xfrm>
          <a:prstGeom prst="roundRect">
            <a:avLst>
              <a:gd name="adj" fmla="val 7595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Icon circle 1089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5" name="Icon 109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6" name="Card heading 1091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Check: c = 32</a:t>
            </a:r>
            <a:endParaRPr lang="en-US" sz="1700" dirty="0"/>
          </a:p>
        </p:txBody>
      </p:sp>
      <p:sp>
        <p:nvSpPr>
          <p:cNvPr id="17" name="Text 1092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(n + 1)⁵ never exceeds 32 · n⁵:</a:t>
            </a:r>
            <a:endParaRPr lang="en-US" sz="1900" dirty="0"/>
          </a:p>
        </p:txBody>
      </p:sp>
      <p:graphicFrame>
        <p:nvGraphicFramePr>
          <p:cNvPr id="34" name="Trace table 10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648712"/>
          <a:ext cx="3822192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 + 1)⁵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 · n⁵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1 024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161 051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3 200 000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8</a:t>
            </a:r>
            <a:endParaRPr lang="en-US" sz="3000" dirty="0"/>
          </a:p>
        </p:txBody>
      </p:sp>
      <p:sp>
        <p:nvSpPr>
          <p:cNvPr id="3" name="Prompt 1105"/>
          <p:cNvSpPr txBox="1"/>
          <p:nvPr/>
        </p:nvSpPr>
        <p:spPr>
          <a:xfrm>
            <a:off x="548640" y="1261872"/>
            <a:ext cx="1109167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tx1"/>
                </a:solidFill>
              </a:rPr>
              <a:t>Prove that for any real constants </a:t>
            </a:r>
            <a:r>
              <a:rPr lang="en-US" sz="2300" b="1" dirty="0">
                <a:solidFill>
                  <a:schemeClr val="tx1"/>
                </a:solidFill>
              </a:rPr>
              <a:t>a</a:t>
            </a:r>
            <a:r>
              <a:rPr lang="en-US" sz="2300" dirty="0">
                <a:solidFill>
                  <a:schemeClr val="tx1"/>
                </a:solidFill>
              </a:rPr>
              <a:t> and </a:t>
            </a:r>
            <a:r>
              <a:rPr lang="en-US" sz="2300" b="1" dirty="0">
                <a:solidFill>
                  <a:schemeClr val="tx1"/>
                </a:solidFill>
              </a:rPr>
              <a:t>b</a:t>
            </a:r>
            <a:r>
              <a:rPr lang="en-US" sz="2300" dirty="0">
                <a:solidFill>
                  <a:schemeClr val="tx1"/>
                </a:solidFill>
              </a:rPr>
              <a:t> with </a:t>
            </a:r>
            <a:r>
              <a:rPr lang="en-US" sz="2300" b="1" dirty="0">
                <a:solidFill>
                  <a:schemeClr val="tx1"/>
                </a:solidFill>
              </a:rPr>
              <a:t>b &gt; 0</a:t>
            </a:r>
            <a:r>
              <a:rPr lang="en-US" sz="2300" dirty="0">
                <a:solidFill>
                  <a:schemeClr val="tx1"/>
                </a:solidFill>
              </a:rPr>
              <a:t>:</a:t>
            </a:r>
            <a:endParaRPr lang="en-US" sz="2300" dirty="0"/>
          </a:p>
        </p:txBody>
      </p:sp>
      <p:sp>
        <p:nvSpPr>
          <p:cNvPr id="4" name="Claim card 1106"/>
          <p:cNvSpPr/>
          <p:nvPr/>
        </p:nvSpPr>
        <p:spPr>
          <a:xfrm>
            <a:off x="548640" y="1932432"/>
            <a:ext cx="6035040" cy="1578254"/>
          </a:xfrm>
          <a:prstGeom prst="roundRect">
            <a:avLst>
              <a:gd name="adj" fmla="val 5794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Icon circle 1107"/>
          <p:cNvSpPr/>
          <p:nvPr/>
        </p:nvSpPr>
        <p:spPr>
          <a:xfrm>
            <a:off x="74980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con 110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79320"/>
            <a:ext cx="219456" cy="219456"/>
          </a:xfrm>
          <a:prstGeom prst="rect">
            <a:avLst/>
          </a:prstGeom>
        </p:spPr>
      </p:pic>
      <p:sp>
        <p:nvSpPr>
          <p:cNvPr id="7" name="Card heading 1109"/>
          <p:cNvSpPr txBox="1"/>
          <p:nvPr/>
        </p:nvSpPr>
        <p:spPr>
          <a:xfrm>
            <a:off x="1243584" y="2097024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Claim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uation 8" descr="(n + a)^{b} = \Theta(n^{b})"/>
              <p:cNvSpPr txBox="1"/>
              <p:nvPr/>
            </p:nvSpPr>
            <p:spPr>
              <a:xfrm>
                <a:off x="777240" y="2618232"/>
                <a:ext cx="3321960" cy="6089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36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pic>
            <p:nvPicPr>
              <p:cNvPr id="8" name="EQ|0480c25a12e0|36" descr="(n + a)^{b} = \Theta(n^{b})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2618232"/>
                <a:ext cx="3321960" cy="60899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efinition to use card 1111"/>
          <p:cNvSpPr/>
          <p:nvPr/>
        </p:nvSpPr>
        <p:spPr>
          <a:xfrm>
            <a:off x="6903720" y="1932432"/>
            <a:ext cx="4736592" cy="1894302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 w="12700">
            <a:solidFill>
              <a:srgbClr val="D3DCD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Icon circle 1112"/>
          <p:cNvSpPr/>
          <p:nvPr/>
        </p:nvSpPr>
        <p:spPr>
          <a:xfrm>
            <a:off x="7104888" y="20970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con 11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179320"/>
            <a:ext cx="219456" cy="219456"/>
          </a:xfrm>
          <a:prstGeom prst="rect">
            <a:avLst/>
          </a:prstGeom>
        </p:spPr>
      </p:pic>
      <p:sp>
        <p:nvSpPr>
          <p:cNvPr id="12" name="Card heading 1114"/>
          <p:cNvSpPr txBox="1"/>
          <p:nvPr/>
        </p:nvSpPr>
        <p:spPr>
          <a:xfrm>
            <a:off x="7598664" y="209702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Definition to use</a:t>
            </a:r>
            <a:endParaRPr lang="en-US" sz="1700" dirty="0"/>
          </a:p>
        </p:txBody>
      </p:sp>
      <p:sp>
        <p:nvSpPr>
          <p:cNvPr id="13" name="Text 1115"/>
          <p:cNvSpPr txBox="1"/>
          <p:nvPr/>
        </p:nvSpPr>
        <p:spPr>
          <a:xfrm>
            <a:off x="7132320" y="2590800"/>
            <a:ext cx="42793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f(n) = Θ(g(n)) if there are positive constants c₁, c₂ and n₀ such that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uation 14" descr="c_1 g(n) \le f(n) \le c_2 g(n) \quad \text{for all } n \ge n_0"/>
              <p:cNvSpPr txBox="1"/>
              <p:nvPr/>
            </p:nvSpPr>
            <p:spPr>
              <a:xfrm>
                <a:off x="7132320" y="3243072"/>
                <a:ext cx="4276374" cy="300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pic>
            <p:nvPicPr>
              <p:cNvPr id="14" name="EQ|1f5c587b4fc3|20" descr="c_1 g(n) \le f(n) \le c_2 g(n) \quad \text{for all } n \ge n_0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2320" y="3243072"/>
                <a:ext cx="4276374" cy="300198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8 — Part 1</a:t>
            </a:r>
            <a:endParaRPr lang="en-US" sz="3000" dirty="0"/>
          </a:p>
        </p:txBody>
      </p:sp>
      <p:sp>
        <p:nvSpPr>
          <p:cNvPr id="3" name="Step circle 1136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1137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138"/>
          <p:cNvSpPr txBox="1"/>
          <p:nvPr/>
        </p:nvSpPr>
        <p:spPr>
          <a:xfrm>
            <a:off x="1097280" y="1328928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Goal:</a:t>
            </a:r>
            <a:r>
              <a:rPr lang="en-US" sz="2000" dirty="0">
                <a:solidFill>
                  <a:schemeClr val="tx1"/>
                </a:solidFill>
              </a:rPr>
              <a:t> find positive constants c₁, c₂ and n₀ such that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tion 6" descr="c_1 n^{b} \le (n+a)^{b} \le c_2 n^{b} \quad \text{for all } n \ge n_0"/>
              <p:cNvSpPr txBox="1"/>
              <p:nvPr/>
            </p:nvSpPr>
            <p:spPr>
              <a:xfrm>
                <a:off x="1234440" y="1697736"/>
                <a:ext cx="4692621" cy="38061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≤(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6" name="EQ|704a3df1c821|22.5" descr="c_1 n^{b} \le (n+a)^{b} \le c_2 n^{b} \quad \text{for all } n \ge n_0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1697736"/>
                <a:ext cx="4692621" cy="380619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tep circle 1139"/>
          <p:cNvSpPr/>
          <p:nvPr/>
        </p:nvSpPr>
        <p:spPr>
          <a:xfrm>
            <a:off x="548640" y="2311527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tep number 1140"/>
          <p:cNvSpPr txBox="1"/>
          <p:nvPr/>
        </p:nvSpPr>
        <p:spPr>
          <a:xfrm>
            <a:off x="548640" y="231152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1141"/>
          <p:cNvSpPr txBox="1"/>
          <p:nvPr/>
        </p:nvSpPr>
        <p:spPr>
          <a:xfrm>
            <a:off x="1097280" y="2332863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Plan:</a:t>
            </a:r>
            <a:r>
              <a:rPr lang="en-US" sz="2000" dirty="0">
                <a:solidFill>
                  <a:schemeClr val="tx1"/>
                </a:solidFill>
              </a:rPr>
              <a:t> first trap n + a between two multiples of n (no powers yet), then raise everything to the power b.</a:t>
            </a:r>
            <a:endParaRPr lang="en-US" sz="2000" dirty="0"/>
          </a:p>
        </p:txBody>
      </p:sp>
      <p:sp>
        <p:nvSpPr>
          <p:cNvPr id="10" name="Step circle 1142"/>
          <p:cNvSpPr/>
          <p:nvPr/>
        </p:nvSpPr>
        <p:spPr>
          <a:xfrm>
            <a:off x="548640" y="316649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tep number 1143"/>
          <p:cNvSpPr txBox="1"/>
          <p:nvPr/>
        </p:nvSpPr>
        <p:spPr>
          <a:xfrm>
            <a:off x="548640" y="316649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tep text 1144"/>
          <p:cNvSpPr txBox="1"/>
          <p:nvPr/>
        </p:nvSpPr>
        <p:spPr>
          <a:xfrm>
            <a:off x="1097280" y="3187827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Lower bound.</a:t>
            </a:r>
            <a:r>
              <a:rPr lang="en-US" sz="2000" dirty="0">
                <a:solidFill>
                  <a:schemeClr val="tx1"/>
                </a:solidFill>
              </a:rPr>
              <a:t> If n ≥ 2|a|, then |a| ≤ n/2, so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 13" descr="n + a \ge n - |a| \ge n - \frac{n}{2} = \frac{n}{2}"/>
              <p:cNvSpPr txBox="1"/>
              <p:nvPr/>
            </p:nvSpPr>
            <p:spPr>
              <a:xfrm>
                <a:off x="1234440" y="3556635"/>
                <a:ext cx="3670710" cy="5726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−|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|≥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2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3" name="EQ|8bfd5b4ee8d2|22.5" descr="n + a \ge n - |a| \ge n - \frac{n}{2} = \frac{n}{2}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3556635"/>
                <a:ext cx="3670710" cy="572677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tep circle 1145"/>
          <p:cNvSpPr/>
          <p:nvPr/>
        </p:nvSpPr>
        <p:spPr>
          <a:xfrm>
            <a:off x="548640" y="4362484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tep number 1146"/>
          <p:cNvSpPr txBox="1"/>
          <p:nvPr/>
        </p:nvSpPr>
        <p:spPr>
          <a:xfrm>
            <a:off x="548640" y="43624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 text 1147"/>
          <p:cNvSpPr txBox="1"/>
          <p:nvPr/>
        </p:nvSpPr>
        <p:spPr>
          <a:xfrm>
            <a:off x="1097280" y="4383820"/>
            <a:ext cx="6355080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Upper bound.</a:t>
            </a:r>
            <a:r>
              <a:rPr lang="en-US" sz="2000" dirty="0">
                <a:solidFill>
                  <a:schemeClr val="tx1"/>
                </a:solidFill>
              </a:rPr>
              <a:t> If n ≥ 2|a|, then also |a| ≤ n, so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quation 17" descr="n + a \le n + |a| \le n + n = 2n"/>
              <p:cNvSpPr txBox="1"/>
              <p:nvPr/>
            </p:nvSpPr>
            <p:spPr>
              <a:xfrm>
                <a:off x="1234440" y="4752628"/>
                <a:ext cx="3703320" cy="33947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+|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|≤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2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250" dirty="0"/>
              </a:p>
            </p:txBody>
          </p:sp>
        </mc:Choice>
        <mc:Fallback xmlns="">
          <p:pic>
            <p:nvPicPr>
              <p:cNvPr id="17" name="EQ|055be6ec2467|22.5" descr="n + a \le n + |a| \le n + n = 2n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440" y="4752628"/>
                <a:ext cx="3703320" cy="339471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Result of part 1 card 1150"/>
          <p:cNvSpPr/>
          <p:nvPr/>
        </p:nvSpPr>
        <p:spPr>
          <a:xfrm>
            <a:off x="7818120" y="1307592"/>
            <a:ext cx="3822192" cy="2784536"/>
          </a:xfrm>
          <a:prstGeom prst="roundRect">
            <a:avLst>
              <a:gd name="adj" fmla="val 3284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Icon circle 1151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con 115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1153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Result of part 1</a:t>
            </a:r>
            <a:endParaRPr lang="en-US" sz="1700" dirty="0"/>
          </a:p>
        </p:txBody>
      </p:sp>
      <p:sp>
        <p:nvSpPr>
          <p:cNvPr id="22" name="Text 1154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For every n ≥ n₀, where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uation 23" descr="n_0 = \max(1,\, 2|a|)"/>
              <p:cNvSpPr txBox="1"/>
              <p:nvPr/>
            </p:nvSpPr>
            <p:spPr>
              <a:xfrm>
                <a:off x="8046720" y="2359152"/>
                <a:ext cx="2277770" cy="3545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5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35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3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3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(1, 2|</m:t>
                      </m:r>
                      <m:r>
                        <a:rPr lang="en-US" sz="235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35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sz="2350" dirty="0"/>
              </a:p>
            </p:txBody>
          </p:sp>
        </mc:Choice>
        <mc:Fallback xmlns="">
          <p:pic>
            <p:nvPicPr>
              <p:cNvPr id="23" name="EQ|db1d88f773a2|23.5" descr="n_0 = \max(1,\, 2|a|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6720" y="2359152"/>
                <a:ext cx="2277770" cy="354559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 1155"/>
          <p:cNvSpPr txBox="1"/>
          <p:nvPr/>
        </p:nvSpPr>
        <p:spPr>
          <a:xfrm>
            <a:off x="8046720" y="2817343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we have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Equation 25" descr="0 &lt; \frac{n}{2} \le n + a \le 2n"/>
              <p:cNvSpPr txBox="1"/>
              <p:nvPr/>
            </p:nvSpPr>
            <p:spPr>
              <a:xfrm>
                <a:off x="8046720" y="3210535"/>
                <a:ext cx="2650272" cy="5981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3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0&lt;</m:t>
                      </m:r>
                      <m:f>
                        <m:fPr>
                          <m:ctrlPr>
                            <a:rPr lang="en-US" sz="23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3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3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3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3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3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≤2</m:t>
                      </m:r>
                      <m:r>
                        <a:rPr lang="en-US" sz="23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350" dirty="0"/>
              </a:p>
            </p:txBody>
          </p:sp>
        </mc:Choice>
        <mc:Fallback xmlns="">
          <p:pic>
            <p:nvPicPr>
              <p:cNvPr id="25" name="EQ|bb8f08e128af|23.5" descr="0 &lt; \frac{n}{2} \le n + a \le 2n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6720" y="3210535"/>
                <a:ext cx="2650272" cy="59813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to Question 8 — Part 2</a:t>
            </a:r>
            <a:endParaRPr lang="en-US" sz="3000" dirty="0"/>
          </a:p>
        </p:txBody>
      </p:sp>
      <p:sp>
        <p:nvSpPr>
          <p:cNvPr id="3" name="Step circle 1196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1197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Step text 1198"/>
          <p:cNvSpPr txBox="1"/>
          <p:nvPr/>
        </p:nvSpPr>
        <p:spPr>
          <a:xfrm>
            <a:off x="1097280" y="1336548"/>
            <a:ext cx="63550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All three quantities n/2, n + a and 2n are </a:t>
            </a:r>
            <a:r>
              <a:rPr lang="en-US" sz="1900" b="1" dirty="0">
                <a:solidFill>
                  <a:schemeClr val="tx1"/>
                </a:solidFill>
              </a:rPr>
              <a:t>positive</a:t>
            </a:r>
            <a:r>
              <a:rPr lang="en-US" sz="1900" dirty="0">
                <a:solidFill>
                  <a:schemeClr val="tx1"/>
                </a:solidFill>
              </a:rPr>
              <a:t>, and b &gt; 0. Raising positive numbers to a power b &gt; 0 is </a:t>
            </a:r>
            <a:r>
              <a:rPr lang="en-US" sz="1900" b="1" dirty="0">
                <a:solidFill>
                  <a:schemeClr val="tx1"/>
                </a:solidFill>
              </a:rPr>
              <a:t>increasing</a:t>
            </a:r>
            <a:r>
              <a:rPr lang="en-US" sz="1900" dirty="0">
                <a:solidFill>
                  <a:schemeClr val="tx1"/>
                </a:solidFill>
              </a:rPr>
              <a:t> (a bigger base gives a bigger result), so it keeps the inequalities:</a:t>
            </a:r>
            <a:endParaRPr lang="en-US" sz="1900" dirty="0"/>
          </a:p>
        </p:txBody>
      </p:sp>
      <p:sp>
        <p:nvSpPr>
          <p:cNvPr id="6" name="Step circle 1199"/>
          <p:cNvSpPr/>
          <p:nvPr/>
        </p:nvSpPr>
        <p:spPr>
          <a:xfrm>
            <a:off x="548640" y="242102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1200"/>
          <p:cNvSpPr txBox="1"/>
          <p:nvPr/>
        </p:nvSpPr>
        <p:spPr>
          <a:xfrm>
            <a:off x="548640" y="242102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8" name="Step text 1201"/>
          <p:cNvSpPr txBox="1"/>
          <p:nvPr/>
        </p:nvSpPr>
        <p:spPr>
          <a:xfrm>
            <a:off x="1097280" y="2449982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Raise every part to the power b: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quation 9" descr="\left(\frac{n}{2}\right)^{b} \le (n+a)^{b} \le (2n)^{b}"/>
              <p:cNvSpPr txBox="1"/>
              <p:nvPr/>
            </p:nvSpPr>
            <p:spPr>
              <a:xfrm>
                <a:off x="1234440" y="2803550"/>
                <a:ext cx="2912865" cy="61111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≤(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≤(2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9" name="EQ|f5eddc0de343|21.5" descr="\left(\frac{n}{2}\right)^{b} \le (n+a)^{b} \le (2n)^{b}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440" y="2803550"/>
                <a:ext cx="2912865" cy="611119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Step circle 1202"/>
          <p:cNvSpPr/>
          <p:nvPr/>
        </p:nvSpPr>
        <p:spPr>
          <a:xfrm>
            <a:off x="548640" y="363961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tep number 1203"/>
          <p:cNvSpPr txBox="1"/>
          <p:nvPr/>
        </p:nvSpPr>
        <p:spPr>
          <a:xfrm>
            <a:off x="548640" y="363961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2" name="Step text 1204"/>
          <p:cNvSpPr txBox="1"/>
          <p:nvPr/>
        </p:nvSpPr>
        <p:spPr>
          <a:xfrm>
            <a:off x="1097280" y="3668567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Split the powers: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 13" descr="\left(\frac{1}{2}\right)^{b} n^{b} \le (n+a)^{b} \le 2^{b} n^{b}"/>
              <p:cNvSpPr txBox="1"/>
              <p:nvPr/>
            </p:nvSpPr>
            <p:spPr>
              <a:xfrm>
                <a:off x="1234440" y="4022135"/>
                <a:ext cx="3142292" cy="7552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sSup>
                        <m:sSup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≤(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sSup>
                        <m:sSup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13" name="EQ|7d38e10143e8|21.5" descr="\left(\frac{1}{2}\right)^{b} n^{b} \le (n+a)^{b} \le 2^{b} n^{b}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40" y="4022135"/>
                <a:ext cx="3142292" cy="755224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tep circle 1205"/>
          <p:cNvSpPr/>
          <p:nvPr/>
        </p:nvSpPr>
        <p:spPr>
          <a:xfrm>
            <a:off x="548640" y="5002301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tep number 1206"/>
          <p:cNvSpPr txBox="1"/>
          <p:nvPr/>
        </p:nvSpPr>
        <p:spPr>
          <a:xfrm>
            <a:off x="548640" y="500230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16" name="Step text 1207"/>
          <p:cNvSpPr txBox="1"/>
          <p:nvPr/>
        </p:nvSpPr>
        <p:spPr>
          <a:xfrm>
            <a:off x="1097280" y="5031257"/>
            <a:ext cx="63550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This is exactly the Θ definition with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quation 17" descr="c_1 = \left(\frac{1}{2}\right)^{b}, \quad c_2 = 2^{b}, \quad n_0 = \max(1,\, 2|a|)"/>
              <p:cNvSpPr txBox="1"/>
              <p:nvPr/>
            </p:nvSpPr>
            <p:spPr>
              <a:xfrm>
                <a:off x="1234440" y="5384825"/>
                <a:ext cx="4926401" cy="7552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50" b="0" i="1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150" b="0" i="0">
                              <a:solidFill>
                                <a:srgbClr val="1E2A2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(1, 2|</m:t>
                      </m:r>
                      <m:r>
                        <a:rPr lang="en-US" sz="2150" b="0" i="1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150" b="0" i="0">
                          <a:solidFill>
                            <a:srgbClr val="1E2A2F"/>
                          </a:solidFill>
                          <a:latin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sz="2150" dirty="0"/>
              </a:p>
            </p:txBody>
          </p:sp>
        </mc:Choice>
        <mc:Fallback xmlns="">
          <p:pic>
            <p:nvPicPr>
              <p:cNvPr id="17" name="EQ|5e54320583dc|21.5" descr="c_1 = \left(\frac{1}{2}\right)^{b}, \quad c_2 = 2^{b}, \quad n_0 = \max(1,\, 2|a|)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440" y="5384825"/>
                <a:ext cx="4926401" cy="755224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Answer card 1210"/>
          <p:cNvSpPr/>
          <p:nvPr/>
        </p:nvSpPr>
        <p:spPr>
          <a:xfrm>
            <a:off x="7818120" y="1307592"/>
            <a:ext cx="3822192" cy="2093214"/>
          </a:xfrm>
          <a:prstGeom prst="roundRect">
            <a:avLst>
              <a:gd name="adj" fmla="val 4368"/>
            </a:avLst>
          </a:prstGeom>
          <a:solidFill>
            <a:schemeClr val="accent1">
              <a:alpha val="13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Icon circle 1211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con 12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21" name="Card heading 1213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Answer</a:t>
            </a:r>
            <a:endParaRPr lang="en-US" sz="1700" dirty="0"/>
          </a:p>
        </p:txBody>
      </p:sp>
      <p:sp>
        <p:nvSpPr>
          <p:cNvPr id="22" name="Text 1214"/>
          <p:cNvSpPr txBox="1"/>
          <p:nvPr/>
        </p:nvSpPr>
        <p:spPr>
          <a:xfrm>
            <a:off x="8046720" y="1965960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claim holds: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uation 23" descr="(n+a)^{b} = \Theta(n^{b})"/>
              <p:cNvSpPr txBox="1"/>
              <p:nvPr/>
            </p:nvSpPr>
            <p:spPr>
              <a:xfrm>
                <a:off x="8046720" y="2343912"/>
                <a:ext cx="2306917" cy="4229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5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5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500" b="0" i="1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5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0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5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5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5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5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5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500" b="0" i="1">
                              <a:solidFill>
                                <a:srgbClr val="C62828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500" b="0" i="0">
                          <a:solidFill>
                            <a:srgbClr val="C6282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pic>
            <p:nvPicPr>
              <p:cNvPr id="23" name="EQ|f0f6fffabc27|25" descr="(n+a)^{b} = \Theta(n^{b})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6720" y="2343912"/>
                <a:ext cx="2306917" cy="42291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 1215"/>
          <p:cNvSpPr txBox="1"/>
          <p:nvPr/>
        </p:nvSpPr>
        <p:spPr>
          <a:xfrm>
            <a:off x="8046720" y="2870454"/>
            <a:ext cx="3364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for every real a and every b &gt; 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148840" y="274320"/>
            <a:ext cx="949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 8 — Explanation</a:t>
            </a:r>
            <a:endParaRPr lang="en-US" sz="3000" dirty="0"/>
          </a:p>
        </p:txBody>
      </p:sp>
      <p:sp>
        <p:nvSpPr>
          <p:cNvPr id="3" name="Step circle 1232"/>
          <p:cNvSpPr/>
          <p:nvPr/>
        </p:nvSpPr>
        <p:spPr>
          <a:xfrm>
            <a:off x="548640" y="1307592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tep number 1233"/>
          <p:cNvSpPr txBox="1"/>
          <p:nvPr/>
        </p:nvSpPr>
        <p:spPr>
          <a:xfrm>
            <a:off x="5486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234"/>
          <p:cNvSpPr txBox="1"/>
          <p:nvPr/>
        </p:nvSpPr>
        <p:spPr>
          <a:xfrm>
            <a:off x="1097280" y="1328928"/>
            <a:ext cx="6355080" cy="123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Intuition:</a:t>
            </a:r>
            <a:r>
              <a:rPr lang="en-US" sz="2000" dirty="0">
                <a:solidFill>
                  <a:schemeClr val="tx1"/>
                </a:solidFill>
              </a:rPr>
              <a:t> once n is much larger than |a|, adding a changes n by at most a factor of 2. Raising to the power b changes it by at most a factor of 2ᵇ — a constant, so the order of growth does not change.</a:t>
            </a:r>
            <a:endParaRPr lang="en-US" sz="2000" dirty="0"/>
          </a:p>
        </p:txBody>
      </p:sp>
      <p:sp>
        <p:nvSpPr>
          <p:cNvPr id="6" name="Step circle 1235"/>
          <p:cNvSpPr/>
          <p:nvPr/>
        </p:nvSpPr>
        <p:spPr>
          <a:xfrm>
            <a:off x="548640" y="27721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tep number 1236"/>
          <p:cNvSpPr txBox="1"/>
          <p:nvPr/>
        </p:nvSpPr>
        <p:spPr>
          <a:xfrm>
            <a:off x="548640" y="27721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1237"/>
          <p:cNvSpPr txBox="1"/>
          <p:nvPr/>
        </p:nvSpPr>
        <p:spPr>
          <a:xfrm>
            <a:off x="1097280" y="2793492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n₀ = max(1, 2|a|):</a:t>
            </a:r>
            <a:r>
              <a:rPr lang="en-US" sz="2000" dirty="0">
                <a:solidFill>
                  <a:schemeClr val="tx1"/>
                </a:solidFill>
              </a:rPr>
              <a:t> we need n ≥ 2|a| for both bounds, and n₀ must be positive (if a = 0, then 2|a| = 0).</a:t>
            </a:r>
            <a:endParaRPr lang="en-US" sz="2000" dirty="0"/>
          </a:p>
        </p:txBody>
      </p:sp>
      <p:sp>
        <p:nvSpPr>
          <p:cNvPr id="9" name="Step circle 1238"/>
          <p:cNvSpPr/>
          <p:nvPr/>
        </p:nvSpPr>
        <p:spPr>
          <a:xfrm>
            <a:off x="548640" y="362712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tep number 1239"/>
          <p:cNvSpPr txBox="1"/>
          <p:nvPr/>
        </p:nvSpPr>
        <p:spPr>
          <a:xfrm>
            <a:off x="548640" y="3627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1240"/>
          <p:cNvSpPr txBox="1"/>
          <p:nvPr/>
        </p:nvSpPr>
        <p:spPr>
          <a:xfrm>
            <a:off x="1097280" y="3648456"/>
            <a:ext cx="635508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positivity matters:</a:t>
            </a:r>
            <a:r>
              <a:rPr lang="en-US" sz="2000" dirty="0">
                <a:solidFill>
                  <a:schemeClr val="tx1"/>
                </a:solidFill>
              </a:rPr>
              <a:t> for a real power b we need a positive base. The lower bound n + a ≥ n/2 &gt; 0 guarantees it.</a:t>
            </a:r>
            <a:endParaRPr lang="en-US" sz="2000" dirty="0"/>
          </a:p>
        </p:txBody>
      </p:sp>
      <p:sp>
        <p:nvSpPr>
          <p:cNvPr id="12" name="Example: a = −10, b = 3 card 1242"/>
          <p:cNvSpPr/>
          <p:nvPr/>
        </p:nvSpPr>
        <p:spPr>
          <a:xfrm>
            <a:off x="7818120" y="1307592"/>
            <a:ext cx="3822192" cy="1203960"/>
          </a:xfrm>
          <a:prstGeom prst="roundRect">
            <a:avLst>
              <a:gd name="adj" fmla="val 7595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Icon circle 1243"/>
          <p:cNvSpPr/>
          <p:nvPr/>
        </p:nvSpPr>
        <p:spPr>
          <a:xfrm>
            <a:off x="8019288" y="1472184"/>
            <a:ext cx="384048" cy="38404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4" name="Icon 124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554480"/>
            <a:ext cx="219456" cy="219456"/>
          </a:xfrm>
          <a:prstGeom prst="rect">
            <a:avLst/>
          </a:prstGeom>
        </p:spPr>
      </p:pic>
      <p:sp>
        <p:nvSpPr>
          <p:cNvPr id="15" name="Card heading 1245"/>
          <p:cNvSpPr txBox="1"/>
          <p:nvPr/>
        </p:nvSpPr>
        <p:spPr>
          <a:xfrm>
            <a:off x="8513064" y="147218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Example: a = −10, b = 3</a:t>
            </a:r>
            <a:endParaRPr lang="en-US" sz="1700" dirty="0"/>
          </a:p>
        </p:txBody>
      </p:sp>
      <p:sp>
        <p:nvSpPr>
          <p:cNvPr id="16" name="Text 1246"/>
          <p:cNvSpPr txBox="1"/>
          <p:nvPr/>
        </p:nvSpPr>
        <p:spPr>
          <a:xfrm>
            <a:off x="8046720" y="1965960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n₀ = 20,  c₁ = 1/8,  c₂ = 8:</a:t>
            </a:r>
            <a:endParaRPr lang="en-US" sz="1900" dirty="0"/>
          </a:p>
        </p:txBody>
      </p:sp>
      <p:graphicFrame>
        <p:nvGraphicFramePr>
          <p:cNvPr id="38" name="Trace table 12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648712"/>
          <a:ext cx="3822192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n³ / 8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 − 10)³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 · n³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512 000</a:t>
                      </a:r>
                      <a:endParaRPr lang="en-US" sz="1200" dirty="0"/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CE Lesson">
  <a:themeElements>
    <a:clrScheme name="SCE Lesson">
      <a:dk1>
        <a:srgbClr val="1E2A2F"/>
      </a:dk1>
      <a:lt1>
        <a:srgbClr val="FFFFFF"/>
      </a:lt1>
      <a:dk2>
        <a:srgbClr val="0F4C51"/>
      </a:dk2>
      <a:lt2>
        <a:srgbClr val="EEF1F1"/>
      </a:lt2>
      <a:accent1>
        <a:srgbClr val="17A2A0"/>
      </a:accent1>
      <a:accent2>
        <a:srgbClr val="C62828"/>
      </a:accent2>
      <a:accent3>
        <a:srgbClr val="D9822B"/>
      </a:accent3>
      <a:accent4>
        <a:srgbClr val="2E7D32"/>
      </a:accent4>
      <a:accent5>
        <a:srgbClr val="6A3FA0"/>
      </a:accent5>
      <a:accent6>
        <a:srgbClr val="5B6B70"/>
      </a:accent6>
      <a:hlink>
        <a:srgbClr val="17A2A0"/>
      </a:hlink>
      <a:folHlink>
        <a:srgbClr val="6A3FA0"/>
      </a:folHlink>
    </a:clrScheme>
    <a:fontScheme name="SCE Less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4450</Words>
  <Application>Microsoft Macintosh PowerPoint</Application>
  <PresentationFormat>Widescreen</PresentationFormat>
  <Paragraphs>616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 Math</vt:lpstr>
      <vt:lpstr>SCE Lesson</vt:lpstr>
      <vt:lpstr>Asymptotic Notation</vt:lpstr>
      <vt:lpstr>Why Asymptotic Analysis?</vt:lpstr>
      <vt:lpstr>Exercise — Order of Growth</vt:lpstr>
      <vt:lpstr>Solution — Order of Growth</vt:lpstr>
      <vt:lpstr>Asymptotic Bounds</vt:lpstr>
      <vt:lpstr>The O Notation</vt:lpstr>
      <vt:lpstr>The O Notation — Example</vt:lpstr>
      <vt:lpstr>The Ω Notation</vt:lpstr>
      <vt:lpstr>Properties of O and Ω</vt:lpstr>
      <vt:lpstr>The Θ Notation</vt:lpstr>
      <vt:lpstr>Properties of Θ</vt:lpstr>
      <vt:lpstr>Summary: O, Ω and Θ</vt:lpstr>
      <vt:lpstr>Question 1</vt:lpstr>
      <vt:lpstr>Solution to Question 1</vt:lpstr>
      <vt:lpstr>Question 1 — Explanation</vt:lpstr>
      <vt:lpstr>Question 2</vt:lpstr>
      <vt:lpstr>Solution to Question 2</vt:lpstr>
      <vt:lpstr>Question 2 — Explanation</vt:lpstr>
      <vt:lpstr>Question 3</vt:lpstr>
      <vt:lpstr>Solution to Question 3</vt:lpstr>
      <vt:lpstr>Question 3 — Explanation</vt:lpstr>
      <vt:lpstr>Question 4</vt:lpstr>
      <vt:lpstr>Solution to Question 4</vt:lpstr>
      <vt:lpstr>Question 4 — Explanation</vt:lpstr>
      <vt:lpstr>Question 5</vt:lpstr>
      <vt:lpstr>Solution to Question 5</vt:lpstr>
      <vt:lpstr>Question 5 — Explanation</vt:lpstr>
      <vt:lpstr>Question 6  (Exam 2018, Semester A, Moed B)</vt:lpstr>
      <vt:lpstr>Solution to Question 6</vt:lpstr>
      <vt:lpstr>Question 6 — Explanation</vt:lpstr>
      <vt:lpstr>Question 7  (Exam 2018, Semester A, Moed B)</vt:lpstr>
      <vt:lpstr>Solution to Question 7</vt:lpstr>
      <vt:lpstr>Question 7 — Explanation</vt:lpstr>
      <vt:lpstr>Question 8</vt:lpstr>
      <vt:lpstr>Solution to Question 8 — Part 1</vt:lpstr>
      <vt:lpstr>Solution to Question 8 — Part 2</vt:lpstr>
      <vt:lpstr>Question 8 — Explanation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— Lesson 2: Asymptotic Notation</dc:title>
  <dc:subject>PptxGenJS Presentation</dc:subject>
  <dc:creator>SCE</dc:creator>
  <cp:lastModifiedBy>Genady Kogan</cp:lastModifiedBy>
  <cp:revision>3</cp:revision>
  <dcterms:created xsi:type="dcterms:W3CDTF">2026-10-25T15:22:36Z</dcterms:created>
  <dcterms:modified xsi:type="dcterms:W3CDTF">2026-10-28T14:54:06Z</dcterms:modified>
</cp:coreProperties>
</file>