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8" r:id="rId3"/>
    <p:sldId id="261" r:id="rId4"/>
    <p:sldId id="265" r:id="rId5"/>
    <p:sldId id="264" r:id="rId6"/>
    <p:sldId id="263" r:id="rId7"/>
    <p:sldId id="271" r:id="rId8"/>
    <p:sldId id="270" r:id="rId9"/>
    <p:sldId id="269" r:id="rId10"/>
    <p:sldId id="274" r:id="rId11"/>
    <p:sldId id="278" r:id="rId12"/>
    <p:sldId id="275" r:id="rId13"/>
    <p:sldId id="279" r:id="rId14"/>
    <p:sldId id="280" r:id="rId15"/>
    <p:sldId id="281" r:id="rId16"/>
    <p:sldId id="282" r:id="rId17"/>
    <p:sldId id="283" r:id="rId18"/>
    <p:sldId id="277" r:id="rId19"/>
    <p:sldId id="276" r:id="rId20"/>
    <p:sldId id="262" r:id="rId21"/>
    <p:sldId id="259" r:id="rId2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7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2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E074A9-18FF-057D-F05D-042F5C0A9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2F0D644C-F3E3-BD2F-EE1F-580F445D8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0E0A08B-E6DC-C4A0-6B42-5418EAA0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י"ב.חשון.תשפ"ו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22A948C-9F2C-CFE6-28E0-56D06D15F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1026365-88E1-FBD8-E2CC-7A99634EF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68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BADB872-81BA-4A65-3CC3-7AEA7F224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B1F9213-4F2E-4B59-FECF-A957D7946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B87B483-D662-5C2B-CD81-7F1379CA2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י"ב.חשון.תשפ"ו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0F2346A-1B0F-731C-65CD-9E96D8C0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93FEE12-59DA-5A46-91CE-B83BCDEFF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21143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F39C4DE-D944-62DB-0240-D155B157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AF7165A-985F-8D08-7213-2DAF84DED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E57341C-590C-9985-F610-BFA49726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י"ב.חשון.תשפ"ו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59A9292-2C7A-6093-AAFC-5EC56594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C0FF911-4D0D-4A09-4BC2-18CEB511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517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621B93-B9DD-5DBC-BAFC-5A5F875BD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01AF364-447E-92A8-0E33-C567920361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C8858D1-3087-D5DF-8CEC-1507EDC85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4105F33-2C61-5220-A792-DB312621E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י"ב.חשון.תשפ"ו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F040669-07F4-D987-6C83-14AE6C045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FBB2D4-93C6-5EAF-20E0-221DC814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0549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6251DA4-910A-46BD-9350-1201D054F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B18A0DE-47EA-1C10-F99C-758614A8E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0FEEE1D-B7ED-94F5-6C0E-AC15E7FAC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1736B8A-B6BD-6AC2-8EC8-201760A67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404B3A3-00F4-8263-744E-ACB233F4B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10D7D250-66B2-7BAD-545B-F2AD94E74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י"ב.חשון.תשפ"ו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84C93965-E5D8-6DEE-7CD4-6902B7124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B7DF1625-93F0-0584-3430-1960AA24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839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AFFC858-717E-CA40-A332-965FDAA21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07A6D15-A8AD-D488-D300-792FD013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י"ב.חשון.תשפ"ו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8056466-23EE-B77B-DF6C-6536CA06C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A57BC434-4B3A-8314-BA9C-212174E8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226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4A2BB1F-2FD8-DAE5-B907-07600C45A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י"ב.חשון.תשפ"ו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3A90861-3A05-ED04-CD0F-D5C11389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046F814-DAF8-64B2-E81B-7FE737DF5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9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0981722-ABF2-8DA3-CE28-05B1D8ABE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4C74908-C053-E82A-A7F3-864486ACD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358DDC8-C16B-F0E4-D63D-24A9CB76D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B1E7A43-8C2A-FBFA-AC45-DBFDB8E6F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י"ב.חשון.תשפ"ו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647E2E2-FBCD-FC48-DBDD-2557735E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581F39D-7913-CEDE-EC9C-64C02B38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8358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7A2AC94-98C9-55F3-35EE-A800446D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ECA953A0-8981-0422-8BCE-E72DB9FD86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6470043-B00B-BD55-CABA-222822255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D6B64D2-9762-8937-398F-357DEEF7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י"ב.חשון.תשפ"ו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177BF27-96D7-69E6-1C1B-962CD16CE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94EAC9D-D382-CAAF-E990-0C96974C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7127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188E2A-F9CB-2495-FE75-769EF70D6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1ED5B71-5A46-C065-267F-8CE2DA1B9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EF1EA9F-A944-7167-849B-01E43F126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י"ב.חשון.תשפ"ו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6A83FA1-C0CC-D4A2-9672-9831CA7C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C0F531A-E76A-3772-9399-F95FE8476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4369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853DFCF-CB4E-698C-7AB5-074868693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B110915-A2E3-7238-1024-4AFABDCC1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34730C0-0255-5DA8-E708-BBEA316C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D9C55-7868-4FF1-8666-2EC1F88A96B2}" type="datetimeFigureOut">
              <a:rPr lang="he-IL" smtClean="0"/>
              <a:t>י"ב.חשון.תשפ"ו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4241A22-2BD6-3BEA-8C27-0FE8CB67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923376-DC13-4788-9243-E17EA1EC4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44995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C44265B-043F-1F07-3CAB-932E925B7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7F7F275-8CE0-1ACF-B76A-589480F29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D03EBD0-0AD0-F437-0377-5282F4A62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D9C55-7868-4FF1-8666-2EC1F88A96B2}" type="datetimeFigureOut">
              <a:rPr lang="he-IL" smtClean="0"/>
              <a:t>י"ב.חשון.תשפ"ו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38DA500-A716-7804-01EC-82DBC212E8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E65C948-B680-D4A3-8DE9-330AB8B22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D2C24-4B6F-4387-B270-819B4A4D52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076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7F1C93-584D-5B12-0ED2-98ECB5BC1EA0}"/>
              </a:ext>
            </a:extLst>
          </p:cNvPr>
          <p:cNvSpPr txBox="1"/>
          <p:nvPr/>
        </p:nvSpPr>
        <p:spPr>
          <a:xfrm>
            <a:off x="3047499" y="940286"/>
            <a:ext cx="60970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02-Asimptotic Notation</a:t>
            </a:r>
          </a:p>
        </p:txBody>
      </p:sp>
    </p:spTree>
    <p:extLst>
      <p:ext uri="{BB962C8B-B14F-4D97-AF65-F5344CB8AC3E}">
        <p14:creationId xmlns:p14="http://schemas.microsoft.com/office/powerpoint/2010/main" val="2961545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44A70B-2F97-C18B-19E0-3C289060AD6D}"/>
              </a:ext>
            </a:extLst>
          </p:cNvPr>
          <p:cNvSpPr txBox="1"/>
          <p:nvPr/>
        </p:nvSpPr>
        <p:spPr>
          <a:xfrm>
            <a:off x="2218321" y="949320"/>
            <a:ext cx="832735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he-IL" dirty="0"/>
              <a:t>שיעור גידול של זמן הריצה של אלגוריתם מספק דרך פשוטה לאפיון יעילות האלגוריתם וגם להשוואת ביצועים יחסיים של אלגוריתמים אפשריים שונים לפתרון אותה בעיה.</a:t>
            </a:r>
          </a:p>
          <a:p>
            <a:pPr algn="just"/>
            <a:endParaRPr lang="he-IL" dirty="0"/>
          </a:p>
          <a:p>
            <a:pPr algn="just"/>
            <a:r>
              <a:rPr lang="he-IL" dirty="0"/>
              <a:t>עבור קלטים גדולים דיים, השפעתם של קבועים הכפולים והאיברים מן הסדר הנמוך המופיעים בנוסחה מדויקת לתיאור זמן הריצה, מתגמדת לעומת השפעתו של גודל הקלט עצמו.</a:t>
            </a:r>
          </a:p>
          <a:p>
            <a:pPr algn="just"/>
            <a:endParaRPr lang="he-IL" dirty="0"/>
          </a:p>
          <a:p>
            <a:pPr algn="just"/>
            <a:r>
              <a:rPr lang="he-IL" dirty="0"/>
              <a:t>לחקירת קלטים גדולים מספיק כדי שהגורם המשמעותי היחיד יהיה שיעור הגידול של זמן הריצה. לחקירה כזו, קוראים חקירה היעילות האסימפטוטית של אלגוריתמים.</a:t>
            </a:r>
          </a:p>
          <a:p>
            <a:pPr algn="just"/>
            <a:endParaRPr lang="he-IL" dirty="0"/>
          </a:p>
          <a:p>
            <a:pPr algn="just"/>
            <a:r>
              <a:rPr lang="he-IL" dirty="0"/>
              <a:t>השאלה היא "למה שואף זמן הריצה כשגודל הקלט שואף לאינסוף?" שעור הגידול נקרא לפעמים סדר גודל של זמן הריצה.</a:t>
            </a:r>
          </a:p>
          <a:p>
            <a:pPr algn="just"/>
            <a:endParaRPr lang="he-IL" dirty="0"/>
          </a:p>
          <a:p>
            <a:pPr algn="just"/>
            <a:r>
              <a:rPr lang="he-IL" dirty="0"/>
              <a:t>על מנת שנוכל להשוות אלגוריתמים ולקטלג אותם לפי זמני הריצה נשתמש</a:t>
            </a:r>
            <a:r>
              <a:rPr lang="en-US" dirty="0"/>
              <a:t> </a:t>
            </a:r>
            <a:r>
              <a:rPr lang="he-IL" dirty="0"/>
              <a:t>בסימונים האסימפטוטיים.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dirty="0"/>
              <a:t>(Big O) </a:t>
            </a:r>
            <a:r>
              <a:rPr lang="el-GR" dirty="0"/>
              <a:t>Ο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l-GR" dirty="0"/>
              <a:t>(</a:t>
            </a:r>
            <a:r>
              <a:rPr lang="en-US" dirty="0"/>
              <a:t>Big Omega) </a:t>
            </a:r>
            <a:r>
              <a:rPr lang="el-GR" dirty="0"/>
              <a:t>Ω</a:t>
            </a: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l-GR" dirty="0"/>
              <a:t>(</a:t>
            </a:r>
            <a:r>
              <a:rPr lang="en-US" dirty="0"/>
              <a:t>Big Theta) </a:t>
            </a:r>
            <a:r>
              <a:rPr lang="el-GR" dirty="0"/>
              <a:t>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67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C2E99A47-1C1B-E033-0D13-4D6C8CBE75B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830468" y="1108808"/>
            <a:ext cx="8497887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/>
            <a:r>
              <a:rPr lang="he-IL" altLang="he-IL" sz="2000" dirty="0"/>
              <a:t>לפניך רשימה של פונקציות זמן ריצה של אלגוריתמים שונים. קבע עבור כל אחת מהן סדר הגודל שלה:</a:t>
            </a:r>
          </a:p>
          <a:p>
            <a:pPr lvl="1" eaLnBrk="1" hangingPunct="1"/>
            <a:r>
              <a:rPr lang="en-US" altLang="he-IL" sz="2000" dirty="0"/>
              <a:t>10n + 5</a:t>
            </a:r>
            <a:r>
              <a:rPr lang="he-IL" altLang="he-IL" sz="2000" dirty="0"/>
              <a:t> -&gt;</a:t>
            </a:r>
            <a:endParaRPr lang="he-IL" altLang="he-IL" sz="2000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he-IL" sz="2000" dirty="0"/>
              <a:t>0.5n</a:t>
            </a:r>
            <a:r>
              <a:rPr lang="en-US" altLang="he-IL" sz="2000" baseline="30000" dirty="0"/>
              <a:t>4</a:t>
            </a:r>
            <a:r>
              <a:rPr lang="en-US" altLang="he-IL" sz="2000" dirty="0"/>
              <a:t> + 200n</a:t>
            </a:r>
            <a:r>
              <a:rPr lang="en-US" altLang="he-IL" sz="2000" baseline="30000" dirty="0"/>
              <a:t>3</a:t>
            </a:r>
            <a:r>
              <a:rPr lang="en-US" altLang="he-IL" sz="2000" dirty="0"/>
              <a:t> + 70</a:t>
            </a:r>
            <a:r>
              <a:rPr lang="he-IL" altLang="he-IL" sz="2000" dirty="0"/>
              <a:t> -&gt;</a:t>
            </a:r>
          </a:p>
          <a:p>
            <a:pPr lvl="1" eaLnBrk="1" hangingPunct="1"/>
            <a:r>
              <a:rPr lang="en-US" altLang="he-IL" sz="2000" dirty="0"/>
              <a:t>7n</a:t>
            </a:r>
            <a:r>
              <a:rPr lang="en-US" altLang="he-IL" sz="2000" baseline="30000" dirty="0"/>
              <a:t>2</a:t>
            </a:r>
            <a:r>
              <a:rPr lang="en-US" altLang="he-IL" sz="2000" dirty="0"/>
              <a:t> + 5n</a:t>
            </a:r>
            <a:r>
              <a:rPr lang="en-US" altLang="he-IL" sz="2000" baseline="30000" dirty="0"/>
              <a:t>3</a:t>
            </a:r>
            <a:r>
              <a:rPr lang="en-US" altLang="he-IL" sz="2000" dirty="0"/>
              <a:t> + 20n</a:t>
            </a:r>
            <a:r>
              <a:rPr lang="he-IL" altLang="he-IL" sz="2000" dirty="0"/>
              <a:t> -&gt;</a:t>
            </a:r>
          </a:p>
          <a:p>
            <a:pPr lvl="1" eaLnBrk="1" hangingPunct="1"/>
            <a:r>
              <a:rPr lang="he-IL" altLang="he-IL" sz="2000" dirty="0"/>
              <a:t>100 -&gt;</a:t>
            </a:r>
          </a:p>
          <a:p>
            <a:pPr lvl="1" eaLnBrk="1" hangingPunct="1"/>
            <a:r>
              <a:rPr lang="en-US" altLang="he-IL" sz="2000" dirty="0"/>
              <a:t>5</a:t>
            </a:r>
            <a:r>
              <a:rPr lang="en-US" altLang="he-IL" sz="2000" baseline="30000" dirty="0"/>
              <a:t>n</a:t>
            </a:r>
            <a:r>
              <a:rPr lang="he-IL" altLang="he-IL" sz="2000" baseline="30000" dirty="0"/>
              <a:t> </a:t>
            </a:r>
            <a:r>
              <a:rPr lang="he-IL" altLang="he-IL" sz="2000" dirty="0"/>
              <a:t>-&gt;</a:t>
            </a:r>
            <a:endParaRPr lang="he-IL" altLang="he-IL" sz="2000" baseline="30000" dirty="0"/>
          </a:p>
          <a:p>
            <a:pPr lvl="1" eaLnBrk="1" hangingPunct="1"/>
            <a:r>
              <a:rPr lang="en-US" altLang="he-IL" sz="2000" dirty="0"/>
              <a:t>0.001n + 1000</a:t>
            </a:r>
            <a:r>
              <a:rPr lang="he-IL" altLang="he-IL" sz="2000" dirty="0"/>
              <a:t> -&gt;</a:t>
            </a:r>
            <a:endParaRPr lang="he-IL" altLang="he-IL" sz="2000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he-IL" sz="2000" dirty="0"/>
              <a:t>10000n + 1000</a:t>
            </a:r>
            <a:r>
              <a:rPr lang="he-IL" altLang="he-IL" sz="2000" dirty="0"/>
              <a:t> -&gt;</a:t>
            </a:r>
            <a:endParaRPr lang="he-IL" altLang="he-IL" sz="2000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he-IL" sz="2000" dirty="0"/>
              <a:t>2n</a:t>
            </a:r>
            <a:r>
              <a:rPr lang="en-US" altLang="he-IL" sz="2000" baseline="30000" dirty="0"/>
              <a:t>2</a:t>
            </a:r>
            <a:r>
              <a:rPr lang="en-US" altLang="he-IL" sz="2000" dirty="0"/>
              <a:t> + 2</a:t>
            </a:r>
            <a:r>
              <a:rPr lang="he-IL" altLang="he-IL" sz="2000" dirty="0"/>
              <a:t> -&gt;</a:t>
            </a:r>
            <a:endParaRPr lang="he-IL" altLang="he-IL" sz="2000" baseline="30000" dirty="0">
              <a:solidFill>
                <a:srgbClr val="FF0000"/>
              </a:solidFill>
            </a:endParaRPr>
          </a:p>
          <a:p>
            <a:pPr marL="344487" lvl="1" indent="0" eaLnBrk="1" hangingPunct="1">
              <a:buNone/>
            </a:pPr>
            <a:endParaRPr lang="he-IL" altLang="he-IL" sz="2000" dirty="0"/>
          </a:p>
        </p:txBody>
      </p:sp>
      <p:pic>
        <p:nvPicPr>
          <p:cNvPr id="8" name="Picture 4" descr="gros3d26">
            <a:extLst>
              <a:ext uri="{FF2B5EF4-FFF2-40B4-BE49-F238E27FC236}">
                <a16:creationId xmlns:a16="http://schemas.microsoft.com/office/drawing/2014/main" id="{87916983-8D9E-AC2F-F5C5-2DFD3334208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930" y="4648933"/>
            <a:ext cx="1916113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F1A9AC-F78B-A9BF-D497-605E23B8037D}"/>
              </a:ext>
            </a:extLst>
          </p:cNvPr>
          <p:cNvSpPr txBox="1"/>
          <p:nvPr/>
        </p:nvSpPr>
        <p:spPr>
          <a:xfrm>
            <a:off x="8384085" y="1752608"/>
            <a:ext cx="9820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O(n)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DC7FF5-A728-EC95-F391-F737084F3F7B}"/>
              </a:ext>
            </a:extLst>
          </p:cNvPr>
          <p:cNvSpPr txBox="1"/>
          <p:nvPr/>
        </p:nvSpPr>
        <p:spPr>
          <a:xfrm>
            <a:off x="7688511" y="2491629"/>
            <a:ext cx="9820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O(</a:t>
            </a:r>
            <a:r>
              <a:rPr lang="en-US" altLang="he-IL" sz="2000" dirty="0">
                <a:solidFill>
                  <a:srgbClr val="FF0000"/>
                </a:solidFill>
              </a:rPr>
              <a:t>n</a:t>
            </a:r>
            <a:r>
              <a:rPr lang="en-US" altLang="he-IL" sz="2000" baseline="30000" dirty="0">
                <a:solidFill>
                  <a:srgbClr val="FF0000"/>
                </a:solidFill>
              </a:rPr>
              <a:t>3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)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A7218D-3DCD-CBAF-C8EC-816307E169AB}"/>
              </a:ext>
            </a:extLst>
          </p:cNvPr>
          <p:cNvSpPr txBox="1"/>
          <p:nvPr/>
        </p:nvSpPr>
        <p:spPr>
          <a:xfrm>
            <a:off x="8842292" y="2880422"/>
            <a:ext cx="9820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O(1)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D2F5A2-A9A0-4863-3FFE-C55B5DF39D35}"/>
              </a:ext>
            </a:extLst>
          </p:cNvPr>
          <p:cNvSpPr txBox="1"/>
          <p:nvPr/>
        </p:nvSpPr>
        <p:spPr>
          <a:xfrm>
            <a:off x="9103247" y="3213675"/>
            <a:ext cx="9820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O(</a:t>
            </a:r>
            <a:r>
              <a:rPr lang="en-US" sz="2000" dirty="0">
                <a:solidFill>
                  <a:srgbClr val="FF0000"/>
                </a:solidFill>
              </a:rPr>
              <a:t>5</a:t>
            </a:r>
            <a:r>
              <a:rPr lang="en-US" sz="2000" baseline="30000" dirty="0">
                <a:solidFill>
                  <a:srgbClr val="FF0000"/>
                </a:solidFill>
              </a:rPr>
              <a:t>n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)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332946-2512-0400-D165-3565989B33DD}"/>
              </a:ext>
            </a:extLst>
          </p:cNvPr>
          <p:cNvSpPr txBox="1"/>
          <p:nvPr/>
        </p:nvSpPr>
        <p:spPr>
          <a:xfrm>
            <a:off x="7817234" y="3608126"/>
            <a:ext cx="9820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O(n)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5DCF44-0B30-21EB-1551-BBF0B3BB5C2F}"/>
              </a:ext>
            </a:extLst>
          </p:cNvPr>
          <p:cNvSpPr txBox="1"/>
          <p:nvPr/>
        </p:nvSpPr>
        <p:spPr>
          <a:xfrm>
            <a:off x="7755186" y="3979941"/>
            <a:ext cx="9820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O(n)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E14919-52C0-E4A1-50F5-CF3BDC7B3254}"/>
              </a:ext>
            </a:extLst>
          </p:cNvPr>
          <p:cNvSpPr txBox="1"/>
          <p:nvPr/>
        </p:nvSpPr>
        <p:spPr>
          <a:xfrm>
            <a:off x="8569324" y="4335830"/>
            <a:ext cx="9820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O(</a:t>
            </a:r>
            <a:r>
              <a:rPr lang="en-US" altLang="he-IL" sz="2000" dirty="0">
                <a:solidFill>
                  <a:srgbClr val="FF0000"/>
                </a:solidFill>
              </a:rPr>
              <a:t>n</a:t>
            </a:r>
            <a:r>
              <a:rPr lang="en-US" altLang="he-IL" sz="2000" baseline="30000" dirty="0">
                <a:solidFill>
                  <a:srgbClr val="FF0000"/>
                </a:solidFill>
              </a:rPr>
              <a:t>2</a:t>
            </a:r>
            <a:r>
              <a:rPr lang="en-US" sz="2000" i="0" dirty="0">
                <a:solidFill>
                  <a:srgbClr val="FF0000"/>
                </a:solidFill>
                <a:effectLst/>
                <a:latin typeface="Söhne"/>
              </a:rPr>
              <a:t>)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21E9FC-6FA2-71D3-7A13-20BAA6ED2122}"/>
              </a:ext>
            </a:extLst>
          </p:cNvPr>
          <p:cNvSpPr txBox="1"/>
          <p:nvPr/>
        </p:nvSpPr>
        <p:spPr>
          <a:xfrm>
            <a:off x="7402009" y="2156433"/>
            <a:ext cx="9820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he-IL" sz="2000" dirty="0">
                <a:solidFill>
                  <a:srgbClr val="FF0000"/>
                </a:solidFill>
              </a:rPr>
              <a:t>O(n</a:t>
            </a:r>
            <a:r>
              <a:rPr lang="en-US" altLang="he-IL" sz="2000" baseline="30000" dirty="0">
                <a:solidFill>
                  <a:srgbClr val="FF0000"/>
                </a:solidFill>
              </a:rPr>
              <a:t>4</a:t>
            </a:r>
            <a:r>
              <a:rPr lang="en-US" altLang="he-IL" sz="2000" dirty="0">
                <a:solidFill>
                  <a:srgbClr val="FF0000"/>
                </a:solidFill>
              </a:rPr>
              <a:t>)</a:t>
            </a:r>
            <a:endParaRPr lang="en-US" sz="2000" dirty="0"/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3287209" y="29456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תרגיל</a:t>
            </a:r>
            <a:endParaRPr kumimoji="0" lang="en-US" altLang="he-IL" sz="4200" b="0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Garamond"/>
              <a:ea typeface="+mj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6121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201929" y="433089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סימון </a:t>
            </a:r>
            <a:r>
              <a:rPr kumimoji="0" lang="he-IL" altLang="he-IL" sz="4200" b="0" i="0" u="none" strike="noStrike" kern="0" cap="none" spc="0" normalizeH="0" baseline="0" noProof="0" dirty="0" err="1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אסימפטוטי</a:t>
            </a:r>
            <a:endParaRPr kumimoji="0" lang="en-US" altLang="he-IL" sz="4200" b="0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Garamond"/>
              <a:ea typeface="+mj-ea"/>
              <a:cs typeface="Arial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78104" y="1136351"/>
            <a:ext cx="8497887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השתמשנו בסימון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מבלי להגדירו במדויק. </a:t>
            </a: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נרצה לתת הגדרה מתמטית ברורה, שממנה נוכל לדעת מתי פונקציה מסוימת היא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של פונקציה אחרת.</a:t>
            </a: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בנוסף, נגדיר סימונים נוספים: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Ω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("אומגה") ,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Θ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("תֵטַה").</a:t>
            </a: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לכל הסימונים האלה קוראים 'חסמים </a:t>
            </a:r>
            <a:r>
              <a:rPr kumimoji="0" lang="he-IL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אסימפטוטיים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' (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(asymptotic bounds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endParaRPr kumimoji="0" lang="el-GR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7" name="Picture 4" descr="computer003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576" y="3279465"/>
            <a:ext cx="2777405" cy="2362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9233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012147" y="182922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הסימון </a:t>
            </a:r>
            <a:r>
              <a:rPr kumimoji="0" lang="en-US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O</a:t>
            </a:r>
            <a:endParaRPr kumimoji="0" lang="en-US" altLang="he-IL" sz="4200" b="0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Garamond"/>
              <a:ea typeface="+mj-ea"/>
              <a:cs typeface="Arial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888322" y="886184"/>
            <a:ext cx="8497887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ראינו מספר פונקציות שהן מסדר גודל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O(n)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: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2n+11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1000n+1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0.25n+6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7n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מתי נאמר על פונקציה מסוימת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שהיא מסדר גודל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O(n)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?</a:t>
            </a: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נאמר על פונקציה מסוימת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שהיא מסדר גודל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O(n)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אם 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קיימים קבועים חיוביים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0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ו-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c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כך שלכל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 </a:t>
            </a:r>
            <a:r>
              <a:rPr kumimoji="0" lang="en-US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&gt;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n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0</a:t>
            </a:r>
            <a:r>
              <a:rPr kumimoji="0" lang="he-IL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מתקיים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</a:t>
            </a:r>
            <a:r>
              <a:rPr kumimoji="0" lang="en-US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&lt;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c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·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n</a:t>
            </a:r>
            <a:endParaRPr kumimoji="0" lang="el-GR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7" name="Picture 4" descr="order-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222" y="3550009"/>
            <a:ext cx="4681537" cy="245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557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262313" y="139790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הסימון </a:t>
            </a:r>
            <a:r>
              <a:rPr kumimoji="0" lang="en-US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O</a:t>
            </a:r>
            <a:endParaRPr kumimoji="0" lang="en-US" altLang="he-IL" sz="4200" b="0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Garamond"/>
              <a:ea typeface="+mj-ea"/>
              <a:cs typeface="Arial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138488" y="843052"/>
            <a:ext cx="8497887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כשאומרים על פונקציה מסוימת שהיא מסדר גודל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O(n)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, המשמעות היא שיש לה </a:t>
            </a:r>
            <a:r>
              <a:rPr kumimoji="0" lang="he-IL" altLang="he-IL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חסם עליון לינארי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. כלומר, שקיימת </a:t>
            </a:r>
            <a:r>
              <a:rPr kumimoji="0" lang="he-IL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פונקצית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זמן ריצה לינארית שעבור ערכי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גדולים, חוסמת אותה מלמעלה.</a:t>
            </a: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נשים לב שגם פונקציות זמן ריצה קבועות הן מסדר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O(n)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.</a:t>
            </a: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נוכיח, למשל, שהפונקציה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12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היא מסדר גודל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O(n)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.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ניקח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c = 1 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ואת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0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= 12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קל לראות שלכל 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 </a:t>
            </a:r>
            <a:r>
              <a:rPr kumimoji="0" lang="en-US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&gt;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12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מתקיים 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</a:rPr>
              <a:t>12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&lt;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33CC33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 </a:t>
            </a:r>
            <a:endParaRPr kumimoji="0" lang="el-GR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7034784" y="4083140"/>
            <a:ext cx="4311079" cy="1512988"/>
          </a:xfrm>
          <a:prstGeom prst="roundRect">
            <a:avLst>
              <a:gd name="adj" fmla="val 16667"/>
            </a:avLst>
          </a:prstGeom>
          <a:solidFill>
            <a:srgbClr val="66FF33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היא מסדר גודל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אם ורק אם קיימים קבועים חיוביים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ו</a:t>
            </a:r>
            <a:r>
              <a:rPr lang="he-IL" altLang="he-IL" sz="2000" kern="0" baseline="0" noProof="0" dirty="0">
                <a:solidFill>
                  <a:srgbClr val="000000"/>
                </a:solidFill>
              </a:rPr>
              <a:t>-</a:t>
            </a:r>
            <a:r>
              <a:rPr lang="en-US" altLang="he-IL" sz="2000" kern="0" baseline="0" dirty="0">
                <a:solidFill>
                  <a:srgbClr val="000000"/>
                </a:solidFill>
              </a:rPr>
              <a:t>c</a:t>
            </a:r>
            <a:r>
              <a:rPr lang="he-IL" altLang="he-IL" sz="2000" kern="0" baseline="0" dirty="0">
                <a:solidFill>
                  <a:srgbClr val="000000"/>
                </a:solidFill>
              </a:rPr>
              <a:t> 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כך שלכל     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kumimoji="0" lang="en-US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מתקיים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f(n) </a:t>
            </a:r>
            <a:r>
              <a:rPr kumimoji="0" lang="en-US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·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endParaRPr kumimoji="0" lang="el-GR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4" descr="figure2_1_O">
            <a:extLst>
              <a:ext uri="{FF2B5EF4-FFF2-40B4-BE49-F238E27FC236}">
                <a16:creationId xmlns:a16="http://schemas.microsoft.com/office/drawing/2014/main" id="{CCF9A349-E4E3-CDFE-712A-28BA8FBE5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537" y="2625724"/>
            <a:ext cx="3455680" cy="329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260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124290" y="148417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הסימון </a:t>
            </a:r>
            <a:r>
              <a:rPr kumimoji="0" lang="el-GR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Ω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00465" y="851679"/>
            <a:ext cx="8497887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ראינו כי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O(g(n))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מגדיר חסם </a:t>
            </a:r>
            <a:r>
              <a:rPr kumimoji="0" lang="he-IL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אסימפטוטי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עליון על </a:t>
            </a:r>
            <a:r>
              <a:rPr kumimoji="0" lang="he-IL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פונקצית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זמן ריצה של אלגוריתם. הסימון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(g(n))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מגדיר, באופן שקול, חסם </a:t>
            </a:r>
            <a:r>
              <a:rPr kumimoji="0" lang="he-IL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אסימפטוטי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תחתון.</a:t>
            </a:r>
            <a:endParaRPr kumimoji="0" lang="el-GR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הגדרה: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נאמר על פונקציה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שהיא מסדר גודל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(g(n)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אם 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קיימים קבועים חיוביים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0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ו-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c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כך שלכל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 </a:t>
            </a:r>
            <a:r>
              <a:rPr kumimoji="0" lang="en-US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&gt;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n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0</a:t>
            </a:r>
            <a:r>
              <a:rPr kumimoji="0" lang="he-IL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מתקיים 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</a:t>
            </a:r>
            <a:r>
              <a:rPr kumimoji="0" lang="en-US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&gt;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c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·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g(n)</a:t>
            </a:r>
            <a:endParaRPr kumimoji="0" lang="he-IL" altLang="he-IL" sz="2000" b="0" i="0" u="none" strike="noStrike" kern="0" cap="none" spc="0" normalizeH="0" baseline="3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למשל: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2n+3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(n)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2n+3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(1)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5n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+1000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+3n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+2n+2=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+3n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+2n+2=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endParaRPr kumimoji="0" lang="el-GR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7" name="Picture 4" descr="figure2_1-omega"/>
          <p:cNvPicPr>
            <a:picLocks noChangeAspect="1" noChangeArrowheads="1"/>
          </p:cNvPicPr>
          <p:nvPr/>
        </p:nvPicPr>
        <p:blipFill>
          <a:blip r:embed="rId3">
            <a:lum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915" y="2436004"/>
            <a:ext cx="3403600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66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055279" y="25193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תכונות של חסמים אסימפטוטיים</a:t>
            </a:r>
            <a:endParaRPr kumimoji="0" lang="el-GR" altLang="he-IL" sz="4200" b="0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Garamond"/>
              <a:ea typeface="+mj-ea"/>
              <a:cs typeface="Arial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11808" y="955195"/>
            <a:ext cx="9917533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4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משפט:</a:t>
            </a:r>
            <a:r>
              <a:rPr kumimoji="0" lang="he-IL" altLang="he-IL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lang="he-IL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לכל שתי פונקציות </a:t>
            </a:r>
            <a:r>
              <a:rPr kumimoji="0" lang="en-US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f(n)</a:t>
            </a:r>
            <a:r>
              <a:rPr kumimoji="0" lang="he-IL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ו-</a:t>
            </a:r>
            <a:r>
              <a:rPr kumimoji="0" lang="en-US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g(n)</a:t>
            </a:r>
            <a:r>
              <a:rPr kumimoji="0" lang="he-IL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, מתקיים                                                </a:t>
            </a:r>
            <a:r>
              <a:rPr kumimoji="0" lang="he-IL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  <a:r>
              <a:rPr kumimoji="0" lang="he-IL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        </a:t>
            </a:r>
            <a:r>
              <a:rPr kumimoji="0" lang="en-US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f(n) = O(g(n))</a:t>
            </a:r>
            <a:r>
              <a:rPr kumimoji="0" lang="he-IL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אם ורק אם </a:t>
            </a:r>
            <a:r>
              <a:rPr kumimoji="0" lang="en-US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g(n) = </a:t>
            </a:r>
            <a:r>
              <a:rPr kumimoji="0" lang="el-GR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Ω</a:t>
            </a:r>
            <a:r>
              <a:rPr kumimoji="0" lang="en-US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(f(n))</a:t>
            </a:r>
            <a:r>
              <a:rPr kumimoji="0" lang="he-IL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.</a:t>
            </a: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ברור גם שמתקיים: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אם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O(g(n))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וגם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g(n) = O(h(n))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אז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O(h(n))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אם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(g(n))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וגם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g(n)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(h(n))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אז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(h(n))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וכמו כן מתקיים: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לכל פונקציה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מתקיים 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O(f(n))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לכל פונקציה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מתקיים 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(f(n))</a:t>
            </a:r>
            <a:endParaRPr kumimoji="0" lang="el-GR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7" name="Picture 4" descr="Chess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916" y="3236433"/>
            <a:ext cx="2879725" cy="275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634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figure2_1_crop"/>
          <p:cNvPicPr>
            <a:picLocks noChangeAspect="1" noChangeArrowheads="1"/>
          </p:cNvPicPr>
          <p:nvPr/>
        </p:nvPicPr>
        <p:blipFill>
          <a:blip r:embed="rId3">
            <a:lum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408" y="2637077"/>
            <a:ext cx="331152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184676" y="70779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הסימון </a:t>
            </a:r>
            <a:r>
              <a:rPr kumimoji="0" lang="el-GR" altLang="he-IL" sz="4200" b="0" i="0" u="none" strike="noStrike" kern="0" cap="none" spc="0" normalizeH="0" baseline="0" noProof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Θ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5046453" y="774041"/>
            <a:ext cx="6512285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marR="0" lvl="0" indent="-342900" algn="just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מתקיים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3n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+5n+2 = O(n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וגם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3n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+5n+2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. כלומר, הביטוי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he-IL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מהווה גם חסם </a:t>
            </a:r>
            <a:r>
              <a:rPr kumimoji="0" lang="he-IL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אסימפטוטי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עליון וגם חסם </a:t>
            </a:r>
            <a:r>
              <a:rPr kumimoji="0" lang="he-IL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אסימפטוטי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תחתון עבור הפונקציה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3n</a:t>
            </a:r>
            <a:r>
              <a:rPr kumimoji="0" lang="en-US" altLang="he-IL" sz="20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+5n+2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. במקרה כזה, נאמר שהוא </a:t>
            </a:r>
            <a:r>
              <a:rPr kumimoji="0" lang="he-IL" altLang="he-IL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חסם </a:t>
            </a:r>
            <a:r>
              <a:rPr kumimoji="0" lang="he-IL" altLang="he-IL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אסימפטוטי</a:t>
            </a:r>
            <a:r>
              <a:rPr kumimoji="0" lang="he-IL" altLang="he-IL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הדוק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he-IL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ונסמנו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ב-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Θ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.</a:t>
            </a:r>
            <a:endParaRPr kumimoji="0" lang="el-GR" altLang="he-IL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just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הגדרה: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נאמר על פונקציה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שהיא מסדר גודל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Θ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(g(n))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אם </a:t>
            </a:r>
          </a:p>
          <a:p>
            <a:pPr marL="669925" marR="0" lvl="1" indent="-325438" algn="just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קיימים קבועים חיוביים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0</a:t>
            </a:r>
            <a:r>
              <a:rPr kumimoji="0" lang="he-IL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,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c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1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,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c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endParaRPr kumimoji="0" lang="en-US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69925" marR="0" lvl="1" indent="-325438" algn="just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כך שלכל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n </a:t>
            </a:r>
            <a:r>
              <a:rPr kumimoji="0" lang="en-US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&gt;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n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0</a:t>
            </a:r>
            <a:r>
              <a:rPr kumimoji="0" lang="he-IL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669925" marR="0" lvl="1" indent="-325438" algn="just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מתקיים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c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2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·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g(n) </a:t>
            </a:r>
            <a:r>
              <a:rPr kumimoji="0" lang="en-US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&gt;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f(n) </a:t>
            </a:r>
            <a:r>
              <a:rPr kumimoji="0" lang="en-US" altLang="he-IL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&gt;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c</a:t>
            </a:r>
            <a:r>
              <a:rPr kumimoji="0" lang="en-US" altLang="he-IL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1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·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g(n)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just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כלומר, הפונקציה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היא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Θ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(g(n))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				        אם היא מתנהגת כמו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g(n)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.</a:t>
            </a:r>
          </a:p>
          <a:p>
            <a:pPr marL="669925" marR="0" lvl="1" indent="-325438" algn="just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חסומה מלמעלה על-ידי כפולה של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g(n)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69925" marR="0" lvl="1" indent="-325438" algn="just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חסומה מלמטה על-ידי כפולה של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g(n)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789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dukeinc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261" y="2865423"/>
            <a:ext cx="2302851" cy="2497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253687" y="51935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2pPr>
            <a:lvl3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3pPr>
            <a:lvl4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4pPr>
            <a:lvl5pPr algn="l" rtl="1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5pPr>
            <a:lvl6pPr marL="4572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6pPr>
            <a:lvl7pPr marL="9144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7pPr>
            <a:lvl8pPr marL="13716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8pPr>
            <a:lvl9pPr marL="1828800" algn="l" rtl="1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  <a:cs typeface="Arial" pitchFamily="34" charset="0"/>
              </a:defRPr>
            </a:lvl9pPr>
          </a:lstStyle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altLang="he-IL" sz="4200" b="0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תכונות של חסמים </a:t>
            </a:r>
            <a:r>
              <a:rPr kumimoji="0" lang="he-IL" altLang="he-IL" sz="4200" b="0" i="0" u="none" strike="noStrike" kern="0" cap="none" spc="0" normalizeH="0" baseline="0" noProof="0" dirty="0" err="1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Garamond"/>
                <a:ea typeface="+mj-ea"/>
                <a:cs typeface="Arial"/>
              </a:rPr>
              <a:t>אסימפטוטיים</a:t>
            </a:r>
            <a:endParaRPr kumimoji="0" lang="el-GR" altLang="he-IL" sz="4200" b="0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Garamond"/>
              <a:ea typeface="+mj-ea"/>
              <a:cs typeface="Arial"/>
            </a:endParaRPr>
          </a:p>
        </p:txBody>
      </p:sp>
      <p:sp>
        <p:nvSpPr>
          <p:cNvPr id="13" name="Rectangle 4"/>
          <p:cNvSpPr txBox="1">
            <a:spLocks noChangeArrowheads="1"/>
          </p:cNvSpPr>
          <p:nvPr/>
        </p:nvSpPr>
        <p:spPr bwMode="auto">
          <a:xfrm>
            <a:off x="2950234" y="1345811"/>
            <a:ext cx="8667196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r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r" rtl="1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משפט:</a:t>
            </a:r>
            <a:r>
              <a:rPr kumimoji="0" lang="he-IL" altLang="he-IL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לכל שתי פונקציות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ו-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g(n)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, מתקיים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f(n)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Θ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(g(n))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    אם ורק אם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Ω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(g(n))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וגם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O(g(n))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.</a:t>
            </a: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תכונות החסם </a:t>
            </a:r>
            <a:r>
              <a:rPr kumimoji="0" lang="he-IL" altLang="he-I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האסימפטוטי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ההדוק:</a:t>
            </a: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אם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Θ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(g(n))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וגם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g(n)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Θ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(h(n))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אז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Θ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(h(n))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לכל פונקציה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מתקיים 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Θ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(f(n))</a:t>
            </a:r>
            <a:endParaRPr kumimoji="0" lang="he-IL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669925" marR="0" lvl="1" indent="-325438" algn="r" defTabSz="914400" rtl="1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f(n)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Θ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(g(n))</a:t>
            </a:r>
            <a:r>
              <a:rPr kumimoji="0" lang="he-IL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 אם ורק אם 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g(n) = </a:t>
            </a:r>
            <a:r>
              <a:rPr kumimoji="0" lang="el-GR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Θ</a:t>
            </a:r>
            <a:r>
              <a:rPr kumimoji="0" lang="en-US" altLang="he-I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</a:rPr>
              <a:t>(f(n))</a:t>
            </a:r>
            <a:endParaRPr kumimoji="0" lang="el-GR" altLang="he-I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044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9631010" y="432123"/>
            <a:ext cx="1319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/>
              <a:t>שאלה 1</a:t>
            </a:r>
            <a:endParaRPr lang="en-US" sz="2800" dirty="0"/>
          </a:p>
        </p:txBody>
      </p:sp>
      <p:sp>
        <p:nvSpPr>
          <p:cNvPr id="31" name="Rectangle 30"/>
          <p:cNvSpPr/>
          <p:nvPr/>
        </p:nvSpPr>
        <p:spPr>
          <a:xfrm>
            <a:off x="6832885" y="493678"/>
            <a:ext cx="1938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000" dirty="0"/>
              <a:t>להוכיח </a:t>
            </a:r>
            <a:r>
              <a:rPr lang="en-US" sz="2000" dirty="0"/>
              <a:t>n</a:t>
            </a:r>
            <a:r>
              <a:rPr lang="en-US" sz="2000" baseline="30000" dirty="0"/>
              <a:t>2</a:t>
            </a:r>
            <a:r>
              <a:rPr lang="en-US" sz="2000" dirty="0"/>
              <a:t> = O(n</a:t>
            </a:r>
            <a:r>
              <a:rPr lang="en-US" sz="2000" baseline="30000" dirty="0"/>
              <a:t>3</a:t>
            </a:r>
            <a:r>
              <a:rPr lang="en-US" sz="2000" dirty="0"/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34242" y="2165557"/>
            <a:ext cx="79875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sz="2000" dirty="0"/>
              <a:t>לפי הגדרה </a:t>
            </a:r>
            <a:r>
              <a:rPr lang="en-US" sz="2000" dirty="0"/>
              <a:t>O</a:t>
            </a:r>
            <a:r>
              <a:rPr lang="he-IL" sz="2000" dirty="0"/>
              <a:t> </a:t>
            </a:r>
            <a:r>
              <a:rPr lang="en-US" sz="2000" dirty="0"/>
              <a:t>(big O)</a:t>
            </a:r>
            <a:r>
              <a:rPr lang="he-IL" sz="2000" dirty="0"/>
              <a:t> קיימים קבועים חיוביים </a:t>
            </a:r>
            <a:r>
              <a:rPr lang="en-US" sz="2000" dirty="0"/>
              <a:t>c </a:t>
            </a:r>
            <a:r>
              <a:rPr lang="he-IL" sz="2000" dirty="0"/>
              <a:t> ו- </a:t>
            </a:r>
            <a:r>
              <a:rPr lang="en-US" sz="2000" dirty="0"/>
              <a:t>n</a:t>
            </a:r>
            <a:r>
              <a:rPr lang="en-US" sz="2000" baseline="-25000" dirty="0"/>
              <a:t>0</a:t>
            </a:r>
            <a:r>
              <a:rPr lang="he-IL" sz="2000" baseline="-25000" dirty="0"/>
              <a:t> </a:t>
            </a:r>
            <a:r>
              <a:rPr lang="en-US" sz="2000" baseline="-25000" dirty="0"/>
              <a:t> </a:t>
            </a:r>
            <a:r>
              <a:rPr lang="he-IL" sz="2000" dirty="0"/>
              <a:t>שלכל </a:t>
            </a:r>
            <a:r>
              <a:rPr lang="en-US" sz="2000" dirty="0"/>
              <a:t>n ≥ n</a:t>
            </a:r>
            <a:r>
              <a:rPr lang="en-US" sz="2000" baseline="-25000" dirty="0"/>
              <a:t>0</a:t>
            </a:r>
            <a:r>
              <a:rPr lang="he-IL" sz="2000" baseline="-25000" dirty="0"/>
              <a:t> </a:t>
            </a:r>
            <a:r>
              <a:rPr lang="he-IL" sz="2000" dirty="0"/>
              <a:t>מתבצעת: </a:t>
            </a:r>
            <a:endParaRPr lang="en-US" sz="20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070" y="2802156"/>
            <a:ext cx="2580877" cy="372366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6274505" y="3411011"/>
            <a:ext cx="37802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dirty="0"/>
              <a:t>נחלק שני אגפים של אי שוויון ב-</a:t>
            </a:r>
            <a:r>
              <a:rPr lang="en-US" dirty="0"/>
              <a:t>n</a:t>
            </a:r>
            <a:r>
              <a:rPr lang="en-US" baseline="30000" dirty="0"/>
              <a:t>2</a:t>
            </a:r>
            <a:r>
              <a:rPr lang="he-IL" dirty="0"/>
              <a:t> נקבל </a:t>
            </a:r>
            <a:endParaRPr lang="en-US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070" y="4016832"/>
            <a:ext cx="2528892" cy="44204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578381" y="4839519"/>
            <a:ext cx="929927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he-IL" dirty="0"/>
              <a:t>כאשר </a:t>
            </a:r>
            <a:r>
              <a:rPr lang="en-US" dirty="0"/>
              <a:t>n</a:t>
            </a:r>
            <a:r>
              <a:rPr lang="he-IL" dirty="0"/>
              <a:t> הולך וגודל, השבר שואף ל-0. לכן ערך של </a:t>
            </a:r>
            <a:r>
              <a:rPr lang="en-US" dirty="0"/>
              <a:t>c</a:t>
            </a:r>
            <a:r>
              <a:rPr lang="he-IL" dirty="0"/>
              <a:t> יכול להיות כלשהו. אם </a:t>
            </a:r>
            <a:r>
              <a:rPr lang="he-IL" dirty="0" err="1"/>
              <a:t>נקח</a:t>
            </a:r>
            <a:r>
              <a:rPr lang="he-IL" dirty="0"/>
              <a:t> </a:t>
            </a:r>
            <a:r>
              <a:rPr lang="en-US" dirty="0"/>
              <a:t>c = 1</a:t>
            </a:r>
            <a:r>
              <a:rPr lang="he-IL" dirty="0"/>
              <a:t>, </a:t>
            </a:r>
            <a:r>
              <a:rPr lang="en-US" dirty="0"/>
              <a:t>n</a:t>
            </a:r>
            <a:r>
              <a:rPr lang="en-US" baseline="-25000" dirty="0"/>
              <a:t>0</a:t>
            </a:r>
            <a:r>
              <a:rPr lang="en-US" dirty="0"/>
              <a:t> = 1</a:t>
            </a:r>
            <a:r>
              <a:rPr lang="he-IL" dirty="0"/>
              <a:t> נקבל שאי שוויון מתקיים. (אנחנו זוכרים ש-</a:t>
            </a:r>
            <a:r>
              <a:rPr lang="en-US" dirty="0"/>
              <a:t>O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קבוצה של פונקציות. אנו יכולים לבחור </a:t>
            </a:r>
            <a:r>
              <a:rPr lang="en-US" dirty="0"/>
              <a:t>c</a:t>
            </a:r>
            <a:r>
              <a:rPr lang="he-IL" dirty="0"/>
              <a:t> ו-</a:t>
            </a:r>
            <a:r>
              <a:rPr lang="en-US" dirty="0"/>
              <a:t>n</a:t>
            </a:r>
            <a:r>
              <a:rPr lang="en-US" baseline="-25000" dirty="0"/>
              <a:t>0</a:t>
            </a:r>
            <a:r>
              <a:rPr lang="he-IL" dirty="0"/>
              <a:t> אחרים כך שאי שוויון התקיים).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0007716" y="1254098"/>
            <a:ext cx="942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400" dirty="0"/>
              <a:t>פתרון: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36279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89803" y="432123"/>
            <a:ext cx="1319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/>
              <a:t>שאלה 2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1143820" y="1123347"/>
            <a:ext cx="10065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400" dirty="0"/>
              <a:t>הראו על הגדרה שאם נניח זמן ריצה של אלגוריתם הוא </a:t>
            </a:r>
            <a:r>
              <a:rPr lang="en-US" sz="2400" dirty="0"/>
              <a:t>10n</a:t>
            </a:r>
            <a:r>
              <a:rPr lang="en-US" sz="2400" baseline="30000" dirty="0"/>
              <a:t>2</a:t>
            </a:r>
            <a:r>
              <a:rPr lang="en-US" sz="2400" dirty="0"/>
              <a:t> + 5n</a:t>
            </a:r>
            <a:r>
              <a:rPr lang="he-IL" sz="2400" dirty="0"/>
              <a:t> הוא נמצא ב-</a:t>
            </a:r>
            <a:r>
              <a:rPr lang="en-US" sz="2400" dirty="0"/>
              <a:t>O(n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2970" y="1753016"/>
            <a:ext cx="942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400" dirty="0"/>
              <a:t>פתרון: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17BD2F-C33B-ADC0-9F19-72CF353EABFE}"/>
                  </a:ext>
                </a:extLst>
              </p:cNvPr>
              <p:cNvSpPr txBox="1"/>
              <p:nvPr/>
            </p:nvSpPr>
            <p:spPr>
              <a:xfrm>
                <a:off x="2031184" y="2224957"/>
                <a:ext cx="8435770" cy="372768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בהגדרה של 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(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</a:t>
                </a: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גדול): </a:t>
                </a:r>
              </a:p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צריך להיות 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 &gt; 0 </a:t>
                </a: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לכל    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n ≥ n</a:t>
                </a:r>
                <a:r>
                  <a:rPr lang="en-US" sz="20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he-IL" sz="2000" baseline="-25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sSup>
                      <m:sSupPr>
                        <m:ctrlPr>
                          <a:rPr 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>
                  <a:solidFill>
                    <a:srgbClr val="000000"/>
                  </a:solidFill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נחלק שני חלקים של אי שוויון ב-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sz="2000" baseline="30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. </a:t>
                </a:r>
              </a:p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נקבל:</a:t>
                </a:r>
              </a:p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US" sz="20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 + 5/n ≤ c</a:t>
                </a:r>
                <a:r>
                  <a:rPr lang="he-IL" sz="20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</a:t>
                </a: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 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n</a:t>
                </a: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 הולך וגודל לאינסוף,</a:t>
                </a:r>
              </a:p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השבר שואף לאפס. נקבל:     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c ≥ 10</a:t>
                </a: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endPara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he-IL" sz="1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נבחר 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 = 15</a:t>
                </a:r>
                <a:r>
                  <a:rPr lang="he-IL" sz="20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 ,  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sz="20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sz="2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 1</a:t>
                </a:r>
                <a:endParaRPr lang="he-IL" sz="20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17BD2F-C33B-ADC0-9F19-72CF353EA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184" y="2224957"/>
                <a:ext cx="8435770" cy="3727687"/>
              </a:xfrm>
              <a:prstGeom prst="rect">
                <a:avLst/>
              </a:prstGeom>
              <a:blipFill>
                <a:blip r:embed="rId3"/>
                <a:stretch>
                  <a:fillRect r="-7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457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5BAA655-B739-AE4C-05BF-FFE0F675F019}"/>
              </a:ext>
            </a:extLst>
          </p:cNvPr>
          <p:cNvSpPr txBox="1"/>
          <p:nvPr/>
        </p:nvSpPr>
        <p:spPr>
          <a:xfrm>
            <a:off x="9969050" y="518964"/>
            <a:ext cx="129614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2400" b="1" u="sng" dirty="0">
                <a:solidFill>
                  <a:srgbClr val="000000"/>
                </a:solidFill>
                <a:latin typeface="Arial" panose="020B0604020202020204" pitchFamily="34" charset="0"/>
              </a:rPr>
              <a:t>שאלה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371BD8-6396-94EF-B99F-360E2640592B}"/>
              </a:ext>
            </a:extLst>
          </p:cNvPr>
          <p:cNvSpPr txBox="1"/>
          <p:nvPr/>
        </p:nvSpPr>
        <p:spPr>
          <a:xfrm>
            <a:off x="3602529" y="980629"/>
            <a:ext cx="540060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2400" b="1" dirty="0">
                <a:solidFill>
                  <a:srgbClr val="C00000"/>
                </a:solidFill>
                <a:latin typeface="Arial" panose="020B0604020202020204" pitchFamily="34" charset="0"/>
              </a:rPr>
              <a:t>טענה:  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sz="2400" b="1" baseline="30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≠ O(n)</a:t>
            </a:r>
            <a:r>
              <a:rPr lang="he-IL" sz="2400" b="1" dirty="0">
                <a:solidFill>
                  <a:srgbClr val="C00000"/>
                </a:solidFill>
                <a:latin typeface="Arial" panose="020B0604020202020204" pitchFamily="34" charset="0"/>
              </a:rPr>
              <a:t>.         הוכח או הפרח.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349950-8131-C210-7553-60CF0F223486}"/>
                  </a:ext>
                </a:extLst>
              </p:cNvPr>
              <p:cNvSpPr txBox="1"/>
              <p:nvPr/>
            </p:nvSpPr>
            <p:spPr>
              <a:xfrm>
                <a:off x="1919536" y="1657638"/>
                <a:ext cx="8352928" cy="387106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נניח בשלילה ש-</a:t>
                </a:r>
                <a:r>
                  <a:rPr lang="en-US" sz="24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sz="2400" b="1" baseline="30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400" b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O(n) </a:t>
                </a: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, אז קיימים קבועים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 &gt; 0</a:t>
                </a: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ϵ N</a:t>
                </a: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כך ש-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he-IL" sz="24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algn="l" rtl="0"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 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&gt; 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, </m:t>
                      </m:r>
                      <m:sSup>
                        <m:sSup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𝑐𝑛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→    ∀   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  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fontAlgn="base">
                  <a:lnSpc>
                    <a:spcPct val="15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נחלק שני אגפים של אי שוויון ב-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. נקבל: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342900" indent="-342900" fontAlgn="base">
                  <a:lnSpc>
                    <a:spcPct val="15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קיבלנו סטירה. גרף של פונקציה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f(n) = n </a:t>
                </a: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גודלת לאינסוף כאשר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גודל לאינסוף. גרף של קבוע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הוא לא גודל. יהיה ערך כלשהו של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</a:t>
                </a: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כשפונקציה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f(n)</a:t>
                </a: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תהיה גדולה מ-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.</a:t>
                </a:r>
                <a:endParaRPr lang="en-US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349950-8131-C210-7553-60CF0F223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9536" y="1657638"/>
                <a:ext cx="8352928" cy="3871060"/>
              </a:xfrm>
              <a:prstGeom prst="rect">
                <a:avLst/>
              </a:prstGeom>
              <a:blipFill>
                <a:blip r:embed="rId3"/>
                <a:stretch>
                  <a:fillRect l="-760" t="-1307" r="-1216" b="-261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668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89803" y="432123"/>
            <a:ext cx="1319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/>
              <a:t>שאלה 4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8971502" y="509067"/>
            <a:ext cx="8563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000" dirty="0"/>
              <a:t>טענה: 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178275" y="539845"/>
            <a:ext cx="1462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dirty="0"/>
              <a:t>הוכח או הפרח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867" y="539845"/>
            <a:ext cx="1062659" cy="3834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05270" y="1935142"/>
            <a:ext cx="67329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000" dirty="0"/>
              <a:t>נניח בשלילה ש- </a:t>
            </a:r>
            <a:r>
              <a:rPr lang="en-US" sz="2000" dirty="0"/>
              <a:t>n</a:t>
            </a:r>
            <a:r>
              <a:rPr lang="en-US" sz="2000" baseline="30000" dirty="0"/>
              <a:t>2</a:t>
            </a:r>
            <a:r>
              <a:rPr lang="en-US" sz="2000" dirty="0"/>
              <a:t> = </a:t>
            </a:r>
            <a:r>
              <a:rPr lang="el-GR" altLang="he-IL" sz="2000" kern="0" dirty="0">
                <a:solidFill>
                  <a:srgbClr val="000000"/>
                </a:solidFill>
                <a:latin typeface="Arial"/>
                <a:cs typeface="Arial"/>
              </a:rPr>
              <a:t>Ω</a:t>
            </a:r>
            <a:r>
              <a:rPr lang="en-US" sz="2000" dirty="0"/>
              <a:t>(n</a:t>
            </a:r>
            <a:r>
              <a:rPr lang="en-US" sz="2000" baseline="30000" dirty="0"/>
              <a:t>3</a:t>
            </a:r>
            <a:r>
              <a:rPr lang="en-US" sz="2000" dirty="0"/>
              <a:t>)</a:t>
            </a:r>
            <a:r>
              <a:rPr lang="he-IL" sz="2000" dirty="0"/>
              <a:t>, אז קיימים קבועים </a:t>
            </a:r>
            <a:r>
              <a:rPr lang="en-US" sz="2000" dirty="0"/>
              <a:t>c &gt; 0</a:t>
            </a:r>
            <a:r>
              <a:rPr lang="he-IL" sz="2000" dirty="0"/>
              <a:t>, </a:t>
            </a:r>
            <a:r>
              <a:rPr lang="en-US" sz="2000" dirty="0"/>
              <a:t>n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l-GR" sz="2000" dirty="0"/>
              <a:t>ϵ</a:t>
            </a:r>
            <a:r>
              <a:rPr lang="en-US" sz="2000" dirty="0"/>
              <a:t> N</a:t>
            </a:r>
            <a:r>
              <a:rPr lang="he-IL" sz="2000" dirty="0"/>
              <a:t> כך ש: 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237" y="2694352"/>
            <a:ext cx="3801005" cy="6858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516010" y="1214410"/>
            <a:ext cx="942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400" dirty="0"/>
              <a:t>פתרון: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673259" y="3778319"/>
            <a:ext cx="100684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sz="2000" dirty="0"/>
              <a:t>ידוע כי כל </a:t>
            </a:r>
            <a:r>
              <a:rPr lang="en-US" sz="2000" dirty="0"/>
              <a:t>n &gt; n</a:t>
            </a:r>
            <a:r>
              <a:rPr lang="en-US" sz="2000" baseline="-25000" dirty="0"/>
              <a:t>0</a:t>
            </a:r>
            <a:r>
              <a:rPr lang="he-IL" sz="2000" dirty="0"/>
              <a:t>. נבחר מספר טבעי </a:t>
            </a:r>
            <a:r>
              <a:rPr lang="en-US" sz="2000" dirty="0"/>
              <a:t>n</a:t>
            </a:r>
            <a:r>
              <a:rPr lang="en-US" sz="2000" baseline="-25000" dirty="0"/>
              <a:t>1</a:t>
            </a:r>
            <a:r>
              <a:rPr lang="he-IL" sz="2000" dirty="0"/>
              <a:t> שמקיים </a:t>
            </a:r>
            <a:r>
              <a:rPr lang="en-US" sz="2000" dirty="0"/>
              <a:t>n1 &gt; max (n</a:t>
            </a:r>
            <a:r>
              <a:rPr lang="en-US" sz="2000" baseline="-25000" dirty="0"/>
              <a:t>0</a:t>
            </a:r>
            <a:r>
              <a:rPr lang="en-US" sz="2000" dirty="0"/>
              <a:t>,1/c)</a:t>
            </a:r>
            <a:r>
              <a:rPr lang="he-IL" sz="2000" dirty="0"/>
              <a:t>. קיבלנו כי </a:t>
            </a:r>
            <a:r>
              <a:rPr lang="en-US" sz="2000" dirty="0"/>
              <a:t>n</a:t>
            </a:r>
            <a:r>
              <a:rPr lang="en-US" sz="2000" baseline="-25000" dirty="0"/>
              <a:t>1</a:t>
            </a:r>
            <a:r>
              <a:rPr lang="en-US" sz="2000" dirty="0"/>
              <a:t> &gt; 1/c</a:t>
            </a:r>
            <a:r>
              <a:rPr lang="he-IL" sz="2000" dirty="0"/>
              <a:t>. איך מ - # נובע</a:t>
            </a:r>
          </a:p>
          <a:p>
            <a:pPr algn="just"/>
            <a:r>
              <a:rPr lang="he-IL" sz="2000" dirty="0"/>
              <a:t>ש – </a:t>
            </a:r>
            <a:r>
              <a:rPr lang="en-US" sz="2000" dirty="0"/>
              <a:t>n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u="sng" dirty="0"/>
              <a:t>&lt;</a:t>
            </a:r>
            <a:r>
              <a:rPr lang="en-US" sz="2000" dirty="0"/>
              <a:t> 1/c</a:t>
            </a:r>
            <a:r>
              <a:rPr lang="he-IL" sz="2000" dirty="0"/>
              <a:t>. קיבלנו סתירה להנחה ולכן טענה נכונה.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5939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89803" y="432123"/>
            <a:ext cx="13195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/>
              <a:t>שאלה 5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8971502" y="509067"/>
            <a:ext cx="8563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000" dirty="0"/>
              <a:t>טענה: </a:t>
            </a:r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178275" y="539845"/>
            <a:ext cx="1462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dirty="0"/>
              <a:t>הוכח או הפרח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201" y="547176"/>
            <a:ext cx="1133633" cy="36200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58491" y="1704172"/>
            <a:ext cx="71400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000" dirty="0"/>
              <a:t>נניח בשלילה ש- </a:t>
            </a:r>
            <a:r>
              <a:rPr lang="en-US" sz="2000" dirty="0"/>
              <a:t>½*n</a:t>
            </a:r>
            <a:r>
              <a:rPr lang="en-US" sz="2000" baseline="30000" dirty="0"/>
              <a:t>2</a:t>
            </a:r>
            <a:r>
              <a:rPr lang="en-US" sz="2000" dirty="0"/>
              <a:t> = </a:t>
            </a:r>
            <a:r>
              <a:rPr lang="en-US" altLang="he-IL" sz="2000" kern="0" dirty="0">
                <a:solidFill>
                  <a:srgbClr val="000000"/>
                </a:solidFill>
                <a:latin typeface="Arial"/>
                <a:cs typeface="Arial"/>
              </a:rPr>
              <a:t>O</a:t>
            </a:r>
            <a:r>
              <a:rPr lang="en-US" sz="2000" dirty="0"/>
              <a:t>(n)</a:t>
            </a:r>
            <a:r>
              <a:rPr lang="he-IL" sz="2000" dirty="0"/>
              <a:t>, אז קיימים קבועים </a:t>
            </a:r>
            <a:r>
              <a:rPr lang="en-US" sz="2000" dirty="0"/>
              <a:t>c &gt; 0</a:t>
            </a:r>
            <a:r>
              <a:rPr lang="he-IL" sz="2000" dirty="0"/>
              <a:t>, </a:t>
            </a:r>
            <a:r>
              <a:rPr lang="en-US" sz="2000" dirty="0"/>
              <a:t>n</a:t>
            </a:r>
            <a:r>
              <a:rPr lang="en-US" sz="2000" baseline="-25000" dirty="0"/>
              <a:t>0</a:t>
            </a:r>
            <a:r>
              <a:rPr lang="en-US" sz="2000" dirty="0"/>
              <a:t> </a:t>
            </a:r>
            <a:r>
              <a:rPr lang="el-GR" sz="2000" dirty="0"/>
              <a:t>ϵ</a:t>
            </a:r>
            <a:r>
              <a:rPr lang="en-US" sz="2000" dirty="0"/>
              <a:t> N</a:t>
            </a:r>
            <a:r>
              <a:rPr lang="he-IL" sz="2000" dirty="0"/>
              <a:t> כך ש: </a:t>
            </a:r>
            <a:endParaRPr 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391" y="2513072"/>
            <a:ext cx="4001058" cy="50489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9304" y="3502274"/>
            <a:ext cx="1006846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sz="2000" dirty="0"/>
              <a:t>ידוע כי כל </a:t>
            </a:r>
            <a:r>
              <a:rPr lang="en-US" sz="2000" dirty="0"/>
              <a:t>n &gt; n</a:t>
            </a:r>
            <a:r>
              <a:rPr lang="en-US" sz="2000" baseline="-25000" dirty="0"/>
              <a:t>0</a:t>
            </a:r>
            <a:r>
              <a:rPr lang="he-IL" sz="2000" dirty="0"/>
              <a:t>. נבחר מספר טבעי </a:t>
            </a:r>
            <a:r>
              <a:rPr lang="en-US" sz="2000" dirty="0"/>
              <a:t>n</a:t>
            </a:r>
            <a:r>
              <a:rPr lang="en-US" sz="2000" baseline="-25000" dirty="0"/>
              <a:t>1</a:t>
            </a:r>
            <a:r>
              <a:rPr lang="he-IL" sz="2000" dirty="0"/>
              <a:t> שמקיים </a:t>
            </a:r>
            <a:r>
              <a:rPr lang="en-US" sz="2000" dirty="0"/>
              <a:t>n1 &gt; max (n</a:t>
            </a:r>
            <a:r>
              <a:rPr lang="en-US" sz="2000" baseline="-25000" dirty="0"/>
              <a:t>0</a:t>
            </a:r>
            <a:r>
              <a:rPr lang="en-US" sz="2000" dirty="0"/>
              <a:t>,2c)</a:t>
            </a:r>
            <a:r>
              <a:rPr lang="he-IL" sz="2000" dirty="0"/>
              <a:t>. קיבלנו כי </a:t>
            </a:r>
            <a:r>
              <a:rPr lang="en-US" sz="2000" dirty="0"/>
              <a:t>n</a:t>
            </a:r>
            <a:r>
              <a:rPr lang="en-US" sz="2000" baseline="-25000" dirty="0"/>
              <a:t>1</a:t>
            </a:r>
            <a:r>
              <a:rPr lang="en-US" sz="2000" dirty="0"/>
              <a:t> &gt; 2c</a:t>
            </a:r>
            <a:r>
              <a:rPr lang="he-IL" sz="2000" dirty="0"/>
              <a:t>. איך מ - # נובע</a:t>
            </a:r>
          </a:p>
          <a:p>
            <a:pPr algn="just"/>
            <a:r>
              <a:rPr lang="he-IL" sz="2000" dirty="0"/>
              <a:t>ש – </a:t>
            </a:r>
            <a:r>
              <a:rPr lang="en-US" sz="2000" dirty="0"/>
              <a:t>n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u="sng" dirty="0"/>
              <a:t>&lt;</a:t>
            </a:r>
            <a:r>
              <a:rPr lang="en-US" sz="2000" dirty="0"/>
              <a:t> 2c</a:t>
            </a:r>
            <a:r>
              <a:rPr lang="he-IL" sz="2000" dirty="0"/>
              <a:t>. קיבלנו סתירה להנחה ולכן טענה נכונה.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9606712" y="1050508"/>
            <a:ext cx="942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400" dirty="0"/>
              <a:t>פתרון: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77557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A3E0366-D532-C163-0869-DFAC80AC3947}"/>
              </a:ext>
            </a:extLst>
          </p:cNvPr>
          <p:cNvSpPr txBox="1"/>
          <p:nvPr/>
        </p:nvSpPr>
        <p:spPr>
          <a:xfrm>
            <a:off x="4731330" y="388336"/>
            <a:ext cx="6840760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he-IL" sz="2400" b="1" u="sng" dirty="0">
                <a:solidFill>
                  <a:srgbClr val="000000"/>
                </a:solidFill>
                <a:latin typeface="Arial" panose="020B0604020202020204" pitchFamily="34" charset="0"/>
              </a:rPr>
              <a:t>שאלה 6 (מבחן 2018, סמסטר א', מועד ב')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4CB8EE-7F41-271F-6B32-737EEB334C01}"/>
                  </a:ext>
                </a:extLst>
              </p:cNvPr>
              <p:cNvSpPr txBox="1"/>
              <p:nvPr/>
            </p:nvSpPr>
            <p:spPr>
              <a:xfrm>
                <a:off x="1955540" y="1278395"/>
                <a:ext cx="8280920" cy="475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6355" indent="-6350" fontAlgn="base">
                  <a:lnSpc>
                    <a:spcPct val="110000"/>
                  </a:lnSpc>
                  <a:spcBef>
                    <a:spcPct val="0"/>
                  </a:spcBef>
                  <a:spcAft>
                    <a:spcPts val="1025"/>
                  </a:spcAft>
                </a:pPr>
                <a:r>
                  <a:rPr lang="he-IL" sz="2400" b="1" dirty="0">
                    <a:solidFill>
                      <a:srgbClr val="C00000"/>
                    </a:solidFill>
                    <a:ea typeface="Arial" panose="020B0604020202020204" pitchFamily="34" charset="0"/>
                  </a:rPr>
                  <a:t>טענה: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𝟑</m:t>
                    </m:r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𝒏</m:t>
                    </m:r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×</m:t>
                    </m:r>
                    <m:func>
                      <m:funcPr>
                        <m:ctrlPr>
                          <a:rPr lang="en-GB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</m:ctrlPr>
                      </m:funcPr>
                      <m:fName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𝒍𝒐𝒈</m:t>
                        </m:r>
                      </m:fName>
                      <m:e>
                        <m:d>
                          <m:dPr>
                            <m:ctrlPr>
                              <a:rPr lang="en-GB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Arial" panose="020B0604020202020204" pitchFamily="34" charset="0"/>
                              </a:rPr>
                              <m:t>𝒏</m:t>
                            </m:r>
                          </m:e>
                        </m:d>
                      </m:e>
                    </m:func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+</m:t>
                    </m:r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𝟐</m:t>
                    </m:r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𝒏</m:t>
                    </m:r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=</m:t>
                    </m:r>
                    <m:r>
                      <a:rPr lang="en-US" sz="2400" b="1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Arial" panose="020B0604020202020204" pitchFamily="34" charset="0"/>
                      </a:rPr>
                      <m:t>𝜴</m:t>
                    </m:r>
                    <m:d>
                      <m:dPr>
                        <m:ctrlPr>
                          <a:rPr lang="en-GB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𝒏</m:t>
                        </m:r>
                        <m:r>
                          <a:rPr lang="en-US" sz="24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Arial" panose="020B0604020202020204" pitchFamily="34" charset="0"/>
                          </a:rPr>
                          <m:t>×</m:t>
                        </m:r>
                        <m:func>
                          <m:funcPr>
                            <m:ctrlPr>
                              <a:rPr lang="en-GB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Arial" panose="020B0604020202020204" pitchFamily="34" charset="0"/>
                              </a:rPr>
                            </m:ctrlPr>
                          </m:funcPr>
                          <m:fName>
                            <m:r>
                              <a:rPr lang="en-US" sz="24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Arial" panose="020B0604020202020204" pitchFamily="34" charset="0"/>
                              </a:rPr>
                              <m:t>𝒍𝒐𝒈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</a:rPr>
                                  <m:t>𝒏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he-IL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Arial" panose="020B0604020202020204" pitchFamily="34" charset="0"/>
                  </a:rPr>
                  <a:t>  </a:t>
                </a:r>
                <a:r>
                  <a:rPr lang="he-IL" sz="2400" b="1" dirty="0">
                    <a:solidFill>
                      <a:srgbClr val="C00000"/>
                    </a:solidFill>
                    <a:ea typeface="Arial" panose="020B0604020202020204" pitchFamily="34" charset="0"/>
                  </a:rPr>
                  <a:t>הוכיחו או הפריכו.</a:t>
                </a:r>
                <a:endParaRPr lang="en-GB" sz="2400" b="1" dirty="0">
                  <a:solidFill>
                    <a:srgbClr val="C00000"/>
                  </a:solidFill>
                  <a:ea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4CB8EE-7F41-271F-6B32-737EEB334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40" y="1278395"/>
                <a:ext cx="8280920" cy="475900"/>
              </a:xfrm>
              <a:prstGeom prst="rect">
                <a:avLst/>
              </a:prstGeom>
              <a:blipFill>
                <a:blip r:embed="rId3"/>
                <a:stretch>
                  <a:fillRect t="-7692" r="-767" b="-2307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2458B8-FA6A-5BAC-C343-632668BDE59A}"/>
                  </a:ext>
                </a:extLst>
              </p:cNvPr>
              <p:cNvSpPr txBox="1"/>
              <p:nvPr/>
            </p:nvSpPr>
            <p:spPr>
              <a:xfrm>
                <a:off x="1508820" y="2182689"/>
                <a:ext cx="8496944" cy="3813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28600" fontAlgn="base">
                  <a:lnSpc>
                    <a:spcPct val="107000"/>
                  </a:lnSpc>
                  <a:spcBef>
                    <a:spcPts val="600"/>
                  </a:spcBef>
                  <a:spcAft>
                    <a:spcPts val="800"/>
                  </a:spcAft>
                </a:pPr>
                <a:r>
                  <a:rPr lang="he-IL" sz="2400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לפי ההגדרה של סימון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𝛺</m:t>
                    </m:r>
                  </m:oMath>
                </a14:m>
                <a:r>
                  <a:rPr lang="he-IL" sz="2400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 יש להראות כי קיימים קבועים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 &gt; 0</a:t>
                </a:r>
                <a:r>
                  <a:rPr lang="he-IL" sz="2400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 ו-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n</a:t>
                </a:r>
                <a:r>
                  <a:rPr lang="en-U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0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&gt; 0</a:t>
                </a:r>
                <a:r>
                  <a:rPr lang="he-IL" sz="2400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 כך שלכל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n ≥ n</a:t>
                </a:r>
                <a:r>
                  <a:rPr lang="en-U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0 </a:t>
                </a:r>
                <a:r>
                  <a:rPr lang="he-IL" sz="2400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מתקיים אי שוויון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0≤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𝑐𝑛𝑙𝑜𝑔𝑛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≤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3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⋅</m:t>
                    </m:r>
                    <m:func>
                      <m:funcPr>
                        <m:ctrlPr>
                          <a:rPr lang="en-GB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log</m:t>
                        </m:r>
                      </m:fName>
                      <m:e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𝑛</m:t>
                        </m:r>
                      </m:e>
                    </m:func>
                    <m:r>
                      <a:rPr 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+2</m:t>
                    </m:r>
                    <m:r>
                      <a:rPr 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he-IL" sz="2400" dirty="0">
                    <a:solidFill>
                      <a:srgbClr val="000000"/>
                    </a:solidFill>
                    <a:ea typeface="Calibri" panose="020F0502020204030204" pitchFamily="34" charset="0"/>
                  </a:rPr>
                  <a:t>.</a:t>
                </a:r>
              </a:p>
              <a:p>
                <a:pPr marL="228600" fontAlgn="base">
                  <a:lnSpc>
                    <a:spcPct val="107000"/>
                  </a:lnSpc>
                  <a:spcBef>
                    <a:spcPts val="600"/>
                  </a:spcBef>
                  <a:spcAft>
                    <a:spcPts val="800"/>
                  </a:spcAft>
                </a:pPr>
                <a:endParaRPr lang="en-GB" sz="2400" dirty="0">
                  <a:solidFill>
                    <a:srgbClr val="000000"/>
                  </a:solidFill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marL="228600" fontAlgn="base">
                  <a:lnSpc>
                    <a:spcPct val="107000"/>
                  </a:lnSpc>
                  <a:spcBef>
                    <a:spcPts val="60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0≤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𝑐𝑛𝑙𝑜𝑔𝑛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≤</m:t>
                      </m:r>
                      <m: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3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𝑛</m:t>
                      </m:r>
                      <m: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⋅</m:t>
                      </m:r>
                      <m:func>
                        <m:func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log</m:t>
                          </m:r>
                        </m:fName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𝑛</m:t>
                          </m:r>
                        </m:e>
                      </m:func>
                      <m:r>
                        <a:rPr 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+2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0≤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𝑐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≤3+</m:t>
                      </m:r>
                      <m:f>
                        <m:f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2</m:t>
                          </m:r>
                        </m:num>
                        <m:den>
                          <m:func>
                            <m:funcPr>
                              <m:ctrlPr>
                                <a:rPr lang="en-GB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</a:rPr>
                                <m:t>𝑛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he-IL" sz="2400" dirty="0">
                  <a:solidFill>
                    <a:srgbClr val="000000"/>
                  </a:solidFill>
                  <a:ea typeface="Calibri" panose="020F0502020204030204" pitchFamily="34" charset="0"/>
                </a:endParaRPr>
              </a:p>
              <a:p>
                <a:pPr marL="228600" fontAlgn="base">
                  <a:lnSpc>
                    <a:spcPct val="107000"/>
                  </a:lnSpc>
                  <a:spcBef>
                    <a:spcPts val="600"/>
                  </a:spcBef>
                  <a:spcAft>
                    <a:spcPts val="800"/>
                  </a:spcAft>
                </a:pPr>
                <a:endParaRPr lang="en-GB" sz="2400" dirty="0">
                  <a:solidFill>
                    <a:srgbClr val="000000"/>
                  </a:solidFill>
                  <a:ea typeface="Calibri" panose="020F0502020204030204" pitchFamily="34" charset="0"/>
                  <a:cs typeface="Arial" panose="020B0604020202020204" pitchFamily="34" charset="0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</a:rPr>
                  <a:t>ניקח 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c = 3</a:t>
                </a:r>
                <a:r>
                  <a:rPr lang="he-IL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</a:rPr>
                  <a:t> ו-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n</a:t>
                </a:r>
                <a:r>
                  <a:rPr lang="en-US" sz="2400" baseline="-2500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0</a:t>
                </a:r>
                <a:r>
                  <a:rPr lang="en-US" sz="2400" dirty="0">
                    <a:solidFill>
                      <a:srgbClr val="000000"/>
                    </a:solidFill>
                    <a:latin typeface="Arial" panose="020B0604020202020204" pitchFamily="34" charset="0"/>
                    <a:ea typeface="Calibri" panose="020F0502020204030204" pitchFamily="34" charset="0"/>
                    <a:cs typeface="Arial" panose="020B0604020202020204" pitchFamily="34" charset="0"/>
                  </a:rPr>
                  <a:t> = 2</a:t>
                </a:r>
                <a:endParaRPr lang="en-GB" sz="2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2458B8-FA6A-5BAC-C343-632668BDE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820" y="2182689"/>
                <a:ext cx="8496944" cy="3813544"/>
              </a:xfrm>
              <a:prstGeom prst="rect">
                <a:avLst/>
              </a:prstGeom>
              <a:blipFill>
                <a:blip r:embed="rId4"/>
                <a:stretch>
                  <a:fillRect l="-1943" t="-993" r="-1196" b="-264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81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02861" y="432123"/>
            <a:ext cx="6306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/>
              <a:t>שאלה 9 </a:t>
            </a:r>
            <a:r>
              <a:rPr lang="en-US" sz="2800" dirty="0"/>
              <a:t>)</a:t>
            </a:r>
            <a:r>
              <a:rPr lang="he-IL" sz="2800" dirty="0"/>
              <a:t>מבחן ,2018 סמסטר א', מועד ב'</a:t>
            </a:r>
            <a:r>
              <a:rPr lang="en-US" sz="2800" dirty="0"/>
              <a:t>(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341" y="1499537"/>
            <a:ext cx="4166163" cy="3723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91" y="2579094"/>
            <a:ext cx="7575033" cy="1039174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9713831" y="1900245"/>
            <a:ext cx="942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400" dirty="0"/>
              <a:t>פתרון: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216" y="3835452"/>
            <a:ext cx="2029108" cy="2143424"/>
          </a:xfrm>
          <a:prstGeom prst="rect">
            <a:avLst/>
          </a:prstGeom>
          <a:noFill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392" y="4170589"/>
            <a:ext cx="3400900" cy="14670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273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30635" y="432123"/>
            <a:ext cx="15199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/>
              <a:t>שאלה 10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3515761" y="509067"/>
            <a:ext cx="57134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dirty="0"/>
              <a:t>הראה (נוכיח) שלכל קבועים ממשיים </a:t>
            </a:r>
            <a:r>
              <a:rPr lang="en-US" dirty="0"/>
              <a:t>a</a:t>
            </a:r>
            <a:r>
              <a:rPr lang="he-IL" dirty="0"/>
              <a:t> ו-</a:t>
            </a:r>
            <a:r>
              <a:rPr lang="en-US" dirty="0"/>
              <a:t>b</a:t>
            </a:r>
            <a:r>
              <a:rPr lang="he-IL" dirty="0"/>
              <a:t>, כאשר </a:t>
            </a:r>
            <a:r>
              <a:rPr lang="en-US" dirty="0"/>
              <a:t>b&gt;0</a:t>
            </a:r>
            <a:r>
              <a:rPr lang="he-IL" dirty="0"/>
              <a:t> מתקיים: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670" y="1040936"/>
            <a:ext cx="1634624" cy="4250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13200" y="2159561"/>
            <a:ext cx="46217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dirty="0"/>
              <a:t>כלומר צריך למצוא קבועים חיוביים </a:t>
            </a:r>
            <a:r>
              <a:rPr lang="en-US" dirty="0"/>
              <a:t>n</a:t>
            </a:r>
            <a:r>
              <a:rPr lang="he-IL" dirty="0"/>
              <a:t>, </a:t>
            </a: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he-IL" dirty="0"/>
              <a:t>, </a:t>
            </a:r>
            <a:r>
              <a:rPr lang="ru-RU" dirty="0"/>
              <a:t>с</a:t>
            </a:r>
            <a:r>
              <a:rPr lang="ru-RU" baseline="-25000" dirty="0"/>
              <a:t>2</a:t>
            </a:r>
            <a:r>
              <a:rPr lang="he-IL" dirty="0"/>
              <a:t> כך ש: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620" y="1739234"/>
            <a:ext cx="2688885" cy="1269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09883" y="1872126"/>
            <a:ext cx="250587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dirty="0"/>
              <a:t>חלק 1:  </a:t>
            </a:r>
            <a:r>
              <a:rPr lang="en-US" dirty="0"/>
              <a:t>(n + a)</a:t>
            </a:r>
            <a:r>
              <a:rPr lang="en-US" baseline="30000" dirty="0"/>
              <a:t>b</a:t>
            </a:r>
            <a:r>
              <a:rPr lang="en-US" dirty="0"/>
              <a:t> = </a:t>
            </a:r>
            <a:r>
              <a:rPr lang="el-GR" altLang="he-IL" kern="0" dirty="0">
                <a:solidFill>
                  <a:srgbClr val="000000"/>
                </a:solidFill>
                <a:latin typeface="Arial"/>
                <a:cs typeface="Arial"/>
              </a:rPr>
              <a:t>Ω</a:t>
            </a:r>
            <a:r>
              <a:rPr lang="en-US" altLang="he-IL" kern="0" dirty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en-US" altLang="he-IL" kern="0" dirty="0" err="1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lang="en-US" altLang="he-IL" kern="0" baseline="30000" dirty="0" err="1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lang="en-US" altLang="he-IL" kern="0" dirty="0">
                <a:solidFill>
                  <a:srgbClr val="000000"/>
                </a:solidFill>
                <a:latin typeface="Arial"/>
                <a:cs typeface="Arial"/>
              </a:rPr>
              <a:t>)</a:t>
            </a:r>
            <a:r>
              <a:rPr lang="he-IL" dirty="0"/>
              <a:t> </a:t>
            </a:r>
          </a:p>
          <a:p>
            <a:pPr algn="just"/>
            <a:endParaRPr lang="he-IL" dirty="0"/>
          </a:p>
          <a:p>
            <a:pPr algn="just"/>
            <a:r>
              <a:rPr lang="he-IL" dirty="0"/>
              <a:t>חלק 2: </a:t>
            </a:r>
            <a:r>
              <a:rPr lang="en-US" dirty="0"/>
              <a:t>(n + a)</a:t>
            </a:r>
            <a:r>
              <a:rPr lang="en-US" baseline="30000" dirty="0"/>
              <a:t>b</a:t>
            </a:r>
            <a:r>
              <a:rPr lang="en-US" dirty="0"/>
              <a:t> = O (</a:t>
            </a:r>
            <a:r>
              <a:rPr lang="en-US" dirty="0" err="1"/>
              <a:t>n</a:t>
            </a:r>
            <a:r>
              <a:rPr lang="en-US" baseline="30000" dirty="0" err="1"/>
              <a:t>b</a:t>
            </a:r>
            <a:r>
              <a:rPr lang="en-US" dirty="0"/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0406" y="3222515"/>
            <a:ext cx="107068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dirty="0"/>
              <a:t>נתון לנו כי </a:t>
            </a:r>
            <a:r>
              <a:rPr lang="en-US" dirty="0"/>
              <a:t>b&gt;0</a:t>
            </a:r>
            <a:r>
              <a:rPr lang="he-IL" dirty="0"/>
              <a:t> ו </a:t>
            </a:r>
            <a:r>
              <a:rPr lang="en-US" dirty="0"/>
              <a:t>(n + a)&gt;0</a:t>
            </a:r>
            <a:r>
              <a:rPr lang="he-IL" dirty="0"/>
              <a:t> לפי הגדרות פונקציות </a:t>
            </a:r>
            <a:r>
              <a:rPr lang="he-IL" dirty="0" err="1"/>
              <a:t>אסימפטוטיות</a:t>
            </a:r>
            <a:r>
              <a:rPr lang="he-IL" dirty="0"/>
              <a:t>. לכן אם </a:t>
            </a:r>
            <a:r>
              <a:rPr lang="en-US" dirty="0"/>
              <a:t>x &lt; z</a:t>
            </a:r>
            <a:r>
              <a:rPr lang="he-IL" dirty="0"/>
              <a:t> (הם מספרים חיוביים) ואם </a:t>
            </a:r>
            <a:r>
              <a:rPr lang="en-US" dirty="0"/>
              <a:t>z &gt; 0</a:t>
            </a:r>
            <a:r>
              <a:rPr lang="he-IL" dirty="0"/>
              <a:t> אז </a:t>
            </a:r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/>
              <a:t> &lt; z</a:t>
            </a:r>
            <a:r>
              <a:rPr lang="en-US" baseline="30000" dirty="0"/>
              <a:t>2</a:t>
            </a:r>
            <a:r>
              <a:rPr lang="he-IL" dirty="0"/>
              <a:t>.</a:t>
            </a:r>
          </a:p>
          <a:p>
            <a:pPr algn="just"/>
            <a:r>
              <a:rPr lang="he-IL" dirty="0"/>
              <a:t>נדבר על אי שיוון ללא חזקות.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95226" y="4174264"/>
            <a:ext cx="1082546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buAutoNum type="arabicPeriod"/>
            </a:pP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` * n</a:t>
            </a:r>
            <a:r>
              <a:rPr lang="he-IL" dirty="0"/>
              <a:t> </a:t>
            </a:r>
            <a:r>
              <a:rPr lang="en-US" dirty="0"/>
              <a:t>n + a </a:t>
            </a:r>
            <a:r>
              <a:rPr lang="en-US" u="sng" dirty="0"/>
              <a:t>&gt;</a:t>
            </a:r>
            <a:r>
              <a:rPr lang="he-IL" dirty="0"/>
              <a:t> נחלק שני אגפים של אי שוויון ב-</a:t>
            </a:r>
            <a:r>
              <a:rPr lang="en-US" dirty="0"/>
              <a:t>n</a:t>
            </a:r>
            <a:r>
              <a:rPr lang="he-IL" dirty="0"/>
              <a:t>. נקבל: </a:t>
            </a:r>
            <a:r>
              <a:rPr lang="en-US" dirty="0"/>
              <a:t>1 + a/n </a:t>
            </a:r>
            <a:r>
              <a:rPr lang="en-US" u="sng" dirty="0"/>
              <a:t>&gt;</a:t>
            </a:r>
            <a:r>
              <a:rPr lang="en-US" dirty="0"/>
              <a:t> c</a:t>
            </a:r>
            <a:r>
              <a:rPr lang="en-US" baseline="-25000" dirty="0"/>
              <a:t>1</a:t>
            </a:r>
            <a:r>
              <a:rPr lang="en-US" dirty="0"/>
              <a:t>`</a:t>
            </a:r>
            <a:r>
              <a:rPr lang="he-IL" dirty="0"/>
              <a:t>. השבר שואף ל-0 כאשר </a:t>
            </a:r>
            <a:r>
              <a:rPr lang="en-US" dirty="0"/>
              <a:t>n</a:t>
            </a:r>
            <a:r>
              <a:rPr lang="he-IL" dirty="0"/>
              <a:t> הולך וגודל לאינסוף. </a:t>
            </a:r>
          </a:p>
          <a:p>
            <a:pPr algn="just"/>
            <a:r>
              <a:rPr lang="he-IL" dirty="0"/>
              <a:t>לכן, </a:t>
            </a: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` </a:t>
            </a:r>
            <a:r>
              <a:rPr lang="en-US" u="sng" dirty="0"/>
              <a:t>&lt;</a:t>
            </a:r>
            <a:r>
              <a:rPr lang="en-US" dirty="0"/>
              <a:t> 1</a:t>
            </a:r>
            <a:r>
              <a:rPr lang="he-IL" dirty="0"/>
              <a:t> נבחר ערך ½. </a:t>
            </a:r>
          </a:p>
          <a:p>
            <a:pPr algn="just"/>
            <a:endParaRPr lang="he-IL" dirty="0"/>
          </a:p>
          <a:p>
            <a:pPr algn="just"/>
            <a:r>
              <a:rPr lang="he-IL" dirty="0"/>
              <a:t>נעשה חישוב </a:t>
            </a:r>
            <a:r>
              <a:rPr lang="en-US" dirty="0"/>
              <a:t>n</a:t>
            </a:r>
            <a:r>
              <a:rPr lang="en-US" baseline="-25000" dirty="0"/>
              <a:t>0</a:t>
            </a:r>
            <a:r>
              <a:rPr lang="he-IL" dirty="0"/>
              <a:t>.</a:t>
            </a:r>
            <a:endParaRPr lang="en-US" baseline="-250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982" y="4955435"/>
            <a:ext cx="3172268" cy="41915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832" y="4970631"/>
            <a:ext cx="1003641" cy="37760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947331" y="1253534"/>
            <a:ext cx="9428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400" dirty="0"/>
              <a:t>פתרון: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4467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65627" y="432123"/>
            <a:ext cx="24849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/>
              <a:t>המשך שאלה 10</a:t>
            </a: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472134" y="1316764"/>
            <a:ext cx="1082546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buFont typeface="+mj-lt"/>
              <a:buAutoNum type="arabicPeriod" startAt="2"/>
            </a:pP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` * n</a:t>
            </a:r>
            <a:r>
              <a:rPr lang="he-IL" dirty="0"/>
              <a:t> </a:t>
            </a:r>
            <a:r>
              <a:rPr lang="en-US" dirty="0"/>
              <a:t>n + a </a:t>
            </a:r>
            <a:r>
              <a:rPr lang="en-US" u="sng" dirty="0"/>
              <a:t>&lt;</a:t>
            </a:r>
            <a:r>
              <a:rPr lang="he-IL" dirty="0"/>
              <a:t> נחלק שני אגפים של אי שוויון ב-</a:t>
            </a:r>
            <a:r>
              <a:rPr lang="en-US" dirty="0"/>
              <a:t>n</a:t>
            </a:r>
            <a:r>
              <a:rPr lang="he-IL" dirty="0"/>
              <a:t>. נקבל: </a:t>
            </a:r>
            <a:r>
              <a:rPr lang="en-US" dirty="0"/>
              <a:t>1 + a/n </a:t>
            </a:r>
            <a:r>
              <a:rPr lang="en-US" u="sng" dirty="0"/>
              <a:t>&lt;</a:t>
            </a:r>
            <a:r>
              <a:rPr lang="en-US" dirty="0"/>
              <a:t> c</a:t>
            </a:r>
            <a:r>
              <a:rPr lang="en-US" baseline="-25000" dirty="0"/>
              <a:t>2</a:t>
            </a:r>
            <a:r>
              <a:rPr lang="en-US" dirty="0"/>
              <a:t>`</a:t>
            </a:r>
            <a:r>
              <a:rPr lang="he-IL" dirty="0"/>
              <a:t>. השבר שואף ל-0 כאשר </a:t>
            </a:r>
            <a:r>
              <a:rPr lang="en-US" dirty="0"/>
              <a:t>n</a:t>
            </a:r>
            <a:r>
              <a:rPr lang="he-IL" dirty="0"/>
              <a:t> הולך וגודל לאינסוף. </a:t>
            </a:r>
          </a:p>
          <a:p>
            <a:pPr algn="just"/>
            <a:r>
              <a:rPr lang="he-IL" dirty="0"/>
              <a:t>לכן, </a:t>
            </a: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/>
              <a:t>` </a:t>
            </a:r>
            <a:r>
              <a:rPr lang="en-US" u="sng" dirty="0"/>
              <a:t>&gt;</a:t>
            </a:r>
            <a:r>
              <a:rPr lang="en-US"/>
              <a:t> </a:t>
            </a:r>
            <a:r>
              <a:rPr lang="en-US" dirty="0"/>
              <a:t>1</a:t>
            </a:r>
            <a:r>
              <a:rPr lang="he-IL" dirty="0"/>
              <a:t> נבחר ערך </a:t>
            </a:r>
            <a:r>
              <a:rPr lang="en-US" dirty="0"/>
              <a:t>2</a:t>
            </a:r>
            <a:r>
              <a:rPr lang="he-IL" dirty="0"/>
              <a:t>. </a:t>
            </a:r>
          </a:p>
          <a:p>
            <a:pPr algn="just"/>
            <a:endParaRPr lang="he-IL" dirty="0"/>
          </a:p>
          <a:p>
            <a:pPr algn="just"/>
            <a:r>
              <a:rPr lang="he-IL" dirty="0"/>
              <a:t>נעשה חישוב </a:t>
            </a:r>
            <a:r>
              <a:rPr lang="en-US" dirty="0"/>
              <a:t>n</a:t>
            </a:r>
            <a:r>
              <a:rPr lang="en-US" baseline="-25000" dirty="0"/>
              <a:t>0</a:t>
            </a:r>
            <a:r>
              <a:rPr lang="he-IL" dirty="0"/>
              <a:t>.</a:t>
            </a:r>
            <a:endParaRPr lang="en-US" baseline="-25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632" y="2116987"/>
            <a:ext cx="3191320" cy="40010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17936" y="2916994"/>
            <a:ext cx="49375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he-IL" dirty="0"/>
              <a:t>כיוון ש – </a:t>
            </a:r>
            <a:r>
              <a:rPr lang="en-US" dirty="0"/>
              <a:t>b &gt; 0</a:t>
            </a:r>
            <a:r>
              <a:rPr lang="he-IL" dirty="0"/>
              <a:t> אי שיוון נשמר אם נעלה בחזקה של </a:t>
            </a:r>
            <a:r>
              <a:rPr lang="en-US" dirty="0"/>
              <a:t>b</a:t>
            </a:r>
            <a:r>
              <a:rPr lang="he-IL" dirty="0"/>
              <a:t>: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841" y="3389231"/>
            <a:ext cx="4020111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54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диаграмма, линия, График&#10;&#10;Автоматически созданное описание">
            <a:extLst>
              <a:ext uri="{FF2B5EF4-FFF2-40B4-BE49-F238E27FC236}">
                <a16:creationId xmlns:a16="http://schemas.microsoft.com/office/drawing/2014/main" id="{6C545AD0-B117-68FC-330A-54121E550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794" y="2310023"/>
            <a:ext cx="2050461" cy="1565185"/>
          </a:xfrm>
          <a:prstGeom prst="rect">
            <a:avLst/>
          </a:prstGeom>
        </p:spPr>
      </p:pic>
      <p:pic>
        <p:nvPicPr>
          <p:cNvPr id="5" name="Рисунок 4" descr="Изображение выглядит как диаграмма, линия, График&#10;&#10;Автоматически созданное описание">
            <a:extLst>
              <a:ext uri="{FF2B5EF4-FFF2-40B4-BE49-F238E27FC236}">
                <a16:creationId xmlns:a16="http://schemas.microsoft.com/office/drawing/2014/main" id="{ED711952-3743-50DB-4E40-ECE8AAC0B3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31" y="353897"/>
            <a:ext cx="2106989" cy="1608335"/>
          </a:xfrm>
          <a:prstGeom prst="rect">
            <a:avLst/>
          </a:prstGeom>
        </p:spPr>
      </p:pic>
      <p:pic>
        <p:nvPicPr>
          <p:cNvPr id="7" name="Рисунок 6" descr="Изображение выглядит как диаграмма, линия, График&#10;&#10;Автоматически созданное описание">
            <a:extLst>
              <a:ext uri="{FF2B5EF4-FFF2-40B4-BE49-F238E27FC236}">
                <a16:creationId xmlns:a16="http://schemas.microsoft.com/office/drawing/2014/main" id="{2F11DD01-093E-2E32-100E-22EE03F794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31" y="4222999"/>
            <a:ext cx="2106989" cy="16083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C0329E-F7FF-E4C4-CFDB-D9028200FBE0}"/>
              </a:ext>
            </a:extLst>
          </p:cNvPr>
          <p:cNvSpPr txBox="1"/>
          <p:nvPr/>
        </p:nvSpPr>
        <p:spPr>
          <a:xfrm>
            <a:off x="2302043" y="482405"/>
            <a:ext cx="63907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1600" dirty="0"/>
              <a:t>O (g(n)) = {f(n): there exist positive constants c and n0 such that f(n) ≤ c*g(n) for all n ≥ n0}. </a:t>
            </a:r>
          </a:p>
          <a:p>
            <a:pPr algn="l" rtl="0"/>
            <a:endParaRPr lang="en-US" sz="1600" dirty="0"/>
          </a:p>
          <a:p>
            <a:pPr algn="just" rtl="0"/>
            <a:r>
              <a:rPr lang="en-US" sz="1600" dirty="0"/>
              <a:t>This means that, f(n) = O(g(n)), If there are positive constants n0 and c such that, to the right of n0 the f(n) always lies on or below c*g(n).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DDFB96-9379-DC3D-5248-0A2C8FBC97E2}"/>
              </a:ext>
            </a:extLst>
          </p:cNvPr>
          <p:cNvSpPr txBox="1"/>
          <p:nvPr/>
        </p:nvSpPr>
        <p:spPr>
          <a:xfrm>
            <a:off x="2302041" y="4261674"/>
            <a:ext cx="639077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1600" dirty="0"/>
              <a:t>Θ (g(n)) = {f(n): there exist positive constants c1, c2 and n0 such that 0 ≤ c1*g(n) ≤ f(n) ≤ c2*g(n) for all n ≥ n0}. </a:t>
            </a:r>
          </a:p>
          <a:p>
            <a:pPr algn="l" rtl="0"/>
            <a:endParaRPr lang="en-US" sz="1600" dirty="0"/>
          </a:p>
          <a:p>
            <a:pPr algn="just" rtl="0"/>
            <a:r>
              <a:rPr lang="en-US" sz="1600" dirty="0"/>
              <a:t>This means that, f(n) = Θ(g(n)), If there are positive constants n0 and c such that, to the right of n0 the f(n) always lies on or above c1*g(n) and below c2*g(n).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DBDD18-96BD-2E83-A709-9FB775E14D3C}"/>
              </a:ext>
            </a:extLst>
          </p:cNvPr>
          <p:cNvSpPr txBox="1"/>
          <p:nvPr/>
        </p:nvSpPr>
        <p:spPr>
          <a:xfrm>
            <a:off x="2302042" y="2392977"/>
            <a:ext cx="63907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>
              <a:buFont typeface="Arial" panose="020B0604020202020204" pitchFamily="34" charset="0"/>
              <a:buChar char="•"/>
            </a:pPr>
            <a:r>
              <a:rPr lang="en-US" sz="1600" dirty="0"/>
              <a:t>Ω (g(n)) = {f(n): there exist positive constants c and n0 such that 0 ≤ c*g(n) ≤ f(n) for all n ≥ n0}. </a:t>
            </a:r>
          </a:p>
          <a:p>
            <a:pPr algn="just" rtl="0"/>
            <a:endParaRPr lang="en-US" sz="1600" dirty="0"/>
          </a:p>
          <a:p>
            <a:pPr algn="just" rtl="0"/>
            <a:r>
              <a:rPr lang="en-US" sz="1600" dirty="0"/>
              <a:t>This means that, f(n) = Ω(g(n)), If there are positive constants n0 and c such that, to the right of n0 the f(n) always lies on or above c*g(n).</a:t>
            </a:r>
          </a:p>
        </p:txBody>
      </p:sp>
    </p:spTree>
    <p:extLst>
      <p:ext uri="{BB962C8B-B14F-4D97-AF65-F5344CB8AC3E}">
        <p14:creationId xmlns:p14="http://schemas.microsoft.com/office/powerpoint/2010/main" val="2220927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906914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2095</Words>
  <Application>Microsoft Macintosh PowerPoint</Application>
  <PresentationFormat>Widescreen</PresentationFormat>
  <Paragraphs>166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Garamond</vt:lpstr>
      <vt:lpstr>Söhne</vt:lpstr>
      <vt:lpstr>Wingdings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Shiran Mor</dc:creator>
  <cp:lastModifiedBy>Genady Kogan</cp:lastModifiedBy>
  <cp:revision>37</cp:revision>
  <dcterms:created xsi:type="dcterms:W3CDTF">2023-05-03T06:41:59Z</dcterms:created>
  <dcterms:modified xsi:type="dcterms:W3CDTF">2025-11-03T11:19:24Z</dcterms:modified>
</cp:coreProperties>
</file>