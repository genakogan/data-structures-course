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61" r:id="rId3"/>
    <p:sldId id="260" r:id="rId4"/>
    <p:sldId id="263" r:id="rId5"/>
    <p:sldId id="258" r:id="rId6"/>
    <p:sldId id="264" r:id="rId7"/>
    <p:sldId id="265" r:id="rId8"/>
    <p:sldId id="266" r:id="rId9"/>
    <p:sldId id="269" r:id="rId10"/>
    <p:sldId id="272" r:id="rId11"/>
    <p:sldId id="271" r:id="rId12"/>
    <p:sldId id="270" r:id="rId13"/>
    <p:sldId id="268" r:id="rId14"/>
    <p:sldId id="278" r:id="rId15"/>
    <p:sldId id="279" r:id="rId16"/>
    <p:sldId id="280" r:id="rId17"/>
    <p:sldId id="281" r:id="rId18"/>
    <p:sldId id="282" r:id="rId19"/>
    <p:sldId id="275" r:id="rId20"/>
    <p:sldId id="276" r:id="rId21"/>
    <p:sldId id="283" r:id="rId22"/>
    <p:sldId id="274" r:id="rId23"/>
    <p:sldId id="277" r:id="rId24"/>
    <p:sldId id="259" r:id="rId2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7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0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E074A9-18FF-057D-F05D-042F5C0A9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F0D644C-F3E3-BD2F-EE1F-580F445D8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0E0A08B-E6DC-C4A0-6B42-5418EAA0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22A948C-9F2C-CFE6-28E0-56D06D15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026365-88E1-FBD8-E2CC-7A99634E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68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ADB872-81BA-4A65-3CC3-7AEA7F22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B1F9213-4F2E-4B59-FECF-A957D7946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B87B483-D662-5C2B-CD81-7F1379CA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0F2346A-1B0F-731C-65CD-9E96D8C0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93FEE12-59DA-5A46-91CE-B83BCDEF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114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39C4DE-D944-62DB-0240-D155B157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AF7165A-985F-8D08-7213-2DAF84DED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E57341C-590C-9985-F610-BFA49726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9A9292-2C7A-6093-AAFC-5EC56594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C0FF911-4D0D-4A09-4BC2-18CEB511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517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621B93-B9DD-5DBC-BAFC-5A5F875B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01AF364-447E-92A8-0E33-C56792036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C8858D1-3087-D5DF-8CEC-1507EDC85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4105F33-2C61-5220-A792-DB312621E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F040669-07F4-D987-6C83-14AE6C04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FBB2D4-93C6-5EAF-20E0-221DC814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549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251DA4-910A-46BD-9350-1201D054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B18A0DE-47EA-1C10-F99C-758614A8E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0FEEE1D-B7ED-94F5-6C0E-AC15E7FAC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1736B8A-B6BD-6AC2-8EC8-201760A67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404B3A3-00F4-8263-744E-ACB233F4B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0D7D250-66B2-7BAD-545B-F2AD94E7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4C93965-E5D8-6DEE-7CD4-6902B712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7DF1625-93F0-0584-3430-1960AA24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839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FFC858-717E-CA40-A332-965FDAA2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07A6D15-A8AD-D488-D300-792FD013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8056466-23EE-B77B-DF6C-6536CA06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57BC434-4B3A-8314-BA9C-212174E8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226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4A2BB1F-2FD8-DAE5-B907-07600C45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3A90861-3A05-ED04-CD0F-D5C11389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046F814-DAF8-64B2-E81B-7FE737DF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9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981722-ABF2-8DA3-CE28-05B1D8AB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4C74908-C053-E82A-A7F3-864486ACD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358DDC8-C16B-F0E4-D63D-24A9CB76D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B1E7A43-8C2A-FBFA-AC45-DBFDB8E6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647E2E2-FBCD-FC48-DBDD-2557735E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581F39D-7913-CEDE-EC9C-64C02B38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835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A2AC94-98C9-55F3-35EE-A800446D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CA953A0-8981-0422-8BCE-E72DB9FD8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6470043-B00B-BD55-CABA-22282225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D6B64D2-9762-8937-398F-357DEEF7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177BF27-96D7-69E6-1C1B-962CD16C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94EAC9D-D382-CAAF-E990-0C96974C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7127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188E2A-F9CB-2495-FE75-769EF70D6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1ED5B71-5A46-C065-267F-8CE2DA1B9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F1EA9F-A944-7167-849B-01E43F126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6A83FA1-C0CC-D4A2-9672-9831CA7C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0F531A-E76A-3772-9399-F95FE847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436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853DFCF-CB4E-698C-7AB5-074868693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B110915-A2E3-7238-1024-4AFABDCC1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34730C0-0255-5DA8-E708-BBEA316C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4241A22-2BD6-3BEA-8C27-0FE8CB67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923376-DC13-4788-9243-E17EA1EC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499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C44265B-043F-1F07-3CAB-932E925B7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7F7F275-8CE0-1ACF-B76A-589480F29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03EBD0-0AD0-F437-0377-5282F4A62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D9C55-7868-4FF1-8666-2EC1F88A96B2}" type="datetimeFigureOut">
              <a:rPr lang="he-IL" smtClean="0"/>
              <a:t>ה'.חשון.תשפ"ו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38DA500-A716-7804-01EC-82DBC212E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E65C948-B680-D4A3-8DE9-330AB8B22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076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how-to-write-a-pseudo-code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hyperlink" Target="https://stackoverflow.com/questions/2095395/is-logn-%CE%98n-logn" TargetMode="External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2095395/is-logn-%CE%98n-logn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3174" y="1001466"/>
            <a:ext cx="37540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01-Algorithms+RunningTime</a:t>
            </a:r>
          </a:p>
        </p:txBody>
      </p:sp>
    </p:spTree>
    <p:extLst>
      <p:ext uri="{BB962C8B-B14F-4D97-AF65-F5344CB8AC3E}">
        <p14:creationId xmlns:p14="http://schemas.microsoft.com/office/powerpoint/2010/main" val="296154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98475" y="1255208"/>
            <a:ext cx="63145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3200" dirty="0">
                <a:latin typeface="ArialMT"/>
              </a:rPr>
              <a:t>אלגוריתם</a:t>
            </a:r>
            <a:endParaRPr lang="en-US" sz="3200" dirty="0">
              <a:latin typeface="ArialMT"/>
            </a:endParaRPr>
          </a:p>
          <a:p>
            <a:pPr algn="ctr"/>
            <a:endParaRPr lang="he-IL" sz="3200" dirty="0">
              <a:latin typeface="ArialMT"/>
            </a:endParaRPr>
          </a:p>
          <a:p>
            <a:pPr algn="just"/>
            <a:r>
              <a:rPr lang="he-IL" sz="2000" dirty="0">
                <a:latin typeface="ArialMT"/>
              </a:rPr>
              <a:t>אלגוריתם הוא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e-IL" sz="2000" dirty="0">
                <a:latin typeface="ArialMT"/>
              </a:rPr>
              <a:t>דרך לביצוע משימה מסוימת במספר סופי של צעדים</a:t>
            </a:r>
            <a:endParaRPr lang="en-US" sz="2000" dirty="0">
              <a:latin typeface="ArialMT"/>
            </a:endParaRPr>
          </a:p>
          <a:p>
            <a:pPr algn="just"/>
            <a:endParaRPr lang="he-IL" sz="2000" dirty="0">
              <a:latin typeface="ArialM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e-IL" sz="2000" dirty="0">
                <a:latin typeface="ArialMT"/>
              </a:rPr>
              <a:t>סדרה סופית של הוראות חד משמעיות לביצוע, כך שעבור כל קלט חוקי</a:t>
            </a:r>
            <a:r>
              <a:rPr lang="en-US" sz="2000" dirty="0">
                <a:latin typeface="ArialMT"/>
              </a:rPr>
              <a:t> </a:t>
            </a:r>
            <a:r>
              <a:rPr lang="he-IL" sz="2000" dirty="0">
                <a:latin typeface="ArialMT"/>
              </a:rPr>
              <a:t>יתקבל הפלט הרצוי.</a:t>
            </a:r>
            <a:endParaRPr lang="en-US" sz="2000" dirty="0">
              <a:latin typeface="ArialM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he-IL" sz="2000" dirty="0">
              <a:latin typeface="ArialM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e-IL" sz="2000" dirty="0">
                <a:latin typeface="ArialMT"/>
              </a:rPr>
              <a:t>אלגוריתם נכון :</a:t>
            </a:r>
            <a:endParaRPr lang="en-US" sz="2000" dirty="0">
              <a:latin typeface="ArialMT"/>
            </a:endParaRPr>
          </a:p>
          <a:p>
            <a:pPr algn="just"/>
            <a:r>
              <a:rPr lang="he-IL" sz="2000" dirty="0">
                <a:latin typeface="ArialMT"/>
              </a:rPr>
              <a:t>אם עבור כל מופע </a:t>
            </a:r>
            <a:r>
              <a:rPr lang="he-IL" sz="2000" b="1" dirty="0">
                <a:latin typeface="Arial-BoldMT"/>
              </a:rPr>
              <a:t>קלט</a:t>
            </a:r>
            <a:r>
              <a:rPr lang="he-IL" sz="2000" dirty="0">
                <a:latin typeface="ArialMT"/>
              </a:rPr>
              <a:t>, הוא עוצר עם </a:t>
            </a:r>
            <a:r>
              <a:rPr lang="he-IL" sz="2000" b="1" dirty="0">
                <a:latin typeface="Arial-BoldMT"/>
              </a:rPr>
              <a:t>הפלט </a:t>
            </a:r>
            <a:r>
              <a:rPr lang="he-IL" sz="2000" dirty="0">
                <a:latin typeface="ArialMT"/>
              </a:rPr>
              <a:t>הנכון.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121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96242" y="1295848"/>
            <a:ext cx="6096000" cy="38472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he-IL" sz="3200" dirty="0">
                <a:latin typeface="ArialMT"/>
              </a:rPr>
              <a:t>פיתוח אלגוריתמי</a:t>
            </a:r>
            <a:endParaRPr lang="en-US" sz="3200" dirty="0">
              <a:latin typeface="ArialMT"/>
            </a:endParaRPr>
          </a:p>
          <a:p>
            <a:pPr algn="ctr"/>
            <a:endParaRPr lang="he-IL" sz="3200" dirty="0"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ArialMT"/>
              </a:rPr>
              <a:t>בתהליך הפיתוח האלגוריתמי חשוב לפשט את הבעיה שעבורה נדרש הפתרון</a:t>
            </a:r>
            <a:r>
              <a:rPr lang="en-US" sz="2000" dirty="0">
                <a:latin typeface="ArialMT"/>
              </a:rPr>
              <a:t> </a:t>
            </a:r>
            <a:r>
              <a:rPr lang="he-IL" sz="2000" dirty="0">
                <a:latin typeface="ArialMT"/>
              </a:rPr>
              <a:t>האלגוריתמי לרמת הפישוט הנמוכה ביותר.</a:t>
            </a:r>
            <a:endParaRPr lang="en-US" sz="2000" dirty="0"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dirty="0"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ArialMT"/>
              </a:rPr>
              <a:t>נכתוב אלגוריתמים בסיסיים פשוטים ובהירים, המקלים על בדיקה שלהם,</a:t>
            </a:r>
            <a:r>
              <a:rPr lang="en-US" sz="2000" dirty="0">
                <a:latin typeface="ArialMT"/>
              </a:rPr>
              <a:t> </a:t>
            </a:r>
            <a:r>
              <a:rPr lang="he-IL" sz="2000" dirty="0">
                <a:latin typeface="ArialMT"/>
              </a:rPr>
              <a:t>תחזוקתם ועדכון שלהם במידת הצורך.</a:t>
            </a:r>
            <a:endParaRPr lang="en-US" sz="2000" dirty="0"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dirty="0"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ArialMT"/>
              </a:rPr>
              <a:t>הפתרון המלא מורכב בסופו מאוסף האלגוריתמים בסיסיים שכתבנו.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32768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39472" y="608215"/>
            <a:ext cx="439947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3200" dirty="0">
                <a:latin typeface="ArialMT"/>
              </a:rPr>
              <a:t>ייצוג אלגוריתמים</a:t>
            </a:r>
            <a:endParaRPr lang="en-US" sz="3200" dirty="0">
              <a:latin typeface="ArialMT"/>
            </a:endParaRPr>
          </a:p>
          <a:p>
            <a:pPr algn="ctr"/>
            <a:endParaRPr lang="he-IL" sz="3200" dirty="0">
              <a:latin typeface="ArialMT"/>
            </a:endParaRPr>
          </a:p>
          <a:p>
            <a:pPr algn="just"/>
            <a:r>
              <a:rPr lang="he-IL" dirty="0">
                <a:latin typeface="Arial-BoldMT"/>
              </a:rPr>
              <a:t>קיימות 3 שיטות נפוצות לייצוג אלגוריתמים: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e-IL" dirty="0">
                <a:latin typeface="Arial-BoldMT"/>
              </a:rPr>
              <a:t>תרשים זרימה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e-IL" dirty="0">
                <a:latin typeface="Arial-BoldMT"/>
              </a:rPr>
              <a:t>ייצוג מילולי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e-IL" dirty="0" err="1">
                <a:latin typeface="Arial-BoldMT"/>
              </a:rPr>
              <a:t>פסאודו</a:t>
            </a:r>
            <a:r>
              <a:rPr lang="he-IL" dirty="0">
                <a:latin typeface="Arial-BoldMT"/>
              </a:rPr>
              <a:t> קוד </a:t>
            </a:r>
            <a:r>
              <a:rPr lang="en-US" dirty="0">
                <a:latin typeface="Arial-BoldMT"/>
              </a:rPr>
              <a:t>(</a:t>
            </a:r>
            <a:r>
              <a:rPr lang="en-US" dirty="0">
                <a:latin typeface="Arial-BoldMT"/>
                <a:hlinkClick r:id="rId3"/>
              </a:rPr>
              <a:t>Pseudo code</a:t>
            </a:r>
            <a:r>
              <a:rPr lang="en-US" dirty="0">
                <a:latin typeface="Arial-BoldMT"/>
              </a:rPr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18" y="1868372"/>
            <a:ext cx="2398607" cy="4151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31487" y="3033520"/>
            <a:ext cx="281221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en-US" sz="1600" b="1" dirty="0">
                <a:latin typeface="Arial-BoldMT"/>
              </a:rPr>
              <a:t>Pseudo code example</a:t>
            </a:r>
          </a:p>
          <a:p>
            <a:pPr algn="l" rtl="0"/>
            <a:endParaRPr lang="en-US" sz="1600" dirty="0">
              <a:latin typeface="ArialMT"/>
            </a:endParaRPr>
          </a:p>
          <a:p>
            <a:pPr algn="l" rtl="0"/>
            <a:r>
              <a:rPr lang="en-US" sz="1600" dirty="0" err="1">
                <a:latin typeface="ArialMT"/>
              </a:rPr>
              <a:t>Max_Search</a:t>
            </a:r>
            <a:r>
              <a:rPr lang="en-US" sz="1600" dirty="0">
                <a:latin typeface="ArialMT"/>
              </a:rPr>
              <a:t> (A[ 1 n]):</a:t>
            </a:r>
          </a:p>
          <a:p>
            <a:pPr algn="l" rtl="0"/>
            <a:r>
              <a:rPr lang="en-US" sz="1600" dirty="0">
                <a:latin typeface="ArialMT"/>
              </a:rPr>
              <a:t>        max &lt;- A[1]</a:t>
            </a:r>
          </a:p>
          <a:p>
            <a:pPr algn="l" rtl="0"/>
            <a:r>
              <a:rPr lang="en-US" sz="1600" dirty="0">
                <a:latin typeface="ArialMT"/>
              </a:rPr>
              <a:t>        for I &lt;- 2 to n:</a:t>
            </a:r>
          </a:p>
          <a:p>
            <a:pPr algn="l" rtl="0"/>
            <a:r>
              <a:rPr lang="en-US" sz="1600" dirty="0">
                <a:latin typeface="ArialMT"/>
              </a:rPr>
              <a:t>                if A[</a:t>
            </a:r>
            <a:r>
              <a:rPr lang="en-US" sz="1600" dirty="0" err="1">
                <a:latin typeface="ArialMT"/>
              </a:rPr>
              <a:t>i</a:t>
            </a:r>
            <a:r>
              <a:rPr lang="en-US" sz="1600" dirty="0">
                <a:latin typeface="ArialMT"/>
              </a:rPr>
              <a:t>] &gt; max:</a:t>
            </a:r>
          </a:p>
          <a:p>
            <a:pPr algn="l" rtl="0"/>
            <a:r>
              <a:rPr lang="en-US" sz="1600" dirty="0">
                <a:latin typeface="ArialMT"/>
              </a:rPr>
              <a:t>                        max &lt;- A[</a:t>
            </a:r>
            <a:r>
              <a:rPr lang="en-US" sz="1600" dirty="0" err="1">
                <a:latin typeface="ArialMT"/>
              </a:rPr>
              <a:t>i</a:t>
            </a:r>
            <a:r>
              <a:rPr lang="en-US" sz="1600" dirty="0">
                <a:latin typeface="ArialMT"/>
              </a:rPr>
              <a:t>]</a:t>
            </a:r>
          </a:p>
          <a:p>
            <a:pPr algn="l" rtl="0"/>
            <a:r>
              <a:rPr lang="en-US" sz="1600" dirty="0">
                <a:latin typeface="ArialMT"/>
              </a:rPr>
              <a:t>        return max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160098" y="2925236"/>
            <a:ext cx="55733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 fontAlgn="base"/>
            <a:r>
              <a:rPr lang="en-US" b="1" dirty="0">
                <a:latin typeface="Nunito"/>
              </a:rPr>
              <a:t>Verbal representation example</a:t>
            </a:r>
          </a:p>
          <a:p>
            <a:pPr algn="ctr" rtl="0" fontAlgn="base"/>
            <a:endParaRPr lang="en-US" b="1" dirty="0">
              <a:latin typeface="Nunito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dirty="0">
                <a:latin typeface="Nunito"/>
              </a:rPr>
              <a:t>Create a local variable </a:t>
            </a:r>
            <a:r>
              <a:rPr lang="en-US" b="1" dirty="0">
                <a:latin typeface="Nunito"/>
              </a:rPr>
              <a:t>max</a:t>
            </a:r>
            <a:r>
              <a:rPr lang="en-US" dirty="0">
                <a:latin typeface="Nunito"/>
              </a:rPr>
              <a:t> and initiate it to </a:t>
            </a:r>
            <a:r>
              <a:rPr lang="en-US" b="1" dirty="0" err="1">
                <a:latin typeface="Nunito"/>
              </a:rPr>
              <a:t>arr</a:t>
            </a:r>
            <a:r>
              <a:rPr lang="en-US" b="1" dirty="0">
                <a:latin typeface="Nunito"/>
              </a:rPr>
              <a:t>[0]</a:t>
            </a:r>
            <a:r>
              <a:rPr lang="en-US" dirty="0">
                <a:latin typeface="Nunito"/>
              </a:rPr>
              <a:t> to store the maximum among the list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dirty="0">
                <a:latin typeface="Nunito"/>
              </a:rPr>
              <a:t>Iterate over the array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dirty="0">
                <a:latin typeface="Nunito"/>
              </a:rPr>
              <a:t>Compare</a:t>
            </a:r>
            <a:r>
              <a:rPr lang="en-US" b="1" dirty="0">
                <a:latin typeface="Nunito"/>
              </a:rPr>
              <a:t> </a:t>
            </a:r>
            <a:r>
              <a:rPr lang="en-US" b="1" dirty="0" err="1">
                <a:latin typeface="Nunito"/>
              </a:rPr>
              <a:t>arr</a:t>
            </a:r>
            <a:r>
              <a:rPr lang="en-US" b="1" dirty="0">
                <a:latin typeface="Nunito"/>
              </a:rPr>
              <a:t>[</a:t>
            </a:r>
            <a:r>
              <a:rPr lang="en-US" b="1" dirty="0" err="1">
                <a:latin typeface="Nunito"/>
              </a:rPr>
              <a:t>i</a:t>
            </a:r>
            <a:r>
              <a:rPr lang="en-US" b="1" dirty="0">
                <a:latin typeface="Nunito"/>
              </a:rPr>
              <a:t>] </a:t>
            </a:r>
            <a:r>
              <a:rPr lang="en-US" dirty="0">
                <a:latin typeface="Nunito"/>
              </a:rPr>
              <a:t>with </a:t>
            </a:r>
            <a:r>
              <a:rPr lang="en-US" b="1" dirty="0">
                <a:latin typeface="Nunito"/>
              </a:rPr>
              <a:t>max</a:t>
            </a:r>
            <a:r>
              <a:rPr lang="en-US" dirty="0">
                <a:latin typeface="Nunito"/>
              </a:rPr>
              <a:t>.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dirty="0">
                <a:latin typeface="Nunito"/>
              </a:rPr>
              <a:t>If </a:t>
            </a:r>
            <a:r>
              <a:rPr lang="en-US" b="1" dirty="0" err="1">
                <a:latin typeface="Nunito"/>
              </a:rPr>
              <a:t>arr</a:t>
            </a:r>
            <a:r>
              <a:rPr lang="en-US" b="1" dirty="0">
                <a:latin typeface="Nunito"/>
              </a:rPr>
              <a:t>[</a:t>
            </a:r>
            <a:r>
              <a:rPr lang="en-US" b="1" dirty="0" err="1">
                <a:latin typeface="Nunito"/>
              </a:rPr>
              <a:t>i</a:t>
            </a:r>
            <a:r>
              <a:rPr lang="en-US" b="1" dirty="0">
                <a:latin typeface="Nunito"/>
              </a:rPr>
              <a:t>] &gt; max</a:t>
            </a:r>
            <a:r>
              <a:rPr lang="en-US" dirty="0">
                <a:latin typeface="Nunito"/>
              </a:rPr>
              <a:t>, update </a:t>
            </a:r>
            <a:r>
              <a:rPr lang="en-US" b="1" dirty="0">
                <a:latin typeface="Nunito"/>
              </a:rPr>
              <a:t>max = </a:t>
            </a:r>
            <a:r>
              <a:rPr lang="en-US" b="1" dirty="0" err="1">
                <a:latin typeface="Nunito"/>
              </a:rPr>
              <a:t>arr</a:t>
            </a:r>
            <a:r>
              <a:rPr lang="en-US" b="1" dirty="0">
                <a:latin typeface="Nunito"/>
              </a:rPr>
              <a:t>[</a:t>
            </a:r>
            <a:r>
              <a:rPr lang="en-US" b="1" dirty="0" err="1">
                <a:latin typeface="Nunito"/>
              </a:rPr>
              <a:t>i</a:t>
            </a:r>
            <a:r>
              <a:rPr lang="en-US" b="1" dirty="0">
                <a:latin typeface="Nunito"/>
              </a:rPr>
              <a:t>]</a:t>
            </a:r>
            <a:r>
              <a:rPr lang="en-US" dirty="0">
                <a:latin typeface="Nunito"/>
              </a:rPr>
              <a:t>.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dirty="0">
                <a:latin typeface="Nunito"/>
              </a:rPr>
              <a:t>Increment</a:t>
            </a:r>
            <a:r>
              <a:rPr lang="en-US" b="1" dirty="0">
                <a:latin typeface="Nunito"/>
              </a:rPr>
              <a:t> </a:t>
            </a:r>
            <a:r>
              <a:rPr lang="en-US" b="1" dirty="0" err="1">
                <a:latin typeface="Nunito"/>
              </a:rPr>
              <a:t>i</a:t>
            </a:r>
            <a:r>
              <a:rPr lang="en-US" dirty="0">
                <a:latin typeface="Nunito"/>
              </a:rPr>
              <a:t> once.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dirty="0">
                <a:latin typeface="Nunito"/>
              </a:rPr>
              <a:t>After the iteration is over, return </a:t>
            </a:r>
            <a:r>
              <a:rPr lang="en-US" b="1" dirty="0">
                <a:latin typeface="Nunito"/>
              </a:rPr>
              <a:t>max</a:t>
            </a:r>
            <a:r>
              <a:rPr lang="en-US" dirty="0">
                <a:latin typeface="Nunito"/>
              </a:rPr>
              <a:t> as the required answer.</a:t>
            </a:r>
            <a:endParaRPr lang="en-US" b="0" i="0" dirty="0">
              <a:effectLst/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354470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65" y="4132012"/>
            <a:ext cx="3376291" cy="19499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84597" y="642848"/>
            <a:ext cx="707078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3200" dirty="0">
                <a:latin typeface="ArialMT"/>
              </a:rPr>
              <a:t>זמן ריצה של אלגוריתם</a:t>
            </a:r>
            <a:endParaRPr lang="en-US" sz="3200" dirty="0">
              <a:latin typeface="ArialMT"/>
            </a:endParaRPr>
          </a:p>
          <a:p>
            <a:pPr algn="ctr"/>
            <a:endParaRPr lang="en-US" sz="3200" dirty="0">
              <a:latin typeface="ArialM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e-IL" dirty="0">
                <a:latin typeface="ArialMT"/>
              </a:rPr>
              <a:t>זמן הריצה של אלגוריתם הוא הערכה על מספר הפעולות האטומיות שמבצע האלגוריתם כפונקציה של גודל הקלט.</a:t>
            </a:r>
            <a:endParaRPr lang="en-US" dirty="0">
              <a:latin typeface="ArialM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rialM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e-IL" dirty="0">
                <a:latin typeface="ArialMT"/>
              </a:rPr>
              <a:t>זמן הריצה לא נבחן ביחידות זמן של דקות, שניות וכדומה מכוון</a:t>
            </a:r>
            <a:r>
              <a:rPr lang="en-US" dirty="0">
                <a:latin typeface="ArialMT"/>
              </a:rPr>
              <a:t> </a:t>
            </a:r>
            <a:r>
              <a:rPr lang="he-IL" dirty="0">
                <a:latin typeface="ArialMT"/>
              </a:rPr>
              <a:t>שמשך הזמן לביצוע פעולה תלוי במחשב שעליו האלגוריתם רץ.</a:t>
            </a:r>
            <a:endParaRPr lang="en-US" dirty="0">
              <a:latin typeface="ArialM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rialM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e-IL" dirty="0">
                <a:latin typeface="ArialMT"/>
              </a:rPr>
              <a:t>ולכן בניתוח זמן הריצה של האלגוריתם מתייחסים לסדרי גודל ומתעלם</a:t>
            </a:r>
            <a:r>
              <a:rPr lang="en-US" dirty="0">
                <a:latin typeface="ArialMT"/>
              </a:rPr>
              <a:t> </a:t>
            </a:r>
            <a:r>
              <a:rPr lang="he-IL" dirty="0">
                <a:latin typeface="ArialMT"/>
              </a:rPr>
              <a:t>מקבועים</a:t>
            </a:r>
            <a:r>
              <a:rPr lang="en-US" dirty="0">
                <a:latin typeface="ArialM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67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006" y="471053"/>
            <a:ext cx="4190212" cy="550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43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94385" y="2502401"/>
            <a:ext cx="3206151" cy="2131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task1 (n):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while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≤ n do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sum +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+ 1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305684" y="837565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005306" y="2502401"/>
            <a:ext cx="230037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nn-NO" sz="2000" dirty="0">
                <a:latin typeface="JetBrains Mono"/>
              </a:rPr>
              <a:t>void task1(int n){</a:t>
            </a:r>
            <a:br>
              <a:rPr lang="nn-NO" sz="2000" dirty="0">
                <a:latin typeface="JetBrains Mono"/>
              </a:rPr>
            </a:br>
            <a:r>
              <a:rPr lang="nn-NO" sz="2000" dirty="0">
                <a:latin typeface="JetBrains Mono"/>
              </a:rPr>
              <a:t>    int sum=0,i=1;</a:t>
            </a:r>
            <a:br>
              <a:rPr lang="nn-NO" sz="2000" dirty="0">
                <a:latin typeface="JetBrains Mono"/>
              </a:rPr>
            </a:br>
            <a:r>
              <a:rPr lang="nn-NO" sz="2000" dirty="0">
                <a:latin typeface="JetBrains Mono"/>
              </a:rPr>
              <a:t>    while(i&lt;=n){</a:t>
            </a:r>
            <a:br>
              <a:rPr lang="nn-NO" sz="2000" dirty="0">
                <a:latin typeface="JetBrains Mono"/>
              </a:rPr>
            </a:br>
            <a:r>
              <a:rPr lang="nn-NO" sz="2000" dirty="0">
                <a:latin typeface="JetBrains Mono"/>
              </a:rPr>
              <a:t>        sum=sum+i;</a:t>
            </a:r>
            <a:br>
              <a:rPr lang="nn-NO" sz="2000" dirty="0">
                <a:latin typeface="JetBrains Mono"/>
              </a:rPr>
            </a:br>
            <a:r>
              <a:rPr lang="nn-NO" sz="2000" dirty="0">
                <a:latin typeface="JetBrains Mono"/>
              </a:rPr>
              <a:t>        i=i+1;</a:t>
            </a:r>
            <a:br>
              <a:rPr lang="nn-NO" sz="2000" dirty="0">
                <a:latin typeface="JetBrains Mono"/>
              </a:rPr>
            </a:br>
            <a:r>
              <a:rPr lang="nn-NO" sz="2000" dirty="0">
                <a:latin typeface="JetBrains Mono"/>
              </a:rPr>
              <a:t>    } // while</a:t>
            </a:r>
            <a:br>
              <a:rPr lang="nn-NO" sz="2000" dirty="0">
                <a:latin typeface="JetBrains Mono"/>
              </a:rPr>
            </a:br>
            <a:r>
              <a:rPr lang="nn-NO" sz="2000" dirty="0">
                <a:latin typeface="JetBrains Mono"/>
              </a:rPr>
              <a:t>} // end of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6568" y="2941573"/>
            <a:ext cx="26742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6568" y="3267634"/>
            <a:ext cx="26742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6568" y="3593695"/>
            <a:ext cx="60396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 + 1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9138" y="3891834"/>
            <a:ext cx="30162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9466" y="4257319"/>
            <a:ext cx="30162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34630" y="3520869"/>
            <a:ext cx="646981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297151" y="3499310"/>
            <a:ext cx="6902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O(n)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5177" y="768371"/>
            <a:ext cx="75596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חשבו את מספר הפעמים בו מתבצע גוף של לולאת ה-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while</a:t>
            </a: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</a:rPr>
              <a:t>בקטע הקוד הבא: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1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19174" y="2172335"/>
            <a:ext cx="2610928" cy="143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task2(n):    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sum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for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n do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sum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sum +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96149" y="2574724"/>
            <a:ext cx="26742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896149" y="2891763"/>
            <a:ext cx="60396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 + 1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913485" y="3251476"/>
            <a:ext cx="30162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05684" y="785806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84911" y="4928944"/>
            <a:ext cx="1334020" cy="10002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1: </a:t>
            </a:r>
            <a:r>
              <a:rPr lang="en-US" sz="13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  <a:p>
            <a:pPr marL="285750" indent="-285750" algn="l" rtl="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++: </a:t>
            </a:r>
            <a:r>
              <a:rPr lang="en-US" sz="13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</a:p>
          <a:p>
            <a:pPr marL="285750" indent="-285750" algn="l" rtl="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&lt;=n: </a:t>
            </a:r>
            <a:r>
              <a:rPr lang="en-US" sz="13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n+1</a:t>
            </a:r>
            <a:endParaRPr lang="en-US" sz="13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84911" y="4531659"/>
            <a:ext cx="1821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n do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55443" y="4162327"/>
            <a:ext cx="1680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he-IL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פעולות בלולאה: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72299" y="2183361"/>
            <a:ext cx="27321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000" dirty="0">
                <a:latin typeface="JetBrains Mono"/>
              </a:rPr>
              <a:t>void task2(</a:t>
            </a:r>
            <a:r>
              <a:rPr lang="en-US" sz="2000" dirty="0" err="1">
                <a:latin typeface="JetBrains Mono"/>
              </a:rPr>
              <a:t>int</a:t>
            </a:r>
            <a:r>
              <a:rPr lang="en-US" sz="2000" dirty="0">
                <a:latin typeface="JetBrains Mono"/>
              </a:rPr>
              <a:t> n){</a:t>
            </a:r>
            <a:br>
              <a:rPr lang="en-US" sz="2000" dirty="0">
                <a:latin typeface="JetBrains Mono"/>
              </a:rPr>
            </a:br>
            <a:r>
              <a:rPr lang="en-US" sz="2000" dirty="0">
                <a:latin typeface="JetBrains Mono"/>
              </a:rPr>
              <a:t>    </a:t>
            </a:r>
            <a:r>
              <a:rPr lang="en-US" sz="2000" dirty="0" err="1">
                <a:latin typeface="JetBrains Mono"/>
              </a:rPr>
              <a:t>int</a:t>
            </a:r>
            <a:r>
              <a:rPr lang="en-US" sz="2000" dirty="0">
                <a:latin typeface="JetBrains Mono"/>
              </a:rPr>
              <a:t> sum=0,i=1;</a:t>
            </a:r>
            <a:br>
              <a:rPr lang="en-US" sz="2000" dirty="0">
                <a:latin typeface="JetBrains Mono"/>
              </a:rPr>
            </a:br>
            <a:r>
              <a:rPr lang="en-US" sz="2000" dirty="0">
                <a:latin typeface="JetBrains Mono"/>
              </a:rPr>
              <a:t>    for(</a:t>
            </a:r>
            <a:r>
              <a:rPr lang="en-US" sz="2000" dirty="0" err="1">
                <a:latin typeface="JetBrains Mono"/>
              </a:rPr>
              <a:t>int</a:t>
            </a:r>
            <a:r>
              <a:rPr lang="en-US" sz="2000" dirty="0">
                <a:latin typeface="JetBrains Mono"/>
              </a:rPr>
              <a:t> </a:t>
            </a:r>
            <a:r>
              <a:rPr lang="en-US" sz="2000" dirty="0" err="1">
                <a:latin typeface="JetBrains Mono"/>
              </a:rPr>
              <a:t>i</a:t>
            </a:r>
            <a:r>
              <a:rPr lang="en-US" sz="2000" dirty="0">
                <a:latin typeface="JetBrains Mono"/>
              </a:rPr>
              <a:t>=1;i&lt;=</a:t>
            </a:r>
            <a:r>
              <a:rPr lang="en-US" sz="2000" dirty="0" err="1">
                <a:latin typeface="JetBrains Mono"/>
              </a:rPr>
              <a:t>n;i</a:t>
            </a:r>
            <a:r>
              <a:rPr lang="en-US" sz="2000" dirty="0">
                <a:latin typeface="JetBrains Mono"/>
              </a:rPr>
              <a:t>++){</a:t>
            </a:r>
            <a:br>
              <a:rPr lang="en-US" sz="2000" dirty="0">
                <a:latin typeface="JetBrains Mono"/>
              </a:rPr>
            </a:br>
            <a:r>
              <a:rPr lang="en-US" sz="2000" dirty="0">
                <a:latin typeface="JetBrains Mono"/>
              </a:rPr>
              <a:t>       sum=</a:t>
            </a:r>
            <a:r>
              <a:rPr lang="en-US" sz="2000" dirty="0" err="1">
                <a:latin typeface="JetBrains Mono"/>
              </a:rPr>
              <a:t>sum+i</a:t>
            </a:r>
            <a:r>
              <a:rPr lang="en-US" sz="2000" dirty="0">
                <a:latin typeface="JetBrains Mono"/>
              </a:rPr>
              <a:t>;</a:t>
            </a:r>
            <a:br>
              <a:rPr lang="en-US" sz="2000" dirty="0">
                <a:latin typeface="JetBrains Mono"/>
              </a:rPr>
            </a:br>
            <a:r>
              <a:rPr lang="en-US" sz="2000" dirty="0">
                <a:latin typeface="JetBrains Mono"/>
              </a:rPr>
              <a:t>    } // for</a:t>
            </a:r>
            <a:br>
              <a:rPr lang="en-US" sz="2000" dirty="0">
                <a:latin typeface="JetBrains Mono"/>
              </a:rPr>
            </a:br>
            <a:r>
              <a:rPr lang="en-US" sz="2000" dirty="0">
                <a:latin typeface="JetBrains Mono"/>
              </a:rPr>
              <a:t>} // end of function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17210" y="2866627"/>
            <a:ext cx="646981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779731" y="2845068"/>
            <a:ext cx="6902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6243" y="785806"/>
            <a:ext cx="72666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חשבו את מספר הפעמים בו מתבצע גוף של לולאת ה-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</a:t>
            </a: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</a:rPr>
              <a:t>בקטע הקוד הבא: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88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4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05684" y="785806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3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51185" y="1683722"/>
            <a:ext cx="2809336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Task3(n):</a:t>
            </a:r>
            <a:endParaRPr lang="he-IL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sum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prod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for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n do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sum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sum +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/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       prod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prod *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193101" y="2081907"/>
            <a:ext cx="26742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193101" y="2374295"/>
            <a:ext cx="26742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3101" y="2666683"/>
            <a:ext cx="60396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 + 1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193461" y="2959071"/>
            <a:ext cx="30162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93461" y="3299549"/>
            <a:ext cx="30162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2550" y="4773668"/>
            <a:ext cx="1334020" cy="10002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1: </a:t>
            </a:r>
            <a:r>
              <a:rPr lang="en-US" sz="13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  <a:p>
            <a:pPr marL="285750" indent="-285750" algn="l" rtl="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++: </a:t>
            </a:r>
            <a:r>
              <a:rPr lang="en-US" sz="13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</a:p>
          <a:p>
            <a:pPr marL="285750" indent="-285750" algn="l" rtl="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&lt;=n: </a:t>
            </a:r>
            <a:r>
              <a:rPr lang="en-US" sz="13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n+1</a:t>
            </a:r>
            <a:endParaRPr lang="en-US" sz="13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62550" y="4376383"/>
            <a:ext cx="1821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n do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33082" y="4007051"/>
            <a:ext cx="1680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he-IL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פעולות בלולאה: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6185139" y="2638298"/>
            <a:ext cx="646981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047660" y="2616739"/>
            <a:ext cx="6902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O(n)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7706" y="785806"/>
            <a:ext cx="73179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he-IL" dirty="0">
                <a:latin typeface="Times New Roman" panose="02020603050405020304" pitchFamily="18" charset="0"/>
                <a:ea typeface="Times New Roman" panose="02020603050405020304" pitchFamily="18" charset="0"/>
              </a:rPr>
              <a:t>חשבו את מספר הפעמים בו מתבצע גוף של לולאת ה-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</a:t>
            </a:r>
            <a:r>
              <a:rPr lang="he-IL" dirty="0">
                <a:latin typeface="Arial" panose="020B0604020202020204" pitchFamily="34" charset="0"/>
                <a:ea typeface="Times New Roman" panose="02020603050405020304" pitchFamily="18" charset="0"/>
              </a:rPr>
              <a:t>בקטע הקוד הבא: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66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2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05684" y="785806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8575" y="2370149"/>
            <a:ext cx="316301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task4(n):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sum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for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n do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for j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n do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sum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sum +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*j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62290" y="2748699"/>
            <a:ext cx="26742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266719" y="3087253"/>
            <a:ext cx="58647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 + 1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9725" y="3408895"/>
            <a:ext cx="60396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13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279725" y="3804461"/>
            <a:ext cx="361950" cy="530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13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</a:p>
          <a:p>
            <a:pPr algn="l" rtl="0">
              <a:spcBef>
                <a:spcPts val="300"/>
              </a:spcBef>
            </a:pPr>
            <a:endParaRPr lang="en-US" sz="13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193765" y="3262701"/>
            <a:ext cx="646981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056285" y="3241142"/>
            <a:ext cx="9145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O(n</a:t>
            </a:r>
            <a:r>
              <a:rPr lang="en-US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Rectangle 1"/>
          <p:cNvSpPr/>
          <p:nvPr/>
        </p:nvSpPr>
        <p:spPr>
          <a:xfrm>
            <a:off x="2725947" y="785806"/>
            <a:ext cx="73697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he-IL">
                <a:latin typeface="Times New Roman" panose="02020603050405020304" pitchFamily="18" charset="0"/>
                <a:ea typeface="Times New Roman" panose="02020603050405020304" pitchFamily="18" charset="0"/>
              </a:rPr>
              <a:t>חשבו את מספר הפעמים בו מתבצע גוף של לולאת ה-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</a:t>
            </a:r>
            <a:r>
              <a:rPr lang="he-IL" b="1" dirty="0">
                <a:latin typeface="Arial" panose="020B0604020202020204" pitchFamily="34" charset="0"/>
                <a:ea typeface="Times New Roman" panose="02020603050405020304" pitchFamily="18" charset="0"/>
              </a:rPr>
              <a:t>הפנימית</a:t>
            </a:r>
            <a:r>
              <a:rPr lang="he-IL" dirty="0">
                <a:latin typeface="Arial" panose="020B0604020202020204" pitchFamily="34" charset="0"/>
                <a:ea typeface="Times New Roman" panose="02020603050405020304" pitchFamily="18" charset="0"/>
              </a:rPr>
              <a:t> בקטע הקוד הבא: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41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05684" y="785806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2438" y="2135267"/>
            <a:ext cx="3857834" cy="3208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CountSingles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(A):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singles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for I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length(A) do: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occurs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for j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lenth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(A) do: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if A[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] = A[j] then: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occurs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occurs +1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if occurs = 1 then: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singles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singles + 1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return singles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39970" y="1879231"/>
            <a:ext cx="334723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500" dirty="0" err="1">
                <a:latin typeface="JetBrains Mono"/>
              </a:rPr>
              <a:t>int</a:t>
            </a:r>
            <a:r>
              <a:rPr lang="en-US" sz="1500" dirty="0">
                <a:latin typeface="JetBrains Mono"/>
              </a:rPr>
              <a:t> </a:t>
            </a:r>
            <a:r>
              <a:rPr lang="en-US" sz="1500" dirty="0" err="1">
                <a:latin typeface="JetBrains Mono"/>
              </a:rPr>
              <a:t>countSingles</a:t>
            </a:r>
            <a:r>
              <a:rPr lang="en-US" sz="1500" dirty="0">
                <a:latin typeface="JetBrains Mono"/>
              </a:rPr>
              <a:t>(</a:t>
            </a:r>
            <a:r>
              <a:rPr lang="en-US" sz="1500" dirty="0" err="1">
                <a:latin typeface="JetBrains Mono"/>
              </a:rPr>
              <a:t>int</a:t>
            </a:r>
            <a:r>
              <a:rPr lang="en-US" sz="1500" dirty="0">
                <a:latin typeface="JetBrains Mono"/>
              </a:rPr>
              <a:t> A[], </a:t>
            </a:r>
            <a:r>
              <a:rPr lang="en-US" sz="1500" dirty="0" err="1">
                <a:latin typeface="JetBrains Mono"/>
              </a:rPr>
              <a:t>int</a:t>
            </a:r>
            <a:r>
              <a:rPr lang="en-US" sz="1500" dirty="0">
                <a:latin typeface="JetBrains Mono"/>
              </a:rPr>
              <a:t> length) {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</a:t>
            </a:r>
            <a:r>
              <a:rPr lang="en-US" sz="1500" dirty="0" err="1">
                <a:latin typeface="JetBrains Mono"/>
              </a:rPr>
              <a:t>int</a:t>
            </a:r>
            <a:r>
              <a:rPr lang="en-US" sz="1500" dirty="0">
                <a:latin typeface="JetBrains Mono"/>
              </a:rPr>
              <a:t> singles = 0;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for (</a:t>
            </a:r>
            <a:r>
              <a:rPr lang="en-US" sz="1500" dirty="0" err="1">
                <a:latin typeface="JetBrains Mono"/>
              </a:rPr>
              <a:t>int</a:t>
            </a:r>
            <a:r>
              <a:rPr lang="en-US" sz="1500" dirty="0">
                <a:latin typeface="JetBrains Mono"/>
              </a:rPr>
              <a:t> </a:t>
            </a:r>
            <a:r>
              <a:rPr lang="en-US" sz="1500" dirty="0" err="1">
                <a:latin typeface="JetBrains Mono"/>
              </a:rPr>
              <a:t>i</a:t>
            </a:r>
            <a:r>
              <a:rPr lang="en-US" sz="1500" dirty="0">
                <a:latin typeface="JetBrains Mono"/>
              </a:rPr>
              <a:t> = 0; </a:t>
            </a:r>
            <a:r>
              <a:rPr lang="en-US" sz="1500" dirty="0" err="1">
                <a:latin typeface="JetBrains Mono"/>
              </a:rPr>
              <a:t>i</a:t>
            </a:r>
            <a:r>
              <a:rPr lang="en-US" sz="1500" dirty="0">
                <a:latin typeface="JetBrains Mono"/>
              </a:rPr>
              <a:t> &lt; length; </a:t>
            </a:r>
            <a:r>
              <a:rPr lang="en-US" sz="1500" dirty="0" err="1">
                <a:latin typeface="JetBrains Mono"/>
              </a:rPr>
              <a:t>i</a:t>
            </a:r>
            <a:r>
              <a:rPr lang="en-US" sz="1500" dirty="0">
                <a:latin typeface="JetBrains Mono"/>
              </a:rPr>
              <a:t>++) {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    </a:t>
            </a:r>
            <a:r>
              <a:rPr lang="en-US" sz="1500" dirty="0" err="1">
                <a:latin typeface="JetBrains Mono"/>
              </a:rPr>
              <a:t>int</a:t>
            </a:r>
            <a:r>
              <a:rPr lang="en-US" sz="1500" dirty="0">
                <a:latin typeface="JetBrains Mono"/>
              </a:rPr>
              <a:t> occurs = 0;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    for (</a:t>
            </a:r>
            <a:r>
              <a:rPr lang="en-US" sz="1500" dirty="0" err="1">
                <a:latin typeface="JetBrains Mono"/>
              </a:rPr>
              <a:t>int</a:t>
            </a:r>
            <a:r>
              <a:rPr lang="en-US" sz="1500" dirty="0">
                <a:latin typeface="JetBrains Mono"/>
              </a:rPr>
              <a:t> j = 0; j &lt; length; </a:t>
            </a:r>
            <a:r>
              <a:rPr lang="en-US" sz="1500" dirty="0" err="1">
                <a:latin typeface="JetBrains Mono"/>
              </a:rPr>
              <a:t>j++</a:t>
            </a:r>
            <a:r>
              <a:rPr lang="en-US" sz="1500" dirty="0">
                <a:latin typeface="JetBrains Mono"/>
              </a:rPr>
              <a:t>) {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        if (A[</a:t>
            </a:r>
            <a:r>
              <a:rPr lang="en-US" sz="1500" dirty="0" err="1">
                <a:latin typeface="JetBrains Mono"/>
              </a:rPr>
              <a:t>i</a:t>
            </a:r>
            <a:r>
              <a:rPr lang="en-US" sz="1500" dirty="0">
                <a:latin typeface="JetBrains Mono"/>
              </a:rPr>
              <a:t>] == A[j]) {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            occurs++;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        }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    }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    if (occurs == 1) {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        singles++;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    }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}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    return singles;</a:t>
            </a:r>
            <a:br>
              <a:rPr lang="en-US" sz="1500" dirty="0">
                <a:latin typeface="JetBrains Mono"/>
              </a:rPr>
            </a:br>
            <a:r>
              <a:rPr lang="en-US" sz="1500" dirty="0">
                <a:latin typeface="JetBrains Mono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675" y="2425844"/>
            <a:ext cx="26742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9730" y="2772679"/>
            <a:ext cx="1724405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length(A) = n =&gt; n + 1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96953" y="3628620"/>
            <a:ext cx="646981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159473" y="3607061"/>
            <a:ext cx="9145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O(n</a:t>
            </a:r>
            <a:r>
              <a:rPr lang="en-US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8438" y="3100329"/>
            <a:ext cx="30162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9836" y="3447164"/>
            <a:ext cx="60396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13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7907" y="3889835"/>
            <a:ext cx="37651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13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" name="Right Brace 14"/>
          <p:cNvSpPr/>
          <p:nvPr/>
        </p:nvSpPr>
        <p:spPr>
          <a:xfrm>
            <a:off x="3988389" y="3760856"/>
            <a:ext cx="251883" cy="5066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/>
          <p:cNvSpPr/>
          <p:nvPr/>
        </p:nvSpPr>
        <p:spPr>
          <a:xfrm>
            <a:off x="3985142" y="4387708"/>
            <a:ext cx="251883" cy="5066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352135" y="4494826"/>
            <a:ext cx="30162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2642" y="5051450"/>
            <a:ext cx="26742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2098" y="778419"/>
            <a:ext cx="80138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נתון מערך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אלגוריתם הבא מחשב את כמות האיברים שמופיעים רק פעם אחת במערך. כמה פעמים מתבצעת פעולת החיבור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occurs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occurs +1</a:t>
            </a: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בקטע הקוד הבא?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45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 animBg="1"/>
      <p:bldP spid="11" grpId="0"/>
      <p:bldP spid="12" grpId="0"/>
      <p:bldP spid="13" grpId="0"/>
      <p:bldP spid="14" grpId="0"/>
      <p:bldP spid="18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05684" y="785806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0333" y="1560255"/>
            <a:ext cx="274032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task6(n):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 for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1 to n do: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      for j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1 to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do: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      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k + 1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37072" y="2298229"/>
            <a:ext cx="1293963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=1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j=1, k=1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04846" y="2246883"/>
            <a:ext cx="1331344" cy="1000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=2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j=1, k=2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j=2, k=3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10001" y="2175827"/>
            <a:ext cx="1331344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=3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j=1, k=4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j=2, k=5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j=3, k=6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15156" y="2167424"/>
            <a:ext cx="15355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=4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j=1, k=7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j=2, k=8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j=3, k=9</a:t>
            </a: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 j=4, k=10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71870" y="1668779"/>
            <a:ext cx="1499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Define n = 4: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0657" y="795131"/>
            <a:ext cx="67457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כמה פעמים מתבצעת פעולת החיבור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k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 k + 1</a:t>
            </a: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בקטע הקוד הבא?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AutoShape 2" descr="{\displaystyle \sum _{k=1}^{n}k={\frac {n(n+1)}{2}}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7D8A31-1DBB-697D-1D0D-8964170BB55E}"/>
                  </a:ext>
                </a:extLst>
              </p:cNvPr>
              <p:cNvSpPr txBox="1"/>
              <p:nvPr/>
            </p:nvSpPr>
            <p:spPr>
              <a:xfrm>
                <a:off x="1223263" y="4124989"/>
                <a:ext cx="4872737" cy="755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=1+2+3+…+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7D8A31-1DBB-697D-1D0D-8964170BB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263" y="4124989"/>
                <a:ext cx="4872737" cy="755271"/>
              </a:xfrm>
              <a:prstGeom prst="rect">
                <a:avLst/>
              </a:prstGeom>
              <a:blipFill>
                <a:blip r:embed="rId3"/>
                <a:stretch>
                  <a:fillRect l="-1299" t="-116393" b="-17704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288672D-6718-D46D-1F7C-92A16642A25D}"/>
                  </a:ext>
                </a:extLst>
              </p:cNvPr>
              <p:cNvSpPr txBox="1"/>
              <p:nvPr/>
            </p:nvSpPr>
            <p:spPr>
              <a:xfrm>
                <a:off x="6261536" y="4179856"/>
                <a:ext cx="4389120" cy="631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algn="l" defTabSz="914400" rtl="0" eaLnBrk="1" latinLnBrk="0" hangingPunct="1"/>
                <a:r>
                  <a:rPr lang="en-US" sz="2400" b="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if n = 4, then: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4(4+1)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L" sz="2400" dirty="0"/>
                  <a:t> = 10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288672D-6718-D46D-1F7C-92A16642A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536" y="4179856"/>
                <a:ext cx="4389120" cy="631070"/>
              </a:xfrm>
              <a:prstGeom prst="rect">
                <a:avLst/>
              </a:prstGeom>
              <a:blipFill>
                <a:blip r:embed="rId4"/>
                <a:stretch>
                  <a:fillRect l="-288" b="-10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24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7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77517" y="705232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7494" y="1388474"/>
            <a:ext cx="2774831" cy="3839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task7(n):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q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r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while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≤ n do: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j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while j &lt; q do: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k + 1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j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j + 1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q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 * r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48433" y="1585564"/>
            <a:ext cx="2084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j changes  (0 -&gt; q)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31043" y="4028898"/>
            <a:ext cx="809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k =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7361" y="2087990"/>
            <a:ext cx="566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4228" y="2601076"/>
            <a:ext cx="65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=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3447" y="2619806"/>
            <a:ext cx="769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0 -&gt;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43349" y="2573605"/>
            <a:ext cx="3845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4228" y="3079818"/>
            <a:ext cx="65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=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43446" y="3043161"/>
            <a:ext cx="769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0 -&gt;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59176" y="3052347"/>
            <a:ext cx="3845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7114" y="3558560"/>
            <a:ext cx="65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=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6546" y="3531697"/>
            <a:ext cx="8956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0 -&gt; 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96647" y="3522227"/>
            <a:ext cx="447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2114909" y="688090"/>
            <a:ext cx="81404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חשבו את מספר הפעמים בו מתבצע גוף של לולאת ה-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while</a:t>
            </a: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e-IL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הפנימית</a:t>
            </a: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</a:rPr>
              <a:t> בקטע הקוד הבא: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055BBA-A1BD-E356-1A85-3F31C4E192E9}"/>
                  </a:ext>
                </a:extLst>
              </p:cNvPr>
              <p:cNvSpPr txBox="1"/>
              <p:nvPr/>
            </p:nvSpPr>
            <p:spPr>
              <a:xfrm>
                <a:off x="4053992" y="4565939"/>
                <a:ext cx="6094428" cy="87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t-BR" dirty="0">
                              <a:latin typeface="Söhne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t-BR" dirty="0">
                              <a:latin typeface="Söhne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t-BR" dirty="0">
                              <a:latin typeface="Söhne"/>
                            </a:rPr>
                            <m:t>+ ... +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Söhne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055BBA-A1BD-E356-1A85-3F31C4E19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992" y="4565939"/>
                <a:ext cx="6094428" cy="870751"/>
              </a:xfrm>
              <a:prstGeom prst="rect">
                <a:avLst/>
              </a:prstGeom>
              <a:blipFill>
                <a:blip r:embed="rId3"/>
                <a:stretch>
                  <a:fillRect t="-94286" b="-14857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6BCC81E-F106-0769-3A76-C23763E4417A}"/>
                  </a:ext>
                </a:extLst>
              </p:cNvPr>
              <p:cNvSpPr/>
              <p:nvPr/>
            </p:nvSpPr>
            <p:spPr>
              <a:xfrm>
                <a:off x="6521514" y="5536362"/>
                <a:ext cx="727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:r>
                  <a:rPr lang="pt-BR" dirty="0">
                    <a:latin typeface="Söhne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6BCC81E-F106-0769-3A76-C23763E441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14" y="5536362"/>
                <a:ext cx="727700" cy="369332"/>
              </a:xfrm>
              <a:prstGeom prst="rect">
                <a:avLst/>
              </a:prstGeom>
              <a:blipFill>
                <a:blip r:embed="rId4"/>
                <a:stretch>
                  <a:fillRect l="-6897" t="-6452" r="-6897" b="-225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422D3D61-4EDE-418F-4BE8-5A6BB676D2A6}"/>
              </a:ext>
            </a:extLst>
          </p:cNvPr>
          <p:cNvSpPr/>
          <p:nvPr/>
        </p:nvSpPr>
        <p:spPr>
          <a:xfrm>
            <a:off x="3151028" y="4033772"/>
            <a:ext cx="1242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Final result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463F28-9645-C756-A65C-7BDDEDD9068C}"/>
              </a:ext>
            </a:extLst>
          </p:cNvPr>
          <p:cNvSpPr/>
          <p:nvPr/>
        </p:nvSpPr>
        <p:spPr>
          <a:xfrm>
            <a:off x="4042380" y="1599635"/>
            <a:ext cx="2248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q (before  inner loop)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6255E8-D6A8-FF17-7F72-A1618A5EC566}"/>
              </a:ext>
            </a:extLst>
          </p:cNvPr>
          <p:cNvSpPr/>
          <p:nvPr/>
        </p:nvSpPr>
        <p:spPr>
          <a:xfrm>
            <a:off x="5016207" y="2097475"/>
            <a:ext cx="260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48C7E21-8ECF-3158-D047-3FC699FC21F4}"/>
              </a:ext>
            </a:extLst>
          </p:cNvPr>
          <p:cNvSpPr/>
          <p:nvPr/>
        </p:nvSpPr>
        <p:spPr>
          <a:xfrm>
            <a:off x="5016206" y="2576217"/>
            <a:ext cx="65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5A05E3-91E2-57DE-1B7A-F0E53B21B5C9}"/>
              </a:ext>
            </a:extLst>
          </p:cNvPr>
          <p:cNvSpPr/>
          <p:nvPr/>
        </p:nvSpPr>
        <p:spPr>
          <a:xfrm>
            <a:off x="5019092" y="3054959"/>
            <a:ext cx="65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3A63E6-B856-78B9-D0B9-40A450315827}"/>
              </a:ext>
            </a:extLst>
          </p:cNvPr>
          <p:cNvSpPr/>
          <p:nvPr/>
        </p:nvSpPr>
        <p:spPr>
          <a:xfrm>
            <a:off x="4980248" y="3585665"/>
            <a:ext cx="809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F52768-EECB-B37C-3E06-90D364747E8C}"/>
              </a:ext>
            </a:extLst>
          </p:cNvPr>
          <p:cNvSpPr/>
          <p:nvPr/>
        </p:nvSpPr>
        <p:spPr>
          <a:xfrm>
            <a:off x="3164579" y="1615993"/>
            <a:ext cx="87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Step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42F56BF-9650-9F03-BC41-1A5EB89B84FF}"/>
              </a:ext>
            </a:extLst>
          </p:cNvPr>
          <p:cNvSpPr/>
          <p:nvPr/>
        </p:nvSpPr>
        <p:spPr>
          <a:xfrm>
            <a:off x="7989646" y="1576776"/>
            <a:ext cx="1722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Iterations (j &lt; q)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6531FE-B3AA-1481-5D4C-FAA66A673726}"/>
              </a:ext>
            </a:extLst>
          </p:cNvPr>
          <p:cNvSpPr/>
          <p:nvPr/>
        </p:nvSpPr>
        <p:spPr>
          <a:xfrm>
            <a:off x="9711845" y="1588376"/>
            <a:ext cx="665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k++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74CE967-803B-5D5D-1AE2-A288B00D25B1}"/>
              </a:ext>
            </a:extLst>
          </p:cNvPr>
          <p:cNvSpPr/>
          <p:nvPr/>
        </p:nvSpPr>
        <p:spPr>
          <a:xfrm>
            <a:off x="10486246" y="1599635"/>
            <a:ext cx="9539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Total 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EDC8060-7DED-AA83-D15B-9E3F48222F01}"/>
              </a:ext>
            </a:extLst>
          </p:cNvPr>
          <p:cNvSpPr/>
          <p:nvPr/>
        </p:nvSpPr>
        <p:spPr>
          <a:xfrm>
            <a:off x="6901490" y="2093077"/>
            <a:ext cx="3303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A9BF30A-4975-0102-E0CC-A45A742BFA8F}"/>
              </a:ext>
            </a:extLst>
          </p:cNvPr>
          <p:cNvSpPr/>
          <p:nvPr/>
        </p:nvSpPr>
        <p:spPr>
          <a:xfrm>
            <a:off x="8683962" y="2081682"/>
            <a:ext cx="260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3BE59AA-CEDE-E8EE-9A2D-4CB073516AA2}"/>
              </a:ext>
            </a:extLst>
          </p:cNvPr>
          <p:cNvSpPr/>
          <p:nvPr/>
        </p:nvSpPr>
        <p:spPr>
          <a:xfrm>
            <a:off x="9822054" y="2093077"/>
            <a:ext cx="260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9ABDB11-0007-2792-CAEA-493DDE7908D8}"/>
              </a:ext>
            </a:extLst>
          </p:cNvPr>
          <p:cNvSpPr/>
          <p:nvPr/>
        </p:nvSpPr>
        <p:spPr>
          <a:xfrm>
            <a:off x="10843349" y="2062579"/>
            <a:ext cx="260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C6F9C3E-5198-8047-3395-E8D25BEE1E5B}"/>
              </a:ext>
            </a:extLst>
          </p:cNvPr>
          <p:cNvSpPr/>
          <p:nvPr/>
        </p:nvSpPr>
        <p:spPr>
          <a:xfrm>
            <a:off x="8663488" y="2573605"/>
            <a:ext cx="65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502DE-948B-ECE2-A8B9-12517B708510}"/>
              </a:ext>
            </a:extLst>
          </p:cNvPr>
          <p:cNvSpPr/>
          <p:nvPr/>
        </p:nvSpPr>
        <p:spPr>
          <a:xfrm>
            <a:off x="8666374" y="3052347"/>
            <a:ext cx="65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A422ABC-B531-0F0F-2EB3-FD988DBCFE55}"/>
              </a:ext>
            </a:extLst>
          </p:cNvPr>
          <p:cNvSpPr/>
          <p:nvPr/>
        </p:nvSpPr>
        <p:spPr>
          <a:xfrm>
            <a:off x="8627530" y="3583053"/>
            <a:ext cx="809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FF32CFD-67EE-B51E-A886-6DFE415CA030}"/>
              </a:ext>
            </a:extLst>
          </p:cNvPr>
          <p:cNvSpPr/>
          <p:nvPr/>
        </p:nvSpPr>
        <p:spPr>
          <a:xfrm>
            <a:off x="9822054" y="2567361"/>
            <a:ext cx="65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72F3EF1-FB30-320D-B5EA-1EF920C6B98C}"/>
              </a:ext>
            </a:extLst>
          </p:cNvPr>
          <p:cNvSpPr/>
          <p:nvPr/>
        </p:nvSpPr>
        <p:spPr>
          <a:xfrm>
            <a:off x="9824940" y="3046103"/>
            <a:ext cx="65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+4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AAEBC64-7C88-EC4A-7082-098D422F7D39}"/>
              </a:ext>
            </a:extLst>
          </p:cNvPr>
          <p:cNvSpPr/>
          <p:nvPr/>
        </p:nvSpPr>
        <p:spPr>
          <a:xfrm>
            <a:off x="9786096" y="3576809"/>
            <a:ext cx="809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+16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482B1AD-7056-C05B-C838-901D789EFBAB}"/>
              </a:ext>
            </a:extLst>
          </p:cNvPr>
          <p:cNvSpPr/>
          <p:nvPr/>
        </p:nvSpPr>
        <p:spPr>
          <a:xfrm>
            <a:off x="3175958" y="1180255"/>
            <a:ext cx="87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 = 3 </a:t>
            </a:r>
          </a:p>
        </p:txBody>
      </p:sp>
    </p:spTree>
    <p:extLst>
      <p:ext uri="{BB962C8B-B14F-4D97-AF65-F5344CB8AC3E}">
        <p14:creationId xmlns:p14="http://schemas.microsoft.com/office/powerpoint/2010/main" val="84855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8" grpId="0"/>
      <p:bldP spid="23" grpId="0"/>
      <p:bldP spid="24" grpId="0"/>
      <p:bldP spid="25" grpId="0"/>
      <p:bldP spid="30" grpId="0"/>
      <p:bldP spid="31" grpId="0"/>
      <p:bldP spid="32" grpId="0"/>
      <p:bldP spid="37" grpId="0"/>
      <p:bldP spid="38" grpId="0"/>
      <p:bldP spid="41" grpId="0"/>
      <p:bldP spid="42" grpId="0"/>
      <p:bldP spid="47" grpId="0"/>
      <p:bldP spid="15" grpId="0"/>
      <p:bldP spid="44" grpId="0"/>
      <p:bldP spid="45" grpId="0"/>
      <p:bldP spid="46" grpId="0"/>
      <p:bldP spid="54" grpId="0"/>
      <p:bldP spid="55" grpId="0"/>
      <p:bldP spid="56" grpId="0"/>
      <p:bldP spid="57" grpId="0"/>
      <p:bldP spid="58" grpId="0"/>
      <p:bldP spid="59" grpId="0"/>
      <p:bldP spid="63" grpId="0"/>
      <p:bldP spid="64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/>
          <p:cNvSpPr txBox="1">
            <a:spLocks noChangeArrowheads="1"/>
          </p:cNvSpPr>
          <p:nvPr/>
        </p:nvSpPr>
        <p:spPr bwMode="auto">
          <a:xfrm>
            <a:off x="3158796" y="208802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תזכורת - לוגריתם</a:t>
            </a:r>
            <a:endParaRPr kumimoji="0" lang="el-GR" altLang="he-IL" sz="42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p:sp>
        <p:nvSpPr>
          <p:cNvPr id="59" name="Rectangle 3"/>
          <p:cNvSpPr txBox="1">
            <a:spLocks noChangeArrowheads="1"/>
          </p:cNvSpPr>
          <p:nvPr/>
        </p:nvSpPr>
        <p:spPr bwMode="auto">
          <a:xfrm>
            <a:off x="3034971" y="983502"/>
            <a:ext cx="8497887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פונקציה מתמטית שימושית המוכרת לנו מהתיכון, היא פונקציית הלוגריתם (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logarithm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), המוגדרת כך:</a:t>
            </a:r>
          </a:p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			</a:t>
            </a:r>
            <a:r>
              <a:rPr kumimoji="0" lang="en-US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(b) = c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אם ורק אם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=b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קרי: הלוגריתם של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בבסיס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שווה ל-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אם"ם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בחזקת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שווה ל-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 כלומר, מדובר כאן בסוג של פעולה הפוכה להעלאה בחזקה.</a:t>
            </a:r>
          </a:p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דוגמאות: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(8) = 		log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(32) = 		 log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(1024) =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10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(10) = 		log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10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(100) = 	 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	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10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(1000) =  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3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(81) = 		log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4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(64) = 	 	 log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5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(25) =</a:t>
            </a:r>
          </a:p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עבור כל בסיס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מתקיים: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(1) = 		</a:t>
            </a:r>
            <a:r>
              <a:rPr kumimoji="0" lang="en-US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(a) =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0" name="Text Box 4"/>
          <p:cNvSpPr txBox="1">
            <a:spLocks noChangeArrowheads="1"/>
          </p:cNvSpPr>
          <p:nvPr/>
        </p:nvSpPr>
        <p:spPr bwMode="auto">
          <a:xfrm>
            <a:off x="3798949" y="3146813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1" name="Text Box 5"/>
          <p:cNvSpPr txBox="1">
            <a:spLocks noChangeArrowheads="1"/>
          </p:cNvSpPr>
          <p:nvPr/>
        </p:nvSpPr>
        <p:spPr bwMode="auto">
          <a:xfrm>
            <a:off x="6742576" y="3127302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2" name="Text Box 6"/>
          <p:cNvSpPr txBox="1">
            <a:spLocks noChangeArrowheads="1"/>
          </p:cNvSpPr>
          <p:nvPr/>
        </p:nvSpPr>
        <p:spPr bwMode="auto">
          <a:xfrm>
            <a:off x="9948533" y="3135809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63" name="Text Box 7"/>
          <p:cNvSpPr txBox="1">
            <a:spLocks noChangeArrowheads="1"/>
          </p:cNvSpPr>
          <p:nvPr/>
        </p:nvSpPr>
        <p:spPr bwMode="auto">
          <a:xfrm>
            <a:off x="3825546" y="3543707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4" name="Text Box 8"/>
          <p:cNvSpPr txBox="1">
            <a:spLocks noChangeArrowheads="1"/>
          </p:cNvSpPr>
          <p:nvPr/>
        </p:nvSpPr>
        <p:spPr bwMode="auto">
          <a:xfrm>
            <a:off x="6766418" y="3544695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5" name="Text Box 9"/>
          <p:cNvSpPr txBox="1">
            <a:spLocks noChangeArrowheads="1"/>
          </p:cNvSpPr>
          <p:nvPr/>
        </p:nvSpPr>
        <p:spPr bwMode="auto">
          <a:xfrm>
            <a:off x="9924691" y="3498725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6" name="Text Box 10"/>
          <p:cNvSpPr txBox="1">
            <a:spLocks noChangeArrowheads="1"/>
          </p:cNvSpPr>
          <p:nvPr/>
        </p:nvSpPr>
        <p:spPr bwMode="auto">
          <a:xfrm>
            <a:off x="9948532" y="3900915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6754735" y="3927680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8" name="Text Box 12"/>
          <p:cNvSpPr txBox="1">
            <a:spLocks noChangeArrowheads="1"/>
          </p:cNvSpPr>
          <p:nvPr/>
        </p:nvSpPr>
        <p:spPr bwMode="auto">
          <a:xfrm>
            <a:off x="3849388" y="3956889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9" name="Text Box 13"/>
          <p:cNvSpPr txBox="1">
            <a:spLocks noChangeArrowheads="1"/>
          </p:cNvSpPr>
          <p:nvPr/>
        </p:nvSpPr>
        <p:spPr bwMode="auto">
          <a:xfrm>
            <a:off x="3825544" y="4676595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70" name="Text Box 14"/>
          <p:cNvSpPr txBox="1">
            <a:spLocks noChangeArrowheads="1"/>
          </p:cNvSpPr>
          <p:nvPr/>
        </p:nvSpPr>
        <p:spPr bwMode="auto">
          <a:xfrm>
            <a:off x="6778773" y="4605620"/>
            <a:ext cx="9366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3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987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"/>
          <p:cNvSpPr txBox="1">
            <a:spLocks noChangeArrowheads="1"/>
          </p:cNvSpPr>
          <p:nvPr/>
        </p:nvSpPr>
        <p:spPr bwMode="auto">
          <a:xfrm>
            <a:off x="2994894" y="200175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לוגריתם</a:t>
            </a:r>
            <a:endParaRPr kumimoji="0" lang="el-GR" altLang="he-IL" sz="42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p:sp>
        <p:nvSpPr>
          <p:cNvPr id="53" name="Rectangle 3"/>
          <p:cNvSpPr txBox="1">
            <a:spLocks noChangeArrowheads="1"/>
          </p:cNvSpPr>
          <p:nvPr/>
        </p:nvSpPr>
        <p:spPr bwMode="auto">
          <a:xfrm>
            <a:off x="2871069" y="974875"/>
            <a:ext cx="8497887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חוקי הלוגריתמים הבאים, מתקיימים עבור כל </a:t>
            </a:r>
            <a:r>
              <a:rPr kumimoji="0" lang="en-US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a,b,c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ממשיים חיוביים (בתנאי שבסיס הלוגריתם גדול מ-1):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endParaRPr kumimoji="0" lang="en-US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54" name="Picture 4" descr="02758a7009a95e1fe476f9ec17e554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294" y="2775100"/>
            <a:ext cx="4311650" cy="77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5" descr="edf5a9d6ef8c4dfeeec843b8677c584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769" y="2049612"/>
            <a:ext cx="47053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6" descr="11791e691a5657bb60eadde45ad84d2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769" y="3919687"/>
            <a:ext cx="338455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7" descr="3675b84fb98811ac5100dc7bbbbb99ec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769" y="4788050"/>
            <a:ext cx="15843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8" descr="bugs1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6" y="3206900"/>
            <a:ext cx="1674813" cy="291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677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874124" y="243307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לוגריתם</a:t>
            </a:r>
            <a:endParaRPr kumimoji="0" lang="el-GR" altLang="he-IL" sz="4200" b="0" i="0" u="none" strike="noStrike" kern="0" cap="none" spc="0" normalizeH="0" baseline="0" noProof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750299" y="1018007"/>
            <a:ext cx="8497887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אם נשרטט את הגרף של פונקציות לוגריתם בעלות בסיסים שונים, נגלה כי קיבלנו גרפים הדומים זה לזה בהתנהגותם.</a:t>
            </a:r>
          </a:p>
          <a:p>
            <a:pPr marL="839788" marR="0" lvl="1" indent="-4953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Arial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Arial"/>
                <a:cs typeface="Arial"/>
              </a:rPr>
              <a:t>10</a:t>
            </a:r>
            <a:r>
              <a:rPr kumimoji="0" lang="en-US" altLang="he-IL" sz="2000" b="0" i="0" u="none" strike="noStrike" kern="0" cap="none" spc="0" normalizeH="0" baseline="0" noProof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Arial"/>
                <a:cs typeface="Arial"/>
              </a:rPr>
              <a:t>(x)</a:t>
            </a:r>
          </a:p>
          <a:p>
            <a:pPr marL="839788" marR="0" lvl="1" indent="-4953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r>
              <a:rPr kumimoji="0" lang="en-US" altLang="he-IL" sz="20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(x)</a:t>
            </a:r>
          </a:p>
          <a:p>
            <a:pPr marL="839788" marR="0" lvl="1" indent="-4953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(x)</a:t>
            </a:r>
            <a:endParaRPr kumimoji="0" lang="he-IL" altLang="he-IL" sz="2000" b="0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39788" marR="0" lvl="1" indent="-4953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cs typeface="Arial"/>
              </a:rPr>
              <a:t>log</a:t>
            </a:r>
            <a:r>
              <a:rPr kumimoji="0" lang="en-US" altLang="he-IL" sz="2000" b="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cs typeface="Arial"/>
              </a:rPr>
              <a:t>1.5</a:t>
            </a:r>
            <a:r>
              <a:rPr kumimoji="0" lang="en-US" altLang="he-IL" sz="2000" b="0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cs typeface="Arial"/>
              </a:rPr>
              <a:t>(x)</a:t>
            </a:r>
            <a:endParaRPr kumimoji="0" lang="he-IL" altLang="he-IL" sz="2000" b="0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הגרפים הללו נבדלים ביניהם                                                    רק בכפל בקבוע.</a:t>
            </a:r>
          </a:p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על כן, כל הפונקציות הללו				                    הן מאותו סדר גודל: (</a:t>
            </a:r>
            <a:r>
              <a:rPr kumimoji="0" lang="en-US" altLang="he-IL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logn</a:t>
            </a:r>
            <a:r>
              <a:rPr kumimoji="0" lang="he-IL" altLang="he-IL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</a:t>
            </a:r>
            <a:r>
              <a:rPr kumimoji="0" lang="el-GR" altLang="he-IL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Θ</a:t>
            </a:r>
            <a:endParaRPr kumimoji="0" lang="he-IL" altLang="he-IL" sz="2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839788" marR="0" lvl="1" indent="-4953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endParaRPr kumimoji="0" lang="he-IL" altLang="he-IL" sz="2000" b="0" i="0" u="none" strike="noStrike" kern="0" cap="none" spc="0" normalizeH="0" baseline="0" noProof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39788" marR="0" lvl="1" indent="-4953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endParaRPr kumimoji="0" lang="he-IL" altLang="he-IL" sz="2000" b="0" i="0" u="none" strike="noStrike" kern="0" cap="none" spc="0" normalizeH="0" baseline="0" noProof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endParaRPr kumimoji="0" lang="en-US" altLang="he-IL" sz="2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endParaRPr kumimoji="0" lang="el-GR" altLang="he-IL" sz="2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1" name="Picture 4" descr="graph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349" y="1859382"/>
            <a:ext cx="4246562" cy="4127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99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18849" y="174296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לוגריתם</a:t>
            </a:r>
            <a:endParaRPr kumimoji="0" lang="el-GR" altLang="he-IL" sz="4200" b="0" i="0" u="none" strike="noStrike" kern="0" cap="none" spc="0" normalizeH="0" baseline="0" noProof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 bwMode="auto">
              <a:xfrm>
                <a:off x="2595024" y="948996"/>
                <a:ext cx="8497887" cy="5222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r" rtl="1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r" rtl="1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022350" indent="-350838" algn="r" rtl="1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339850" indent="-315913" algn="r" rtl="1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681163" indent="-339725" algn="r" rtl="1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138363" indent="-339725" algn="r" rtl="1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595563" indent="-339725" algn="r" rtl="1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052763" indent="-339725" algn="r" rtl="1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509963" indent="-339725" algn="r" rtl="1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571500" marR="0" lvl="0" indent="-571500" algn="r" defTabSz="914400" rtl="1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n"/>
                  <a:tabLst/>
                  <a:defRPr/>
                </a:pP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נוהגים לכתוב (</a:t>
                </a:r>
                <a:r>
                  <a:rPr kumimoji="0" lang="en-US" altLang="he-IL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logn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)</a:t>
                </a:r>
                <a:r>
                  <a:rPr kumimoji="0" lang="el-GR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Θ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, מבלי לציין את הבסיס של הלוגריתם, שכן מלוגריתם בבסיס מסוים ניתן לעבור ללוגריתם בכל בסיס אחר, על-ידי כפל במספר קבוע.</a:t>
                </a:r>
              </a:p>
              <a:p>
                <a:pPr marL="571500" marR="0" lvl="0" indent="-571500" algn="r" defTabSz="914400" rtl="1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n"/>
                  <a:tabLst/>
                  <a:defRPr/>
                </a:pPr>
                <a:r>
                  <a:rPr kumimoji="0" lang="he-IL" altLang="he-IL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הנוסחא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בה משתמשים:</a:t>
                </a:r>
              </a:p>
              <a:p>
                <a:pPr marL="839788" marR="0" lvl="1" indent="-495300" algn="r" defTabSz="914400" rtl="1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he-IL" altLang="he-IL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66FF33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  <a:p>
                <a:pPr marL="839788" marR="0" lvl="1" indent="-495300" algn="r" defTabSz="914400" rtl="1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he-IL" altLang="he-IL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66FF33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  <a:p>
                <a:pPr marL="571500" marR="0" lvl="0" indent="-571500" algn="r" defTabSz="914400" rtl="1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n"/>
                  <a:tabLst/>
                  <a:defRPr/>
                </a:pP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דוגמא לשימוש </a:t>
                </a:r>
                <a:r>
                  <a:rPr kumimoji="0" lang="he-IL" altLang="he-IL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בנוסחא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:</a:t>
                </a:r>
              </a:p>
              <a:p>
                <a:pPr marL="571500" lvl="0" indent="-571500" algn="l" rtl="0" eaLnBrk="1" hangingPunct="1">
                  <a:buClr>
                    <a:srgbClr val="CC9900"/>
                  </a:buClr>
                  <a:buNone/>
                  <a:defRPr/>
                </a:pP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				log</a:t>
                </a:r>
                <a:r>
                  <a:rPr kumimoji="0" lang="en-US" altLang="he-IL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8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(32) </a:t>
                </a:r>
                <a14:m>
                  <m:oMath xmlns:m="http://schemas.openxmlformats.org/officeDocument/2006/math">
                    <m:r>
                      <a:rPr kumimoji="0" lang="en-US" altLang="he-IL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altLang="he-IL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he-IL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log</m:t>
                        </m:r>
                        <m:r>
                          <a:rPr lang="en-US" altLang="he-IL" sz="2000" i="1" kern="0" baseline="-25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  <m:r>
                          <a:rPr lang="en-US" altLang="he-IL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(32)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he-IL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log</m:t>
                        </m:r>
                        <m:r>
                          <a:rPr lang="en-US" altLang="he-IL" sz="2000" i="1" kern="0" baseline="-25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  <m:r>
                          <a:rPr lang="en-US" altLang="he-IL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(8)</m:t>
                        </m:r>
                      </m:den>
                    </m:f>
                    <m:r>
                      <a:rPr kumimoji="0" lang="en-US" altLang="he-IL" sz="20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he-IL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kumimoji="0" lang="en-US" altLang="he-IL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  <m:t>5</m:t>
                        </m:r>
                      </m:num>
                      <m:den>
                        <m:r>
                          <a:rPr kumimoji="0" lang="en-US" altLang="he-IL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= 1.66</a:t>
                </a:r>
                <a:endParaRPr kumimoji="0" lang="he-IL" altLang="he-IL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  <a:p>
                <a:pPr marL="571500" marR="0" lvl="0" indent="-571500" algn="r" defTabSz="914400" rtl="1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tabLst/>
                  <a:defRPr/>
                </a:pPr>
                <a:endParaRPr kumimoji="0" lang="he-IL" altLang="he-IL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  <a:p>
                <a:pPr marL="571500" marR="0" lvl="0" indent="-571500" algn="r" defTabSz="914400" rtl="1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n"/>
                  <a:tabLst/>
                  <a:defRPr/>
                </a:pPr>
                <a:r>
                  <a:rPr kumimoji="0" lang="he-IL" altLang="he-IL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הנוסחא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מאפשרת לנו, למשל, לעבור מהפונקציה 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log</a:t>
                </a:r>
                <a:r>
                  <a:rPr kumimoji="0" lang="en-US" altLang="he-IL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2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(n)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ל- 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log</a:t>
                </a:r>
                <a:r>
                  <a:rPr kumimoji="0" lang="en-US" altLang="he-IL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10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(n)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על-ידי חלוקה בקבוע 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log</a:t>
                </a:r>
                <a:r>
                  <a:rPr kumimoji="0" lang="en-US" altLang="he-IL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2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(10)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.</a:t>
                </a:r>
              </a:p>
              <a:p>
                <a:pPr marL="571500" marR="0" lvl="0" indent="-571500" algn="r" defTabSz="914400" rtl="1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n"/>
                  <a:tabLst/>
                  <a:defRPr/>
                </a:pP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באופן דומה, ניתן לעבור מכל </a:t>
                </a:r>
                <a:r>
                  <a:rPr kumimoji="0" lang="en-US" altLang="he-IL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log</a:t>
                </a:r>
                <a:r>
                  <a:rPr kumimoji="0" lang="en-US" altLang="he-IL" sz="2000" b="0" i="0" u="none" strike="noStrike" kern="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a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(n)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לכל </a:t>
                </a:r>
                <a:r>
                  <a:rPr kumimoji="0" lang="en-US" altLang="he-IL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log</a:t>
                </a:r>
                <a:r>
                  <a:rPr kumimoji="0" lang="en-US" altLang="he-IL" sz="2000" b="0" i="0" u="none" strike="noStrike" kern="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b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(n)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. על כן, כל הפונקציות הללו הן מאותו סדר גודל, וזו הסיבה מדוע כותבים פשוט (</a:t>
                </a:r>
                <a:r>
                  <a:rPr kumimoji="0" lang="en-US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log(n)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)</a:t>
                </a:r>
                <a:r>
                  <a:rPr kumimoji="0" lang="el-GR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Θ</a:t>
                </a:r>
                <a:r>
                  <a:rPr kumimoji="0" lang="he-IL" altLang="he-IL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.</a:t>
                </a:r>
                <a:endParaRPr kumimoji="0" lang="en-US" altLang="he-IL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  <a:p>
                <a:pPr marL="571500" marR="0" lvl="0" indent="-5715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tabLst/>
                  <a:defRPr/>
                </a:pPr>
                <a:endParaRPr kumimoji="0" lang="el-GR" altLang="he-IL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5024" y="948996"/>
                <a:ext cx="8497887" cy="5222875"/>
              </a:xfrm>
              <a:prstGeom prst="rect">
                <a:avLst/>
              </a:prstGeom>
              <a:blipFill>
                <a:blip r:embed="rId3"/>
                <a:stretch>
                  <a:fillRect l="-597" t="-485" r="-7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 descr="6218372e73fa2883a74775b2615cbc1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732" y="2038124"/>
            <a:ext cx="1847252" cy="708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518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779234" y="96658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לוגריתם</a:t>
            </a:r>
            <a:endParaRPr kumimoji="0" lang="el-GR" altLang="he-IL" sz="4200" b="0" i="0" u="none" strike="noStrike" kern="0" cap="none" spc="0" normalizeH="0" baseline="0" noProof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655409" y="871358"/>
            <a:ext cx="8497887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571500" marR="0" lvl="0" indent="-5715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פונקציה לוגריתמית גדלה בקצב איטי, ולכן, באופן כללי, נעדיף אלגוריתם שפונקצית זמן הריצה שלו היא לוגריתמית, על פני אלגוריתם שפונקצית זמן הריצה שלו היא לינארית.</a:t>
            </a:r>
            <a:endParaRPr kumimoji="0" lang="en-US" altLang="he-IL" sz="2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endParaRPr kumimoji="0" lang="el-GR" altLang="he-IL" sz="2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3" name="Picture 4" descr="graph7"/>
          <p:cNvPicPr>
            <a:picLocks noChangeAspect="1" noChangeArrowheads="1"/>
          </p:cNvPicPr>
          <p:nvPr/>
        </p:nvPicPr>
        <p:blipFill>
          <a:blip r:embed="rId3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071" y="1961970"/>
            <a:ext cx="6551613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47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05684" y="785806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6125" y="1921538"/>
            <a:ext cx="2217420" cy="1946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task8(n)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while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&lt; n do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k + 1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* 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34670" y="2128286"/>
            <a:ext cx="1381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just" defTabSz="914400" rtl="0" eaLnBrk="1" latinLnBrk="0" hangingPunct="1"/>
            <a:r>
              <a:rPr lang="en-US" dirty="0"/>
              <a:t>I before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5828" y="2129655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k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43073" y="2114316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241409" y="2935435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8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241408" y="3336583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8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241407" y="3741071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8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235432" y="2930845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5429" y="3319301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5430" y="3718761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8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7083339" y="2939486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1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099405" y="3317472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2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099405" y="3729396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3</a:t>
            </a:r>
            <a:endParaRPr lang="en-US" dirty="0"/>
          </a:p>
        </p:txBody>
      </p:sp>
      <p:sp>
        <p:nvSpPr>
          <p:cNvPr id="53" name="Right Arrow 52"/>
          <p:cNvSpPr/>
          <p:nvPr/>
        </p:nvSpPr>
        <p:spPr>
          <a:xfrm>
            <a:off x="3693675" y="5168660"/>
            <a:ext cx="646981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472562" y="5127682"/>
            <a:ext cx="6894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i</a:t>
            </a:r>
            <a:r>
              <a:rPr lang="en-US" dirty="0"/>
              <a:t> = 2</a:t>
            </a:r>
            <a:r>
              <a:rPr lang="en-US" baseline="30000" dirty="0"/>
              <a:t>k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161966" y="5166154"/>
            <a:ext cx="646981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829207" y="5140864"/>
            <a:ext cx="10155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n &lt;= 2</a:t>
            </a:r>
            <a:r>
              <a:rPr lang="en-US" baseline="30000" dirty="0"/>
              <a:t>k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6752101" y="5174016"/>
            <a:ext cx="646981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508200" y="5127682"/>
            <a:ext cx="11894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k &gt;= log(n)</a:t>
            </a:r>
            <a:endParaRPr lang="en-US" baseline="30000" dirty="0"/>
          </a:p>
        </p:txBody>
      </p:sp>
      <p:sp>
        <p:nvSpPr>
          <p:cNvPr id="59" name="Right Arrow 58"/>
          <p:cNvSpPr/>
          <p:nvPr/>
        </p:nvSpPr>
        <p:spPr>
          <a:xfrm>
            <a:off x="8817559" y="5174016"/>
            <a:ext cx="646981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9513704" y="5127682"/>
            <a:ext cx="11894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O (log(n))</a:t>
            </a:r>
            <a:endParaRPr lang="en-US" baseline="30000" dirty="0"/>
          </a:p>
        </p:txBody>
      </p:sp>
      <p:sp>
        <p:nvSpPr>
          <p:cNvPr id="65" name="Rectangle 64"/>
          <p:cNvSpPr/>
          <p:nvPr/>
        </p:nvSpPr>
        <p:spPr>
          <a:xfrm>
            <a:off x="5224817" y="2563553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8</a:t>
            </a:r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6218840" y="2558963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1</a:t>
            </a:r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7099037" y="2584983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91690" y="762392"/>
            <a:ext cx="818358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600"/>
              </a:spcBef>
              <a:buFont typeface="+mj-cs"/>
              <a:buAutoNum type="hebrew2Minus"/>
            </a:pP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חשבו את מספר הפעמים בו מתבצע גוף של לולאת ה-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while</a:t>
            </a: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בקטע הקוד הבא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600"/>
              </a:spcBef>
              <a:buFont typeface="+mj-cs"/>
              <a:buAutoNum type="hebrew2Minus"/>
            </a:pP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מהו ערך של משתנה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בתום ביצוע לולאת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while</a:t>
            </a: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 (כפונקציה של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178A91-37EB-6B2D-C08E-C8D4C52F21C2}"/>
              </a:ext>
            </a:extLst>
          </p:cNvPr>
          <p:cNvSpPr/>
          <p:nvPr/>
        </p:nvSpPr>
        <p:spPr>
          <a:xfrm>
            <a:off x="7607277" y="2128286"/>
            <a:ext cx="1381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just" defTabSz="914400" rtl="0" eaLnBrk="1" latinLnBrk="0" hangingPunct="1"/>
            <a:r>
              <a:rPr lang="en-US" dirty="0"/>
              <a:t>I after * 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46D882-8423-ADF6-3BE6-5F985A4CBC4C}"/>
              </a:ext>
            </a:extLst>
          </p:cNvPr>
          <p:cNvSpPr/>
          <p:nvPr/>
        </p:nvSpPr>
        <p:spPr>
          <a:xfrm>
            <a:off x="7963906" y="2934143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71E58B-6133-2B91-9626-1C907ABF2A7F}"/>
              </a:ext>
            </a:extLst>
          </p:cNvPr>
          <p:cNvSpPr/>
          <p:nvPr/>
        </p:nvSpPr>
        <p:spPr>
          <a:xfrm>
            <a:off x="7979972" y="3312129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38CF3E-6730-9ED0-B24A-9FF7305B6D93}"/>
              </a:ext>
            </a:extLst>
          </p:cNvPr>
          <p:cNvSpPr/>
          <p:nvPr/>
        </p:nvSpPr>
        <p:spPr>
          <a:xfrm>
            <a:off x="7947314" y="3724053"/>
            <a:ext cx="424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0C4203-EDFA-C3DE-FB28-D26A72306FDB}"/>
              </a:ext>
            </a:extLst>
          </p:cNvPr>
          <p:cNvSpPr/>
          <p:nvPr/>
        </p:nvSpPr>
        <p:spPr>
          <a:xfrm>
            <a:off x="7947314" y="2562261"/>
            <a:ext cx="391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68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6" grpId="0"/>
      <p:bldP spid="17" grpId="0"/>
      <p:bldP spid="18" grpId="0"/>
      <p:bldP spid="20" grpId="0"/>
      <p:bldP spid="21" grpId="0"/>
      <p:bldP spid="22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59" grpId="0" animBg="1"/>
      <p:bldP spid="60" grpId="0"/>
      <p:bldP spid="65" grpId="0"/>
      <p:bldP spid="67" grpId="0"/>
      <p:bldP spid="68" grpId="0"/>
      <p:bldP spid="24" grpId="0"/>
      <p:bldP spid="25" grpId="0"/>
      <p:bldP spid="26" grpId="0"/>
      <p:bldP spid="27" grpId="0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05684" y="785806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9888" y="1458172"/>
            <a:ext cx="248153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task8(n)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for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n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while k &lt;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k * 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91270" y="1650067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i: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3194" y="1661855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52675" y="1661855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2623" y="1661855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5705" y="1661855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90109" y="1667382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9005" y="1651349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2750" y="1668256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9871" y="1668256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9964" y="1668256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32189" y="1650067"/>
            <a:ext cx="5262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24485" y="1658626"/>
            <a:ext cx="4457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18436" y="1658291"/>
            <a:ext cx="4974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29171" y="1636229"/>
            <a:ext cx="4169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98263" y="1638148"/>
            <a:ext cx="424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86345" y="1633000"/>
            <a:ext cx="424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62641" y="1650067"/>
            <a:ext cx="424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5374" y="2087086"/>
            <a:ext cx="399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k: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0657" y="2081312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28108" y="2087713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086" y="2081312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3168" y="2081312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87572" y="2086839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0732" y="2087713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20213" y="2087713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888" y="2081312"/>
            <a:ext cx="470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7427" y="2087713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42039" y="2081312"/>
            <a:ext cx="470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36780" y="2081312"/>
            <a:ext cx="470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1521" y="2070806"/>
            <a:ext cx="470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11049" y="2068232"/>
            <a:ext cx="470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14591" y="2065658"/>
            <a:ext cx="470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85118" y="2070806"/>
            <a:ext cx="470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66512" y="2069485"/>
            <a:ext cx="470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24438" y="2543411"/>
            <a:ext cx="24036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Inner loop iterations: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30642" y="2537010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1209" y="2537010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54291" y="2537010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98695" y="2542537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85117" y="2543411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34205" y="2537010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56262" y="2543411"/>
            <a:ext cx="3290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08550" y="2543411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96896" y="2543411"/>
            <a:ext cx="3132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72647" y="2537010"/>
            <a:ext cx="3158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47464" y="2537010"/>
            <a:ext cx="3127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76198" y="2537010"/>
            <a:ext cx="3285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70307" y="2521356"/>
            <a:ext cx="3594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63995" y="2521762"/>
            <a:ext cx="2604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41914" y="2521356"/>
            <a:ext cx="270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64" name="Left Brace 63"/>
          <p:cNvSpPr/>
          <p:nvPr/>
        </p:nvSpPr>
        <p:spPr>
          <a:xfrm rot="16200000">
            <a:off x="6356904" y="2805136"/>
            <a:ext cx="172527" cy="5685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130550" y="3233899"/>
            <a:ext cx="8455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log(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73" name="Half Frame 72"/>
          <p:cNvSpPr/>
          <p:nvPr/>
        </p:nvSpPr>
        <p:spPr>
          <a:xfrm>
            <a:off x="6060904" y="3218967"/>
            <a:ext cx="139292" cy="369332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Half Frame 74"/>
          <p:cNvSpPr/>
          <p:nvPr/>
        </p:nvSpPr>
        <p:spPr>
          <a:xfrm flipH="1">
            <a:off x="6714805" y="3218968"/>
            <a:ext cx="99210" cy="369331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Left Brace 75"/>
          <p:cNvSpPr/>
          <p:nvPr/>
        </p:nvSpPr>
        <p:spPr>
          <a:xfrm rot="16200000">
            <a:off x="7383002" y="2476123"/>
            <a:ext cx="206165" cy="12265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Left Brace 76"/>
          <p:cNvSpPr/>
          <p:nvPr/>
        </p:nvSpPr>
        <p:spPr>
          <a:xfrm rot="16200000">
            <a:off x="9582854" y="1662834"/>
            <a:ext cx="206165" cy="285311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7126331" y="3257338"/>
            <a:ext cx="8455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log(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79" name="Half Frame 78"/>
          <p:cNvSpPr/>
          <p:nvPr/>
        </p:nvSpPr>
        <p:spPr>
          <a:xfrm>
            <a:off x="7067944" y="3257338"/>
            <a:ext cx="139292" cy="369332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0" name="Half Frame 79"/>
          <p:cNvSpPr/>
          <p:nvPr/>
        </p:nvSpPr>
        <p:spPr>
          <a:xfrm flipH="1">
            <a:off x="7721845" y="3257339"/>
            <a:ext cx="99210" cy="369331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364756" y="3233899"/>
            <a:ext cx="8455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log(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82" name="Half Frame 81"/>
          <p:cNvSpPr/>
          <p:nvPr/>
        </p:nvSpPr>
        <p:spPr>
          <a:xfrm>
            <a:off x="9306369" y="3233899"/>
            <a:ext cx="139292" cy="369332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" name="Half Frame 82"/>
          <p:cNvSpPr/>
          <p:nvPr/>
        </p:nvSpPr>
        <p:spPr>
          <a:xfrm flipH="1">
            <a:off x="9960270" y="3233900"/>
            <a:ext cx="99210" cy="369331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9076616" y="3739653"/>
                <a:ext cx="1286904" cy="292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0"/>
                <a14:m>
                  <m:oMath xmlns:m="http://schemas.openxmlformats.org/officeDocument/2006/math">
                    <m:func>
                      <m:func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3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func>
                    <m:r>
                      <a:rPr lang="en-US" sz="13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300" dirty="0"/>
                  <a:t>3.16</a:t>
                </a: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6616" y="3739653"/>
                <a:ext cx="1286904" cy="292388"/>
              </a:xfrm>
              <a:prstGeom prst="rect">
                <a:avLst/>
              </a:prstGeom>
              <a:blipFill>
                <a:blip r:embed="rId3"/>
                <a:stretch>
                  <a:fillRect t="-4167" b="-1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9108140" y="4007133"/>
                <a:ext cx="1276977" cy="292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0"/>
                <a14:m>
                  <m:oMath xmlns:m="http://schemas.openxmlformats.org/officeDocument/2006/math">
                    <m:func>
                      <m:func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3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30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func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300" dirty="0"/>
                  <a:t>3.90</a:t>
                </a: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140" y="4007133"/>
                <a:ext cx="1276977" cy="292388"/>
              </a:xfrm>
              <a:prstGeom prst="rect">
                <a:avLst/>
              </a:prstGeom>
              <a:blipFill>
                <a:blip r:embed="rId4"/>
                <a:stretch>
                  <a:fillRect t="-4167" b="-1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Rectangle 90"/>
              <p:cNvSpPr/>
              <p:nvPr/>
            </p:nvSpPr>
            <p:spPr>
              <a:xfrm>
                <a:off x="2512381" y="4450692"/>
                <a:ext cx="8475659" cy="1256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0"/>
                <a:r>
                  <a:rPr lang="en-US" sz="1500" dirty="0"/>
                  <a:t>Total=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 sz="1500" dirty="0"/>
                  <a:t>+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</m:oMath>
                </a14:m>
                <a:r>
                  <a:rPr lang="en-US" sz="1500" dirty="0"/>
                  <a:t> +…+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500" dirty="0"/>
                  <a:t> = O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func>
                  </m:oMath>
                </a14:m>
                <a:r>
                  <a:rPr lang="en-US" sz="1500" dirty="0"/>
                  <a:t>) or O (n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500" dirty="0"/>
                  <a:t>))</a:t>
                </a:r>
              </a:p>
              <a:p>
                <a:pPr algn="just" rtl="0"/>
                <a:endParaRPr lang="en-US" sz="1500" dirty="0"/>
              </a:p>
              <a:p>
                <a:pPr algn="just" rtl="0"/>
                <a:r>
                  <a:rPr lang="en-US" sz="1500" dirty="0">
                    <a:hlinkClick r:id="rId5"/>
                  </a:rPr>
                  <a:t>log(n!) ?= nlog(n)</a:t>
                </a:r>
                <a:r>
                  <a:rPr lang="en-US" sz="1500" dirty="0"/>
                  <a:t> </a:t>
                </a:r>
              </a:p>
              <a:p>
                <a:pPr algn="just" rtl="0"/>
                <a:endParaRPr lang="en-US" sz="1500" dirty="0"/>
              </a:p>
              <a:p>
                <a:pPr algn="just" rtl="0"/>
                <a:r>
                  <a:rPr lang="en-US" sz="1500" dirty="0"/>
                  <a:t>(https://stackoverflow.com/questions/2095395/is-logn-%CE%98n-logn)</a:t>
                </a:r>
              </a:p>
            </p:txBody>
          </p:sp>
        </mc:Choice>
        <mc:Fallback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381" y="4450692"/>
                <a:ext cx="8475659" cy="1256241"/>
              </a:xfrm>
              <a:prstGeom prst="rect">
                <a:avLst/>
              </a:prstGeom>
              <a:blipFill>
                <a:blip r:embed="rId6"/>
                <a:stretch>
                  <a:fillRect l="-299" b="-5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753848" y="793473"/>
            <a:ext cx="64908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כמה פעמים מתבצעת פעולת הכפל 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k &lt;- k *2</a:t>
            </a: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</a:rPr>
              <a:t>בקטע הקוד הבא?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BA8D6E3-B46C-404E-5780-ABD77B2F47A7}"/>
                  </a:ext>
                </a:extLst>
              </p:cNvPr>
              <p:cNvSpPr/>
              <p:nvPr/>
            </p:nvSpPr>
            <p:spPr>
              <a:xfrm>
                <a:off x="6961411" y="3749403"/>
                <a:ext cx="1286904" cy="292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0"/>
                <a14:m>
                  <m:oMath xmlns:m="http://schemas.openxmlformats.org/officeDocument/2006/math">
                    <m:func>
                      <m:func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3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func>
                    <m:r>
                      <a:rPr lang="en-US" sz="1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300" dirty="0"/>
                  <a:t>2.32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BA8D6E3-B46C-404E-5780-ABD77B2F4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411" y="3749403"/>
                <a:ext cx="1286904" cy="292388"/>
              </a:xfrm>
              <a:prstGeom prst="rect">
                <a:avLst/>
              </a:prstGeom>
              <a:blipFill>
                <a:blip r:embed="rId7"/>
                <a:stretch>
                  <a:fillRect t="-4167" b="-1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41DE2EA-C555-AA51-476E-CCA34C138B90}"/>
                  </a:ext>
                </a:extLst>
              </p:cNvPr>
              <p:cNvSpPr/>
              <p:nvPr/>
            </p:nvSpPr>
            <p:spPr>
              <a:xfrm>
                <a:off x="6995430" y="4108345"/>
                <a:ext cx="1286904" cy="292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0"/>
                <a14:m>
                  <m:oMath xmlns:m="http://schemas.openxmlformats.org/officeDocument/2006/math">
                    <m:func>
                      <m:func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3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func>
                    <m:r>
                      <a:rPr lang="en-US" sz="13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300" dirty="0"/>
                  <a:t> 3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41DE2EA-C555-AA51-476E-CCA34C138B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430" y="4108345"/>
                <a:ext cx="1286904" cy="292388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8F880B3-2F4E-3CEF-3F9C-EE0C2577C0AD}"/>
                  </a:ext>
                </a:extLst>
              </p:cNvPr>
              <p:cNvSpPr/>
              <p:nvPr/>
            </p:nvSpPr>
            <p:spPr>
              <a:xfrm>
                <a:off x="5752675" y="3749019"/>
                <a:ext cx="1286904" cy="292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0"/>
                <a14:m>
                  <m:oMath xmlns:m="http://schemas.openxmlformats.org/officeDocument/2006/math">
                    <m:func>
                      <m:func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3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  <m:r>
                      <a:rPr lang="en-US" sz="1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300" dirty="0"/>
                  <a:t>1.58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8F880B3-2F4E-3CEF-3F9C-EE0C2577C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675" y="3749019"/>
                <a:ext cx="1286904" cy="292388"/>
              </a:xfrm>
              <a:prstGeom prst="rect">
                <a:avLst/>
              </a:prstGeom>
              <a:blipFill>
                <a:blip r:embed="rId9"/>
                <a:stretch>
                  <a:fillRect t="-4167" b="-1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816A8CF-03A8-2420-92AE-A16E2404D6A4}"/>
                  </a:ext>
                </a:extLst>
              </p:cNvPr>
              <p:cNvSpPr/>
              <p:nvPr/>
            </p:nvSpPr>
            <p:spPr>
              <a:xfrm>
                <a:off x="5781040" y="4132571"/>
                <a:ext cx="1286904" cy="292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0"/>
                <a14:m>
                  <m:oMath xmlns:m="http://schemas.openxmlformats.org/officeDocument/2006/math">
                    <m:func>
                      <m:func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3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func>
                    <m:r>
                      <a:rPr lang="en-US" sz="1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300" dirty="0"/>
                  <a:t>2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816A8CF-03A8-2420-92AE-A16E2404D6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040" y="4132571"/>
                <a:ext cx="1286904" cy="292388"/>
              </a:xfrm>
              <a:prstGeom prst="rect">
                <a:avLst/>
              </a:prstGeom>
              <a:blipFill>
                <a:blip r:embed="rId10"/>
                <a:stretch>
                  <a:fillRect t="-4167" b="-1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55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4" grpId="0" animBg="1"/>
      <p:bldP spid="66" grpId="0"/>
      <p:bldP spid="73" grpId="0" animBg="1"/>
      <p:bldP spid="75" grpId="0" animBg="1"/>
      <p:bldP spid="76" grpId="0" animBg="1"/>
      <p:bldP spid="77" grpId="0" animBg="1"/>
      <p:bldP spid="78" grpId="0"/>
      <p:bldP spid="79" grpId="0" animBg="1"/>
      <p:bldP spid="80" grpId="0" animBg="1"/>
      <p:bldP spid="81" grpId="0"/>
      <p:bldP spid="82" grpId="0" animBg="1"/>
      <p:bldP spid="83" grpId="0" animBg="1"/>
      <p:bldP spid="89" grpId="0"/>
      <p:bldP spid="90" grpId="0"/>
      <p:bldP spid="91" grpId="0"/>
      <p:bldP spid="32" grpId="0"/>
      <p:bldP spid="33" grpId="0"/>
      <p:bldP spid="34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243F8-A031-4071-CBD9-B6F412EFD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CA582-0FAF-40DD-CEB8-A625D58EB2C0}"/>
              </a:ext>
            </a:extLst>
          </p:cNvPr>
          <p:cNvSpPr/>
          <p:nvPr/>
        </p:nvSpPr>
        <p:spPr>
          <a:xfrm>
            <a:off x="10305684" y="785806"/>
            <a:ext cx="931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FA2DCF-22A2-A02E-6A13-22DC479FA489}"/>
              </a:ext>
            </a:extLst>
          </p:cNvPr>
          <p:cNvSpPr/>
          <p:nvPr/>
        </p:nvSpPr>
        <p:spPr>
          <a:xfrm>
            <a:off x="689888" y="1458172"/>
            <a:ext cx="248153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task8(n)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for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to n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while k &lt;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k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k * 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5F18E0-2741-2436-FA96-7D5C7944FBED}"/>
              </a:ext>
            </a:extLst>
          </p:cNvPr>
          <p:cNvSpPr/>
          <p:nvPr/>
        </p:nvSpPr>
        <p:spPr>
          <a:xfrm>
            <a:off x="4347595" y="1463052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 err="1"/>
              <a:t>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39CCDB-ADDA-0E22-A80B-224964EC44C8}"/>
              </a:ext>
            </a:extLst>
          </p:cNvPr>
          <p:cNvSpPr/>
          <p:nvPr/>
        </p:nvSpPr>
        <p:spPr>
          <a:xfrm>
            <a:off x="4298802" y="1896645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454F8A-D4CD-E1AC-0567-B95C43384F02}"/>
              </a:ext>
            </a:extLst>
          </p:cNvPr>
          <p:cNvSpPr/>
          <p:nvPr/>
        </p:nvSpPr>
        <p:spPr>
          <a:xfrm>
            <a:off x="4311284" y="3382372"/>
            <a:ext cx="399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617EF-FD0C-B2C9-4DEC-7D9E6C7E0EC1}"/>
              </a:ext>
            </a:extLst>
          </p:cNvPr>
          <p:cNvSpPr/>
          <p:nvPr/>
        </p:nvSpPr>
        <p:spPr>
          <a:xfrm>
            <a:off x="4298802" y="2840518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41B524-2459-3022-45B4-D16B8B018B51}"/>
              </a:ext>
            </a:extLst>
          </p:cNvPr>
          <p:cNvSpPr/>
          <p:nvPr/>
        </p:nvSpPr>
        <p:spPr>
          <a:xfrm>
            <a:off x="4298802" y="2340509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E653DDC-0B00-A1D2-64D0-4AD5F9570160}"/>
                  </a:ext>
                </a:extLst>
              </p:cNvPr>
              <p:cNvSpPr/>
              <p:nvPr/>
            </p:nvSpPr>
            <p:spPr>
              <a:xfrm>
                <a:off x="5761956" y="4579299"/>
                <a:ext cx="8475659" cy="1256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0"/>
                <a:r>
                  <a:rPr lang="en-US" sz="1500" dirty="0"/>
                  <a:t>Total=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 sz="1500" dirty="0"/>
                  <a:t>+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</m:oMath>
                </a14:m>
                <a:r>
                  <a:rPr lang="en-US" sz="1500" dirty="0"/>
                  <a:t> +…+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500" dirty="0"/>
                  <a:t> = O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func>
                  </m:oMath>
                </a14:m>
                <a:r>
                  <a:rPr lang="en-US" sz="1500" dirty="0"/>
                  <a:t>) or O (n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500" dirty="0"/>
                  <a:t>))</a:t>
                </a:r>
              </a:p>
              <a:p>
                <a:pPr algn="just" rtl="0"/>
                <a:endParaRPr lang="en-US" sz="1500" dirty="0"/>
              </a:p>
              <a:p>
                <a:pPr algn="just" rtl="0"/>
                <a:r>
                  <a:rPr lang="en-US" sz="1500" dirty="0">
                    <a:hlinkClick r:id="rId3"/>
                  </a:rPr>
                  <a:t>log(n!) ?= nlog(n)</a:t>
                </a:r>
                <a:r>
                  <a:rPr lang="en-US" sz="1500" dirty="0"/>
                  <a:t> </a:t>
                </a:r>
              </a:p>
              <a:p>
                <a:pPr algn="just" rtl="0"/>
                <a:endParaRPr lang="en-US" sz="1500" dirty="0"/>
              </a:p>
              <a:p>
                <a:pPr algn="just" rtl="0"/>
                <a:r>
                  <a:rPr lang="en-US" sz="1500" dirty="0"/>
                  <a:t>(https://stackoverflow.com/questions/2095395/is-logn-%CE%98n-logn)</a:t>
                </a:r>
              </a:p>
            </p:txBody>
          </p:sp>
        </mc:Choice>
        <mc:Fallback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E653DDC-0B00-A1D2-64D0-4AD5F9570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956" y="4579299"/>
                <a:ext cx="8475659" cy="1256241"/>
              </a:xfrm>
              <a:prstGeom prst="rect">
                <a:avLst/>
              </a:prstGeom>
              <a:blipFill>
                <a:blip r:embed="rId4"/>
                <a:stretch>
                  <a:fillRect l="-299" b="-5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3DC95DB-F35F-753A-46D1-E7C8FEC152E7}"/>
              </a:ext>
            </a:extLst>
          </p:cNvPr>
          <p:cNvSpPr/>
          <p:nvPr/>
        </p:nvSpPr>
        <p:spPr>
          <a:xfrm>
            <a:off x="3753848" y="793473"/>
            <a:ext cx="64908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lang="he-IL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כמה פעמים מתבצעת פעולת הכפל 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k &lt;- k *2</a:t>
            </a:r>
            <a:r>
              <a:rPr lang="he-IL" sz="2000" dirty="0">
                <a:latin typeface="Arial" panose="020B0604020202020204" pitchFamily="34" charset="0"/>
                <a:ea typeface="Times New Roman" panose="02020603050405020304" pitchFamily="18" charset="0"/>
              </a:rPr>
              <a:t>בקטע הקוד הבא?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D0A0A3-6417-233B-E16C-FB27D0DACA32}"/>
              </a:ext>
            </a:extLst>
          </p:cNvPr>
          <p:cNvSpPr/>
          <p:nvPr/>
        </p:nvSpPr>
        <p:spPr>
          <a:xfrm>
            <a:off x="4227867" y="3826236"/>
            <a:ext cx="48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16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B5EBFEE-353E-7A1A-AF05-71F4CA1A87D5}"/>
              </a:ext>
            </a:extLst>
          </p:cNvPr>
          <p:cNvSpPr/>
          <p:nvPr/>
        </p:nvSpPr>
        <p:spPr>
          <a:xfrm>
            <a:off x="4984626" y="1463052"/>
            <a:ext cx="23488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K values (inside while)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A10A28A-F948-3030-2E3E-6651DCB21F82}"/>
              </a:ext>
            </a:extLst>
          </p:cNvPr>
          <p:cNvSpPr/>
          <p:nvPr/>
        </p:nvSpPr>
        <p:spPr>
          <a:xfrm>
            <a:off x="7333487" y="1452780"/>
            <a:ext cx="23488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Inner loop count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0E3A91-87A5-27CB-733A-2950472E0F27}"/>
              </a:ext>
            </a:extLst>
          </p:cNvPr>
          <p:cNvSpPr txBox="1"/>
          <p:nvPr/>
        </p:nvSpPr>
        <p:spPr>
          <a:xfrm>
            <a:off x="9228582" y="146882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-US" dirty="0"/>
              <a:t>log₂(</a:t>
            </a:r>
            <a:r>
              <a:rPr lang="en-US" dirty="0" err="1"/>
              <a:t>i</a:t>
            </a:r>
            <a:r>
              <a:rPr lang="en-US" dirty="0"/>
              <a:t>) (approx.)</a:t>
            </a:r>
            <a:endParaRPr lang="en-IL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A921FEB-3E21-00EB-2422-1D1496CE8ACE}"/>
              </a:ext>
            </a:extLst>
          </p:cNvPr>
          <p:cNvSpPr/>
          <p:nvPr/>
        </p:nvSpPr>
        <p:spPr>
          <a:xfrm>
            <a:off x="5728107" y="1925511"/>
            <a:ext cx="7593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</a:t>
            </a:r>
            <a:r>
              <a:rPr lang="en-US" dirty="0">
                <a:sym typeface="Wingdings" pitchFamily="2" charset="2"/>
              </a:rPr>
              <a:t> 1</a:t>
            </a:r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B1832E4-A274-5EBB-3E7C-5D7F971DC566}"/>
              </a:ext>
            </a:extLst>
          </p:cNvPr>
          <p:cNvSpPr/>
          <p:nvPr/>
        </p:nvSpPr>
        <p:spPr>
          <a:xfrm>
            <a:off x="5728108" y="2869384"/>
            <a:ext cx="8353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1, 2, 4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FDD24E5-E387-D2AC-AA0C-A182CAFE9F63}"/>
              </a:ext>
            </a:extLst>
          </p:cNvPr>
          <p:cNvSpPr/>
          <p:nvPr/>
        </p:nvSpPr>
        <p:spPr>
          <a:xfrm>
            <a:off x="5728108" y="2369375"/>
            <a:ext cx="6543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1, 2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2FC967F-03DA-C858-9459-1FD3ECB28EAF}"/>
              </a:ext>
            </a:extLst>
          </p:cNvPr>
          <p:cNvSpPr/>
          <p:nvPr/>
        </p:nvSpPr>
        <p:spPr>
          <a:xfrm>
            <a:off x="5728108" y="3346814"/>
            <a:ext cx="10475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1, 2, 4, 8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390EBC5-640B-DE70-6859-E1F39AD46F30}"/>
              </a:ext>
            </a:extLst>
          </p:cNvPr>
          <p:cNvSpPr/>
          <p:nvPr/>
        </p:nvSpPr>
        <p:spPr>
          <a:xfrm>
            <a:off x="7992772" y="1971177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14C9B02-EDFB-F5A7-AF33-47D69CBC3B82}"/>
              </a:ext>
            </a:extLst>
          </p:cNvPr>
          <p:cNvSpPr/>
          <p:nvPr/>
        </p:nvSpPr>
        <p:spPr>
          <a:xfrm>
            <a:off x="7992772" y="3805899"/>
            <a:ext cx="399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41FC018-7C01-DF19-B377-A55F164EC94E}"/>
              </a:ext>
            </a:extLst>
          </p:cNvPr>
          <p:cNvSpPr/>
          <p:nvPr/>
        </p:nvSpPr>
        <p:spPr>
          <a:xfrm>
            <a:off x="7992772" y="2915050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3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1EF9FD4-98F9-2BA8-02A0-234FC4BC6A2D}"/>
              </a:ext>
            </a:extLst>
          </p:cNvPr>
          <p:cNvSpPr/>
          <p:nvPr/>
        </p:nvSpPr>
        <p:spPr>
          <a:xfrm>
            <a:off x="7992772" y="2415041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2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F180196-E95F-BB82-FD7F-96B6F9F7E9A5}"/>
              </a:ext>
            </a:extLst>
          </p:cNvPr>
          <p:cNvSpPr/>
          <p:nvPr/>
        </p:nvSpPr>
        <p:spPr>
          <a:xfrm>
            <a:off x="7992772" y="3392480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3EF763B-01A8-5813-5702-23C41ECC0356}"/>
              </a:ext>
            </a:extLst>
          </p:cNvPr>
          <p:cNvSpPr/>
          <p:nvPr/>
        </p:nvSpPr>
        <p:spPr>
          <a:xfrm>
            <a:off x="9800031" y="2000043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0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BF5561D-7C81-D92E-AA13-46D636EB22E6}"/>
              </a:ext>
            </a:extLst>
          </p:cNvPr>
          <p:cNvSpPr/>
          <p:nvPr/>
        </p:nvSpPr>
        <p:spPr>
          <a:xfrm>
            <a:off x="9800031" y="3834765"/>
            <a:ext cx="399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4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23257E4-AB5A-F5AE-DF9C-C21AC89FED61}"/>
              </a:ext>
            </a:extLst>
          </p:cNvPr>
          <p:cNvSpPr/>
          <p:nvPr/>
        </p:nvSpPr>
        <p:spPr>
          <a:xfrm>
            <a:off x="9800031" y="2943916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2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536192F-8818-166A-4C99-658697D8567B}"/>
              </a:ext>
            </a:extLst>
          </p:cNvPr>
          <p:cNvSpPr/>
          <p:nvPr/>
        </p:nvSpPr>
        <p:spPr>
          <a:xfrm>
            <a:off x="9800031" y="2443907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2B18AEF-DFB6-D88E-D1E7-238CF217EDF7}"/>
              </a:ext>
            </a:extLst>
          </p:cNvPr>
          <p:cNvSpPr/>
          <p:nvPr/>
        </p:nvSpPr>
        <p:spPr>
          <a:xfrm>
            <a:off x="9800031" y="3421346"/>
            <a:ext cx="30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54F44B4-3D7D-5624-0E8A-CDA0B56F82FF}"/>
              </a:ext>
            </a:extLst>
          </p:cNvPr>
          <p:cNvSpPr/>
          <p:nvPr/>
        </p:nvSpPr>
        <p:spPr>
          <a:xfrm>
            <a:off x="3005138" y="1463052"/>
            <a:ext cx="8665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 n = 16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A2C4AA2-5E7A-4D85-0129-94CAEBC31BAA}"/>
              </a:ext>
            </a:extLst>
          </p:cNvPr>
          <p:cNvSpPr/>
          <p:nvPr/>
        </p:nvSpPr>
        <p:spPr>
          <a:xfrm>
            <a:off x="5648479" y="3805899"/>
            <a:ext cx="1350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dirty="0"/>
              <a:t>1, 2, 4, 8, 16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03C8255-6C39-8121-6615-67FC046973A6}"/>
                  </a:ext>
                </a:extLst>
              </p:cNvPr>
              <p:cNvSpPr txBox="1"/>
              <p:nvPr/>
            </p:nvSpPr>
            <p:spPr>
              <a:xfrm>
                <a:off x="1300381" y="4563255"/>
                <a:ext cx="6094428" cy="870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03C8255-6C39-8121-6615-67FC04697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381" y="4563255"/>
                <a:ext cx="6094428" cy="870751"/>
              </a:xfrm>
              <a:prstGeom prst="rect">
                <a:avLst/>
              </a:prstGeom>
              <a:blipFill>
                <a:blip r:embed="rId5"/>
                <a:stretch>
                  <a:fillRect t="-98551" b="-1478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86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22" grpId="0"/>
      <p:bldP spid="23" grpId="0"/>
      <p:bldP spid="24" grpId="0"/>
      <p:bldP spid="91" grpId="0"/>
      <p:bldP spid="65" grpId="0"/>
      <p:bldP spid="67" grpId="0"/>
      <p:bldP spid="68" grpId="0"/>
      <p:bldP spid="70" grpId="0"/>
      <p:bldP spid="71" grpId="0"/>
      <p:bldP spid="74" grpId="0"/>
      <p:bldP spid="84" grpId="0"/>
      <p:bldP spid="85" grpId="0"/>
      <p:bldP spid="87" grpId="0"/>
      <p:bldP spid="88" grpId="0"/>
      <p:bldP spid="92" grpId="0"/>
      <p:bldP spid="93" grpId="0"/>
      <p:bldP spid="94" grpId="0"/>
      <p:bldP spid="96" grpId="0"/>
      <p:bldP spid="97" grpId="0"/>
      <p:bldP spid="98" grpId="0"/>
      <p:bldP spid="99" grpId="0"/>
      <p:bldP spid="100" grpId="0"/>
      <p:bldP spid="102" grpId="0"/>
      <p:bldP spid="103" grpId="0"/>
      <p:bldP spid="10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7855" y="469066"/>
            <a:ext cx="1034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86114" y="94639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Bef>
                <a:spcPts val="300"/>
              </a:spcBef>
            </a:pPr>
            <a:r>
              <a:rPr lang="he-IL" dirty="0">
                <a:latin typeface="Times New Roman" panose="02020603050405020304" pitchFamily="18" charset="0"/>
                <a:ea typeface="Times New Roman" panose="02020603050405020304" pitchFamily="18" charset="0"/>
              </a:rPr>
              <a:t>נתון מערך של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he-IL" dirty="0">
                <a:latin typeface="Times New Roman" panose="02020603050405020304" pitchFamily="18" charset="0"/>
                <a:ea typeface="Times New Roman" panose="02020603050405020304" pitchFamily="18" charset="0"/>
              </a:rPr>
              <a:t> איברים.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he-IL" dirty="0">
                <a:ea typeface="Times New Roman" panose="02020603050405020304" pitchFamily="18" charset="0"/>
              </a:rPr>
              <a:t>כמה השוואות בין איברים במערך נדרשות על מנת למצוא את </a:t>
            </a:r>
            <a:r>
              <a:rPr lang="he-IL" b="1" u="sng" dirty="0">
                <a:ea typeface="Times New Roman" panose="02020603050405020304" pitchFamily="18" charset="0"/>
              </a:rPr>
              <a:t>האיבר</a:t>
            </a:r>
            <a:r>
              <a:rPr lang="en-US" dirty="0">
                <a:ea typeface="Times New Roman" panose="02020603050405020304" pitchFamily="18" charset="0"/>
              </a:rPr>
              <a:t>?</a:t>
            </a:r>
            <a:r>
              <a:rPr lang="he-IL" dirty="0"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86114" y="22515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Bef>
                <a:spcPts val="300"/>
              </a:spcBef>
            </a:pPr>
            <a:r>
              <a:rPr lang="he-IL" dirty="0">
                <a:latin typeface="Times New Roman" panose="02020603050405020304" pitchFamily="18" charset="0"/>
                <a:ea typeface="Times New Roman" panose="02020603050405020304" pitchFamily="18" charset="0"/>
              </a:rPr>
              <a:t>נתון מערך של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he-IL" dirty="0">
                <a:latin typeface="Times New Roman" panose="02020603050405020304" pitchFamily="18" charset="0"/>
                <a:ea typeface="Times New Roman" panose="02020603050405020304" pitchFamily="18" charset="0"/>
              </a:rPr>
              <a:t> איברים.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he-IL" dirty="0">
                <a:latin typeface="Times New Roman" panose="02020603050405020304" pitchFamily="18" charset="0"/>
                <a:ea typeface="Times New Roman" panose="02020603050405020304" pitchFamily="18" charset="0"/>
              </a:rPr>
              <a:t>כמה השוואות בין שני איברים במערך נדרשות על מנת למצוא את </a:t>
            </a:r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שני המספרים הגדולים ביותר</a:t>
            </a:r>
            <a:r>
              <a:rPr lang="he-IL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47855" y="1715167"/>
            <a:ext cx="1021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</a:t>
            </a: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11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2940" y="3071801"/>
            <a:ext cx="50673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300" dirty="0">
                <a:latin typeface="JetBrains Mono"/>
              </a:rPr>
              <a:t>void </a:t>
            </a:r>
            <a:r>
              <a:rPr lang="en-US" sz="1300" dirty="0" err="1">
                <a:latin typeface="JetBrains Mono"/>
              </a:rPr>
              <a:t>findTwoLargest</a:t>
            </a:r>
            <a:r>
              <a:rPr lang="en-US" sz="1300" dirty="0">
                <a:latin typeface="JetBrains Mono"/>
              </a:rPr>
              <a:t>(</a:t>
            </a:r>
            <a:r>
              <a:rPr lang="en-US" sz="1300" dirty="0" err="1">
                <a:latin typeface="JetBrains Mono"/>
              </a:rPr>
              <a:t>struct</a:t>
            </a:r>
            <a:r>
              <a:rPr lang="en-US" sz="1300" dirty="0">
                <a:latin typeface="JetBrains Mono"/>
              </a:rPr>
              <a:t> </a:t>
            </a:r>
            <a:r>
              <a:rPr lang="en-US" sz="1300" dirty="0" err="1">
                <a:latin typeface="JetBrains Mono"/>
              </a:rPr>
              <a:t>TreeNode</a:t>
            </a:r>
            <a:r>
              <a:rPr lang="en-US" sz="1300" dirty="0">
                <a:latin typeface="JetBrains Mono"/>
              </a:rPr>
              <a:t>* root, </a:t>
            </a:r>
            <a:r>
              <a:rPr lang="en-US" sz="1300" dirty="0" err="1">
                <a:latin typeface="JetBrains Mono"/>
              </a:rPr>
              <a:t>int</a:t>
            </a:r>
            <a:r>
              <a:rPr lang="en-US" sz="1300" dirty="0">
                <a:latin typeface="JetBrains Mono"/>
              </a:rPr>
              <a:t>* max1, </a:t>
            </a:r>
            <a:r>
              <a:rPr lang="en-US" sz="1300" dirty="0" err="1">
                <a:latin typeface="JetBrains Mono"/>
              </a:rPr>
              <a:t>int</a:t>
            </a:r>
            <a:r>
              <a:rPr lang="en-US" sz="1300" dirty="0">
                <a:latin typeface="JetBrains Mono"/>
              </a:rPr>
              <a:t>* max2) {</a:t>
            </a: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if (root == NULL) {</a:t>
            </a: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    return;</a:t>
            </a: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}</a:t>
            </a:r>
            <a:br>
              <a:rPr lang="en-US" sz="1300" dirty="0">
                <a:latin typeface="JetBrains Mono"/>
              </a:rPr>
            </a:b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</a:t>
            </a:r>
            <a:r>
              <a:rPr lang="en-US" sz="1300" dirty="0" err="1">
                <a:latin typeface="JetBrains Mono"/>
              </a:rPr>
              <a:t>findTwoLargest</a:t>
            </a:r>
            <a:r>
              <a:rPr lang="en-US" sz="1300" dirty="0">
                <a:latin typeface="JetBrains Mono"/>
              </a:rPr>
              <a:t>(root-&gt;right, max1, max2);</a:t>
            </a:r>
            <a:br>
              <a:rPr lang="en-US" sz="1300" dirty="0">
                <a:latin typeface="JetBrains Mono"/>
              </a:rPr>
            </a:b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if (root-&gt;data &gt; *max1) {</a:t>
            </a: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    *max2 = *max1;</a:t>
            </a: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    *max1 = root-&gt;data;</a:t>
            </a: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} else if (root-&gt;data &gt; *max2 &amp;&amp; root-&gt;data != *max1) {</a:t>
            </a: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    *max2 = root-&gt;data;</a:t>
            </a: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}</a:t>
            </a:r>
            <a:br>
              <a:rPr lang="en-US" sz="1300" dirty="0">
                <a:latin typeface="JetBrains Mono"/>
              </a:rPr>
            </a:b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    </a:t>
            </a:r>
            <a:r>
              <a:rPr lang="en-US" sz="1300" dirty="0" err="1">
                <a:latin typeface="JetBrains Mono"/>
              </a:rPr>
              <a:t>findTwoLargest</a:t>
            </a:r>
            <a:r>
              <a:rPr lang="en-US" sz="1300" dirty="0">
                <a:latin typeface="JetBrains Mono"/>
              </a:rPr>
              <a:t>(root-&gt;left, max1, max2);</a:t>
            </a:r>
            <a:br>
              <a:rPr lang="en-US" sz="1300" dirty="0">
                <a:latin typeface="JetBrains Mono"/>
              </a:rPr>
            </a:br>
            <a:r>
              <a:rPr lang="en-US" sz="1300" dirty="0">
                <a:latin typeface="JetBrains Mono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1147" y="2428521"/>
            <a:ext cx="1875023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300" b="1" dirty="0">
                <a:solidFill>
                  <a:srgbClr val="FF0000"/>
                </a:solidFill>
                <a:latin typeface="Söhne"/>
              </a:rPr>
              <a:t>Using array = O(2n-3)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99384" y="1050942"/>
            <a:ext cx="1875023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300" b="1" dirty="0">
                <a:solidFill>
                  <a:srgbClr val="FF0000"/>
                </a:solidFill>
                <a:latin typeface="Söhne"/>
              </a:rPr>
              <a:t>Using array = O(n-1)</a:t>
            </a:r>
            <a:endParaRPr lang="en-US" sz="13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2C49FE-3007-24E0-B1CD-41E737FCDE0A}"/>
                  </a:ext>
                </a:extLst>
              </p:cNvPr>
              <p:cNvSpPr txBox="1"/>
              <p:nvPr/>
            </p:nvSpPr>
            <p:spPr>
              <a:xfrm>
                <a:off x="7219051" y="3285299"/>
                <a:ext cx="2531531" cy="461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:r>
                  <a:rPr lang="en-US" dirty="0"/>
                  <a:t>T(n)</a:t>
                </a:r>
                <a:r>
                  <a:rPr lang="ru-RU" dirty="0"/>
                  <a:t> </a:t>
                </a:r>
                <a:r>
                  <a:rPr lang="en-US" dirty="0"/>
                  <a:t>=</a:t>
                </a:r>
                <a:r>
                  <a:rPr lang="ru-RU" dirty="0"/>
                  <a:t> </a:t>
                </a:r>
                <a:r>
                  <a:rPr lang="en-US" dirty="0"/>
                  <a:t>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​)</a:t>
                </a:r>
                <a:r>
                  <a:rPr lang="ru-RU" dirty="0"/>
                  <a:t> </a:t>
                </a:r>
                <a:r>
                  <a:rPr lang="en-US" dirty="0"/>
                  <a:t>+</a:t>
                </a:r>
                <a:r>
                  <a:rPr lang="ru-RU" dirty="0"/>
                  <a:t> </a:t>
                </a:r>
                <a:r>
                  <a:rPr lang="en-US" dirty="0"/>
                  <a:t>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​)</a:t>
                </a:r>
                <a:r>
                  <a:rPr lang="ru-RU" dirty="0"/>
                  <a:t> </a:t>
                </a:r>
                <a:r>
                  <a:rPr lang="en-US" dirty="0"/>
                  <a:t>+</a:t>
                </a:r>
                <a:r>
                  <a:rPr lang="ru-RU" dirty="0"/>
                  <a:t> </a:t>
                </a:r>
                <a:r>
                  <a:rPr lang="en-US" dirty="0"/>
                  <a:t>O(1)</a:t>
                </a:r>
                <a:endParaRPr lang="en-IL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2C49FE-3007-24E0-B1CD-41E737FCD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51" y="3285299"/>
                <a:ext cx="2531531" cy="461473"/>
              </a:xfrm>
              <a:prstGeom prst="rect">
                <a:avLst/>
              </a:prstGeom>
              <a:blipFill>
                <a:blip r:embed="rId3"/>
                <a:stretch>
                  <a:fillRect l="-2000" b="-78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4F99E6-1077-4299-54A4-529D1D4E9299}"/>
                  </a:ext>
                </a:extLst>
              </p:cNvPr>
              <p:cNvSpPr txBox="1"/>
              <p:nvPr/>
            </p:nvSpPr>
            <p:spPr>
              <a:xfrm>
                <a:off x="7350529" y="3999875"/>
                <a:ext cx="2310657" cy="461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:r>
                  <a:rPr lang="en-US" dirty="0"/>
                  <a:t>T(n)</a:t>
                </a:r>
                <a:r>
                  <a:rPr lang="ru-RU" dirty="0"/>
                  <a:t> </a:t>
                </a:r>
                <a:r>
                  <a:rPr lang="en-US" dirty="0"/>
                  <a:t>=</a:t>
                </a:r>
                <a:r>
                  <a:rPr lang="ru-RU" dirty="0"/>
                  <a:t> </a:t>
                </a:r>
                <a:r>
                  <a:rPr lang="en-US" dirty="0"/>
                  <a:t>2T(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​)</a:t>
                </a:r>
                <a:r>
                  <a:rPr lang="ru-RU" dirty="0"/>
                  <a:t> </a:t>
                </a:r>
                <a:r>
                  <a:rPr lang="en-US" dirty="0"/>
                  <a:t>+</a:t>
                </a:r>
                <a:r>
                  <a:rPr lang="ru-RU" dirty="0"/>
                  <a:t> </a:t>
                </a:r>
                <a:r>
                  <a:rPr lang="en-US" dirty="0"/>
                  <a:t>O(1)</a:t>
                </a:r>
                <a:endParaRPr lang="en-IL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4F99E6-1077-4299-54A4-529D1D4E9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529" y="3999875"/>
                <a:ext cx="2310657" cy="461473"/>
              </a:xfrm>
              <a:prstGeom prst="rect">
                <a:avLst/>
              </a:prstGeom>
              <a:blipFill>
                <a:blip r:embed="rId4"/>
                <a:stretch>
                  <a:fillRect l="-2186" b="-78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58410E6-DDFA-05D8-3A0E-053F1071433B}"/>
              </a:ext>
            </a:extLst>
          </p:cNvPr>
          <p:cNvSpPr txBox="1"/>
          <p:nvPr/>
        </p:nvSpPr>
        <p:spPr>
          <a:xfrm>
            <a:off x="5972207" y="4639555"/>
            <a:ext cx="5067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-US" dirty="0"/>
              <a:t>Solving the Recurrence Using the Master Theorem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1089D9-2679-9619-0C55-E6547F08A6DB}"/>
                  </a:ext>
                </a:extLst>
              </p:cNvPr>
              <p:cNvSpPr txBox="1"/>
              <p:nvPr/>
            </p:nvSpPr>
            <p:spPr>
              <a:xfrm>
                <a:off x="5863471" y="5318760"/>
                <a:ext cx="1958724" cy="461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:r>
                  <a:rPr lang="en-US" dirty="0"/>
                  <a:t>T(n)</a:t>
                </a:r>
                <a:r>
                  <a:rPr lang="ru-RU" dirty="0"/>
                  <a:t> </a:t>
                </a:r>
                <a:r>
                  <a:rPr lang="en-US" dirty="0"/>
                  <a:t>=</a:t>
                </a:r>
                <a:r>
                  <a:rPr lang="ru-RU" dirty="0"/>
                  <a:t> </a:t>
                </a:r>
                <a:r>
                  <a:rPr lang="en-US" dirty="0" err="1"/>
                  <a:t>aT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​)</a:t>
                </a:r>
                <a:r>
                  <a:rPr lang="ru-RU" dirty="0"/>
                  <a:t> </a:t>
                </a:r>
                <a:r>
                  <a:rPr lang="en-US" dirty="0"/>
                  <a:t>+</a:t>
                </a:r>
                <a:r>
                  <a:rPr lang="ru-RU" dirty="0"/>
                  <a:t> </a:t>
                </a:r>
                <a:r>
                  <a:rPr lang="en-US" dirty="0"/>
                  <a:t>f(n)</a:t>
                </a:r>
                <a:endParaRPr lang="en-IL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1089D9-2679-9619-0C55-E6547F08A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471" y="5318760"/>
                <a:ext cx="1958724" cy="461473"/>
              </a:xfrm>
              <a:prstGeom prst="rect">
                <a:avLst/>
              </a:prstGeom>
              <a:blipFill>
                <a:blip r:embed="rId5"/>
                <a:stretch>
                  <a:fillRect l="-2581" b="-810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715CB7A-E0B7-A52C-7415-966269AB4ABE}"/>
              </a:ext>
            </a:extLst>
          </p:cNvPr>
          <p:cNvSpPr txBox="1"/>
          <p:nvPr/>
        </p:nvSpPr>
        <p:spPr>
          <a:xfrm>
            <a:off x="7956310" y="5334838"/>
            <a:ext cx="2616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-US" dirty="0"/>
              <a:t>a = 2, b = 2 and f(n) = O(1)</a:t>
            </a:r>
            <a:endParaRPr lang="en-I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19BB4E-34A5-9C9F-CC51-7F18451695BF}"/>
              </a:ext>
            </a:extLst>
          </p:cNvPr>
          <p:cNvSpPr txBox="1"/>
          <p:nvPr/>
        </p:nvSpPr>
        <p:spPr>
          <a:xfrm>
            <a:off x="8134114" y="5901670"/>
            <a:ext cx="1616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-US" dirty="0"/>
              <a:t>T(n) = O(n)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4506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10" grpId="0"/>
      <p:bldP spid="11" grpId="0"/>
      <p:bldP spid="13" grpId="0"/>
      <p:bldP spid="14" grpId="0"/>
      <p:bldP spid="16" grpId="0"/>
      <p:bldP spid="17" grpId="0"/>
      <p:bldP spid="21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24900" y="762946"/>
            <a:ext cx="3140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11 (19.02.2018 מועד ב)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1546920"/>
            <a:ext cx="3810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void task12(</a:t>
            </a:r>
            <a:r>
              <a:rPr lang="en-US" dirty="0" err="1">
                <a:latin typeface="JetBrains Mono"/>
              </a:rPr>
              <a:t>int</a:t>
            </a:r>
            <a:r>
              <a:rPr lang="en-US" dirty="0">
                <a:latin typeface="JetBrains Mono"/>
              </a:rPr>
              <a:t> n){</a:t>
            </a:r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    </a:t>
            </a:r>
            <a:r>
              <a:rPr lang="en-US" dirty="0" err="1">
                <a:latin typeface="JetBrains Mono"/>
              </a:rPr>
              <a:t>int</a:t>
            </a:r>
            <a:r>
              <a:rPr lang="en-US" dirty="0">
                <a:latin typeface="JetBrains Mono"/>
              </a:rPr>
              <a:t> </a:t>
            </a:r>
            <a:r>
              <a:rPr lang="en-US" dirty="0" err="1">
                <a:latin typeface="JetBrains Mono"/>
              </a:rPr>
              <a:t>i</a:t>
            </a:r>
            <a:r>
              <a:rPr lang="en-US" dirty="0">
                <a:latin typeface="JetBrains Mono"/>
              </a:rPr>
              <a:t> = 1;</a:t>
            </a:r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    </a:t>
            </a:r>
            <a:r>
              <a:rPr lang="en-US" dirty="0" err="1">
                <a:latin typeface="JetBrains Mono"/>
              </a:rPr>
              <a:t>int</a:t>
            </a:r>
            <a:r>
              <a:rPr lang="en-US" dirty="0">
                <a:latin typeface="JetBrains Mono"/>
              </a:rPr>
              <a:t> k = 0;</a:t>
            </a:r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      while (</a:t>
            </a:r>
            <a:r>
              <a:rPr lang="en-US" dirty="0" err="1">
                <a:latin typeface="JetBrains Mono"/>
              </a:rPr>
              <a:t>i</a:t>
            </a:r>
            <a:r>
              <a:rPr lang="en-US" dirty="0">
                <a:latin typeface="JetBrains Mono"/>
              </a:rPr>
              <a:t> &lt;= n) {</a:t>
            </a:r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        for (</a:t>
            </a:r>
            <a:r>
              <a:rPr lang="en-US" dirty="0" err="1">
                <a:latin typeface="JetBrains Mono"/>
              </a:rPr>
              <a:t>int</a:t>
            </a:r>
            <a:r>
              <a:rPr lang="en-US" dirty="0">
                <a:latin typeface="JetBrains Mono"/>
              </a:rPr>
              <a:t> j = </a:t>
            </a:r>
            <a:r>
              <a:rPr lang="en-US" dirty="0" err="1">
                <a:latin typeface="JetBrains Mono"/>
              </a:rPr>
              <a:t>i</a:t>
            </a:r>
            <a:r>
              <a:rPr lang="en-US" dirty="0">
                <a:latin typeface="JetBrains Mono"/>
              </a:rPr>
              <a:t>; j &lt;= n * n; </a:t>
            </a:r>
            <a:r>
              <a:rPr lang="en-US" dirty="0" err="1">
                <a:latin typeface="JetBrains Mono"/>
              </a:rPr>
              <a:t>j++</a:t>
            </a:r>
            <a:r>
              <a:rPr lang="en-US" dirty="0">
                <a:latin typeface="JetBrains Mono"/>
              </a:rPr>
              <a:t>) {</a:t>
            </a:r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            k = k + 1;</a:t>
            </a:r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        }</a:t>
            </a:r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        </a:t>
            </a:r>
            <a:r>
              <a:rPr lang="en-US" dirty="0" err="1">
                <a:latin typeface="JetBrains Mono"/>
              </a:rPr>
              <a:t>i</a:t>
            </a:r>
            <a:r>
              <a:rPr lang="en-US" dirty="0">
                <a:latin typeface="JetBrains Mono"/>
              </a:rPr>
              <a:t> = </a:t>
            </a:r>
            <a:r>
              <a:rPr lang="en-US" dirty="0" err="1">
                <a:latin typeface="JetBrains Mono"/>
              </a:rPr>
              <a:t>i</a:t>
            </a:r>
            <a:r>
              <a:rPr lang="en-US" dirty="0">
                <a:latin typeface="JetBrains Mono"/>
              </a:rPr>
              <a:t> * 2;</a:t>
            </a:r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    }</a:t>
            </a:r>
            <a:br>
              <a:rPr lang="en-US" dirty="0">
                <a:latin typeface="JetBrains Mono"/>
              </a:rPr>
            </a:br>
            <a:r>
              <a:rPr lang="en-US" dirty="0">
                <a:latin typeface="JetBrains Mono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440300"/>
            <a:ext cx="5372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latin typeface="JetBrains Mono"/>
              </a:rPr>
              <a:t>What is the running time of the following code</a:t>
            </a:r>
            <a:r>
              <a:rPr lang="he-IL" dirty="0">
                <a:latin typeface="JetBrains Mono"/>
              </a:rPr>
              <a:t>?</a:t>
            </a:r>
            <a:endParaRPr lang="en-US" dirty="0">
              <a:latin typeface="JetBrains Mon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75960" y="1809632"/>
            <a:ext cx="29489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 rtl="0">
              <a:buAutoNum type="alphaLcPeriod"/>
            </a:pPr>
            <a:r>
              <a:rPr lang="en-US" dirty="0">
                <a:latin typeface="JetBrains Mono"/>
              </a:rPr>
              <a:t>O(log(n))</a:t>
            </a:r>
          </a:p>
          <a:p>
            <a:pPr marL="342900" indent="-342900" algn="l" rtl="0">
              <a:buAutoNum type="alphaLcPeriod"/>
            </a:pPr>
            <a:r>
              <a:rPr lang="en-US" dirty="0">
                <a:latin typeface="JetBrains Mono"/>
              </a:rPr>
              <a:t>O(n)</a:t>
            </a:r>
          </a:p>
          <a:p>
            <a:pPr marL="342900" indent="-342900" algn="l" rtl="0">
              <a:buAutoNum type="alphaLcPeriod"/>
            </a:pPr>
            <a:r>
              <a:rPr lang="en-US" dirty="0">
                <a:latin typeface="JetBrains Mono"/>
              </a:rPr>
              <a:t>O(</a:t>
            </a:r>
            <a:r>
              <a:rPr lang="en-US" dirty="0" err="1">
                <a:latin typeface="JetBrains Mono"/>
              </a:rPr>
              <a:t>nlog</a:t>
            </a:r>
            <a:r>
              <a:rPr lang="en-US" dirty="0">
                <a:latin typeface="JetBrains Mono"/>
              </a:rPr>
              <a:t>(n))</a:t>
            </a:r>
          </a:p>
          <a:p>
            <a:pPr marL="342900" indent="-342900" algn="l" rtl="0">
              <a:buAutoNum type="alphaLcPeriod"/>
            </a:pPr>
            <a:r>
              <a:rPr lang="en-US" dirty="0">
                <a:latin typeface="JetBrains Mono"/>
              </a:rPr>
              <a:t>None of the answers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116" y="3116580"/>
            <a:ext cx="4037764" cy="284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2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06914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3444</TotalTime>
  <Words>2381</Words>
  <Application>Microsoft Macintosh PowerPoint</Application>
  <PresentationFormat>Widescreen</PresentationFormat>
  <Paragraphs>409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Arial</vt:lpstr>
      <vt:lpstr>Arial-BoldMT</vt:lpstr>
      <vt:lpstr>ArialMT</vt:lpstr>
      <vt:lpstr>Calibri</vt:lpstr>
      <vt:lpstr>Calibri Light</vt:lpstr>
      <vt:lpstr>Cambria Math</vt:lpstr>
      <vt:lpstr>Garamond</vt:lpstr>
      <vt:lpstr>JetBrains Mono</vt:lpstr>
      <vt:lpstr>Nunito</vt:lpstr>
      <vt:lpstr>Söhne</vt:lpstr>
      <vt:lpstr>Times New Roman</vt:lpstr>
      <vt:lpstr>Wingdings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Shiran Mor</dc:creator>
  <cp:lastModifiedBy>Genady Kogan</cp:lastModifiedBy>
  <cp:revision>67</cp:revision>
  <dcterms:created xsi:type="dcterms:W3CDTF">2023-05-03T06:41:59Z</dcterms:created>
  <dcterms:modified xsi:type="dcterms:W3CDTF">2025-10-27T11:18:53Z</dcterms:modified>
</cp:coreProperties>
</file>