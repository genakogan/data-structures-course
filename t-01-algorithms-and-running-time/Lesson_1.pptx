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307372f-98ad-fbaa-bd16-d100a2bd05e5}">
          <p14:sldIdLst>
            <p14:sldId id="256"/>
            <p14:sldId id="257"/>
            <p14:sldId id="258"/>
            <p14:sldId id="259"/>
          </p14:sldIdLst>
        </p14:section>
        <p14:section name="Counting operations (Q1–Q9)" id="{ef2e37ca-c2a8-9460-ba57-134a2e856f2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Counting comparisons (Q10–Q11)" id="{e441d00d-eadf-d568-be18-a4e46d346c1f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End" id="{80740963-cd68-e04a-8b3c-84eacbb9871a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rules are used in every solution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Body: n times. Test: n+1. Total 3n+3.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Body: n. Header: n+1. Total 2n+2.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Body: n passes (each statement n times). Total 3n+3.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body: n^2. Inner header n(n+1). Total 2n^2+2n+2.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occurs+1 runs between n (all distinct) and n^2 (all equal); exactly sum of c_v^2. Comparisons always n^2.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 1+2+...+n = n(n+1)/2; n=4 gives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body runs 1+4+...+4^(n-1) = (4^n-1)/3 times; n=4 gives 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(a) ceil(log2 n) passes. (b) i = 2^ceil(log2 n). n=100: 7 passes, i=128.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for n = 8. Each arrow is one multiplication. Total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i does ceil(log2 i) multiplications: the number of doublings needed to get from 1 to at least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between (n/2)(log2 n - 1) and n*ceil(log2 n), so about n log2 n: Theta(n 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n-1 comparisons in every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(n-1)+(n-2) = 2n-3 comparisons with this algorithm. Returns Max1 and Max2.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CE_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CE_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CE_END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spc="4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591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88920"/>
            <a:ext cx="94457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DATA STRUCTURES  ·  LESSON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Algorithms and Running Time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Exercises with solutions and step-by-step explanations  ·  2023–2024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an Algorithm?</a:t>
            </a:r>
            <a:endParaRPr lang="en-US" sz="3000" dirty="0"/>
          </a:p>
        </p:txBody>
      </p:sp>
      <p:sp>
        <p:nvSpPr>
          <p:cNvPr id="3" name="An algorithm is… card 3"/>
          <p:cNvSpPr/>
          <p:nvPr/>
        </p:nvSpPr>
        <p:spPr>
          <a:xfrm>
            <a:off x="548640" y="1645920"/>
            <a:ext cx="5362956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 4"/>
          <p:cNvSpPr/>
          <p:nvPr/>
        </p:nvSpPr>
        <p:spPr>
          <a:xfrm>
            <a:off x="749808" y="18105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con 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92808"/>
            <a:ext cx="219456" cy="219456"/>
          </a:xfrm>
          <a:prstGeom prst="rect">
            <a:avLst/>
          </a:prstGeom>
        </p:spPr>
      </p:pic>
      <p:sp>
        <p:nvSpPr>
          <p:cNvPr id="6" name="Card heading 6"/>
          <p:cNvSpPr txBox="1"/>
          <p:nvPr/>
        </p:nvSpPr>
        <p:spPr>
          <a:xfrm>
            <a:off x="1243584" y="1810512"/>
            <a:ext cx="4485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 algorithm is…</a:t>
            </a:r>
            <a:endParaRPr lang="en-US" sz="1700" dirty="0"/>
          </a:p>
        </p:txBody>
      </p:sp>
      <p:sp>
        <p:nvSpPr>
          <p:cNvPr id="7" name="Text 7"/>
          <p:cNvSpPr txBox="1"/>
          <p:nvPr/>
        </p:nvSpPr>
        <p:spPr>
          <a:xfrm>
            <a:off x="777240" y="2304288"/>
            <a:ext cx="49057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 method for carrying out a given task in a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finite number of steps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Text 8"/>
          <p:cNvSpPr txBox="1"/>
          <p:nvPr/>
        </p:nvSpPr>
        <p:spPr>
          <a:xfrm>
            <a:off x="777240" y="3020568"/>
            <a:ext cx="49057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 finite sequence of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unambiguous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 instructions such that, for every legal input, the desired output is produced.</a:t>
            </a:r>
            <a:endParaRPr lang="en-US" sz="2100" dirty="0"/>
          </a:p>
        </p:txBody>
      </p:sp>
      <p:sp>
        <p:nvSpPr>
          <p:cNvPr id="9" name="A correct algorithm card 10"/>
          <p:cNvSpPr/>
          <p:nvPr/>
        </p:nvSpPr>
        <p:spPr>
          <a:xfrm>
            <a:off x="6277356" y="1645920"/>
            <a:ext cx="5362956" cy="3291840"/>
          </a:xfrm>
          <a:prstGeom prst="roundRect">
            <a:avLst>
              <a:gd name="adj" fmla="val 277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Icon circle 11"/>
          <p:cNvSpPr/>
          <p:nvPr/>
        </p:nvSpPr>
        <p:spPr>
          <a:xfrm>
            <a:off x="6478524" y="18105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con 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1892808"/>
            <a:ext cx="219456" cy="219456"/>
          </a:xfrm>
          <a:prstGeom prst="rect">
            <a:avLst/>
          </a:prstGeom>
        </p:spPr>
      </p:pic>
      <p:sp>
        <p:nvSpPr>
          <p:cNvPr id="12" name="Card heading 13"/>
          <p:cNvSpPr txBox="1"/>
          <p:nvPr/>
        </p:nvSpPr>
        <p:spPr>
          <a:xfrm>
            <a:off x="6972300" y="1810512"/>
            <a:ext cx="4485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correct algorithm</a:t>
            </a:r>
            <a:endParaRPr lang="en-US" sz="1700" dirty="0"/>
          </a:p>
        </p:txBody>
      </p:sp>
      <p:sp>
        <p:nvSpPr>
          <p:cNvPr id="13" name="Text 14"/>
          <p:cNvSpPr txBox="1"/>
          <p:nvPr/>
        </p:nvSpPr>
        <p:spPr>
          <a:xfrm>
            <a:off x="6505956" y="2304288"/>
            <a:ext cx="49057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An algorithm is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correct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 if, for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every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 input instance, it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halts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 with the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correct output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Designing Algorithms</a:t>
            </a:r>
            <a:endParaRPr lang="en-US" sz="3000" dirty="0"/>
          </a:p>
        </p:txBody>
      </p:sp>
      <p:sp>
        <p:nvSpPr>
          <p:cNvPr id="3" name="Simplify first card 17"/>
          <p:cNvSpPr/>
          <p:nvPr/>
        </p:nvSpPr>
        <p:spPr>
          <a:xfrm>
            <a:off x="548640" y="1645920"/>
            <a:ext cx="5362956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 18"/>
          <p:cNvSpPr/>
          <p:nvPr/>
        </p:nvSpPr>
        <p:spPr>
          <a:xfrm>
            <a:off x="749808" y="18105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con 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92808"/>
            <a:ext cx="219456" cy="219456"/>
          </a:xfrm>
          <a:prstGeom prst="rect">
            <a:avLst/>
          </a:prstGeom>
        </p:spPr>
      </p:pic>
      <p:sp>
        <p:nvSpPr>
          <p:cNvPr id="6" name="Card heading 20"/>
          <p:cNvSpPr txBox="1"/>
          <p:nvPr/>
        </p:nvSpPr>
        <p:spPr>
          <a:xfrm>
            <a:off x="1243584" y="1810512"/>
            <a:ext cx="4485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Simplify first</a:t>
            </a:r>
            <a:endParaRPr lang="en-US" sz="1700" dirty="0"/>
          </a:p>
        </p:txBody>
      </p:sp>
      <p:sp>
        <p:nvSpPr>
          <p:cNvPr id="7" name="Text 21"/>
          <p:cNvSpPr txBox="1"/>
          <p:nvPr/>
        </p:nvSpPr>
        <p:spPr>
          <a:xfrm>
            <a:off x="777240" y="2304288"/>
            <a:ext cx="49057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When developing an algorithm, break the problem down to the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simplest possible level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Text 22"/>
          <p:cNvSpPr txBox="1"/>
          <p:nvPr/>
        </p:nvSpPr>
        <p:spPr>
          <a:xfrm>
            <a:off x="777240" y="3340608"/>
            <a:ext cx="49057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This way we can write simple, clear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basic algorithms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 that are easy to test, maintain and update inside the full program.</a:t>
            </a:r>
            <a:endParaRPr lang="en-US" sz="2100" dirty="0"/>
          </a:p>
        </p:txBody>
      </p:sp>
      <p:sp>
        <p:nvSpPr>
          <p:cNvPr id="9" name="Combine the pieces card 24"/>
          <p:cNvSpPr/>
          <p:nvPr/>
        </p:nvSpPr>
        <p:spPr>
          <a:xfrm>
            <a:off x="6277356" y="1645920"/>
            <a:ext cx="5362956" cy="3291840"/>
          </a:xfrm>
          <a:prstGeom prst="roundRect">
            <a:avLst>
              <a:gd name="adj" fmla="val 277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Icon circle 25"/>
          <p:cNvSpPr/>
          <p:nvPr/>
        </p:nvSpPr>
        <p:spPr>
          <a:xfrm>
            <a:off x="6478524" y="18105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con 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1892808"/>
            <a:ext cx="219456" cy="219456"/>
          </a:xfrm>
          <a:prstGeom prst="rect">
            <a:avLst/>
          </a:prstGeom>
        </p:spPr>
      </p:pic>
      <p:sp>
        <p:nvSpPr>
          <p:cNvPr id="12" name="Card heading 27"/>
          <p:cNvSpPr txBox="1"/>
          <p:nvPr/>
        </p:nvSpPr>
        <p:spPr>
          <a:xfrm>
            <a:off x="6972300" y="1810512"/>
            <a:ext cx="4485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Combine the pieces</a:t>
            </a:r>
            <a:endParaRPr lang="en-US" sz="1700" dirty="0"/>
          </a:p>
        </p:txBody>
      </p:sp>
      <p:sp>
        <p:nvSpPr>
          <p:cNvPr id="13" name="Text 28"/>
          <p:cNvSpPr txBox="1"/>
          <p:nvPr/>
        </p:nvSpPr>
        <p:spPr>
          <a:xfrm>
            <a:off x="6505956" y="2304288"/>
            <a:ext cx="49057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The full solution is really a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collection of basic algorithms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, each applied as needed to solve the complex problem.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Count Operations</a:t>
            </a:r>
            <a:endParaRPr lang="en-US" sz="3000" dirty="0"/>
          </a:p>
        </p:txBody>
      </p:sp>
      <p:sp>
        <p:nvSpPr>
          <p:cNvPr id="4" name="Prompt 104"/>
          <p:cNvSpPr txBox="1"/>
          <p:nvPr/>
        </p:nvSpPr>
        <p:spPr>
          <a:xfrm>
            <a:off x="548640" y="1261872"/>
            <a:ext cx="1109167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 Questions 1–9 we count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how many times each line of code is executed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Every solution uses the same four rules:</a:t>
            </a:r>
            <a:endParaRPr lang="en-US" sz="2000" dirty="0"/>
          </a:p>
        </p:txBody>
      </p:sp>
      <p:sp>
        <p:nvSpPr>
          <p:cNvPr id="5" name="Simple statements card 106"/>
          <p:cNvSpPr/>
          <p:nvPr/>
        </p:nvSpPr>
        <p:spPr>
          <a:xfrm>
            <a:off x="548640" y="2145792"/>
            <a:ext cx="5385816" cy="1911096"/>
          </a:xfrm>
          <a:prstGeom prst="roundRect">
            <a:avLst>
              <a:gd name="adj" fmla="val 478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 107"/>
          <p:cNvSpPr/>
          <p:nvPr/>
        </p:nvSpPr>
        <p:spPr>
          <a:xfrm>
            <a:off x="749808" y="23103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1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392680"/>
            <a:ext cx="219456" cy="219456"/>
          </a:xfrm>
          <a:prstGeom prst="rect">
            <a:avLst/>
          </a:prstGeom>
        </p:spPr>
      </p:pic>
      <p:sp>
        <p:nvSpPr>
          <p:cNvPr id="8" name="Card heading 109"/>
          <p:cNvSpPr txBox="1"/>
          <p:nvPr/>
        </p:nvSpPr>
        <p:spPr>
          <a:xfrm>
            <a:off x="1243584" y="2310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Simple statements</a:t>
            </a:r>
            <a:endParaRPr lang="en-US" sz="1700" dirty="0"/>
          </a:p>
        </p:txBody>
      </p:sp>
      <p:sp>
        <p:nvSpPr>
          <p:cNvPr id="9" name="Text 110"/>
          <p:cNvSpPr txBox="1"/>
          <p:nvPr/>
        </p:nvSpPr>
        <p:spPr>
          <a:xfrm>
            <a:off x="777240" y="2804160"/>
            <a:ext cx="4928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An assignment, test or return that is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not inside a loop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runs exactly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once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.</a:t>
            </a:r>
            <a:endParaRPr lang="en-US" sz="1750" dirty="0"/>
          </a:p>
        </p:txBody>
      </p:sp>
      <p:sp>
        <p:nvSpPr>
          <p:cNvPr id="10" name="Loop headers card 112"/>
          <p:cNvSpPr/>
          <p:nvPr/>
        </p:nvSpPr>
        <p:spPr>
          <a:xfrm>
            <a:off x="6254496" y="2145792"/>
            <a:ext cx="5385816" cy="1911096"/>
          </a:xfrm>
          <a:prstGeom prst="roundRect">
            <a:avLst>
              <a:gd name="adj" fmla="val 478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 113"/>
          <p:cNvSpPr/>
          <p:nvPr/>
        </p:nvSpPr>
        <p:spPr>
          <a:xfrm>
            <a:off x="6455664" y="23103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con 1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92680"/>
            <a:ext cx="219456" cy="219456"/>
          </a:xfrm>
          <a:prstGeom prst="rect">
            <a:avLst/>
          </a:prstGeom>
        </p:spPr>
      </p:pic>
      <p:sp>
        <p:nvSpPr>
          <p:cNvPr id="13" name="Card heading 115"/>
          <p:cNvSpPr txBox="1"/>
          <p:nvPr/>
        </p:nvSpPr>
        <p:spPr>
          <a:xfrm>
            <a:off x="6949440" y="2310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Loop headers</a:t>
            </a:r>
            <a:endParaRPr lang="en-US" sz="1700" dirty="0"/>
          </a:p>
        </p:txBody>
      </p:sp>
      <p:sp>
        <p:nvSpPr>
          <p:cNvPr id="14" name="Text 116"/>
          <p:cNvSpPr txBox="1"/>
          <p:nvPr/>
        </p:nvSpPr>
        <p:spPr>
          <a:xfrm>
            <a:off x="6483096" y="2804160"/>
            <a:ext cx="4928616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A loop test runs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one more time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than the loop body — the last test fails and ends the loop.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i ← 1 to n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: header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n + 1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, body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.</a:t>
            </a:r>
            <a:endParaRPr lang="en-US" sz="1750" dirty="0"/>
          </a:p>
        </p:txBody>
      </p:sp>
      <p:sp>
        <p:nvSpPr>
          <p:cNvPr id="15" name="Nested loops card 118"/>
          <p:cNvSpPr/>
          <p:nvPr/>
        </p:nvSpPr>
        <p:spPr>
          <a:xfrm>
            <a:off x="548640" y="4285488"/>
            <a:ext cx="5385816" cy="1911096"/>
          </a:xfrm>
          <a:prstGeom prst="roundRect">
            <a:avLst>
              <a:gd name="adj" fmla="val 478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 119"/>
          <p:cNvSpPr/>
          <p:nvPr/>
        </p:nvSpPr>
        <p:spPr>
          <a:xfrm>
            <a:off x="749808" y="4450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Icon 1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532376"/>
            <a:ext cx="219456" cy="219456"/>
          </a:xfrm>
          <a:prstGeom prst="rect">
            <a:avLst/>
          </a:prstGeom>
        </p:spPr>
      </p:pic>
      <p:sp>
        <p:nvSpPr>
          <p:cNvPr id="18" name="Card heading 121"/>
          <p:cNvSpPr txBox="1"/>
          <p:nvPr/>
        </p:nvSpPr>
        <p:spPr>
          <a:xfrm>
            <a:off x="1243584" y="445008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Nested loops</a:t>
            </a:r>
            <a:endParaRPr lang="en-US" sz="1700" dirty="0"/>
          </a:p>
        </p:txBody>
      </p:sp>
      <p:sp>
        <p:nvSpPr>
          <p:cNvPr id="19" name="Text 122"/>
          <p:cNvSpPr txBox="1"/>
          <p:nvPr/>
        </p:nvSpPr>
        <p:spPr>
          <a:xfrm>
            <a:off x="777240" y="4943856"/>
            <a:ext cx="4928616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The inner loop runs completely on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every pass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of the outer loop →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multiply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. If the inner bound depends on the outer variable,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add up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the passes (Σ).</a:t>
            </a:r>
            <a:endParaRPr lang="en-US" sz="1750" dirty="0"/>
          </a:p>
        </p:txBody>
      </p:sp>
      <p:sp>
        <p:nvSpPr>
          <p:cNvPr id="20" name="if statements card 124"/>
          <p:cNvSpPr/>
          <p:nvPr/>
        </p:nvSpPr>
        <p:spPr>
          <a:xfrm>
            <a:off x="6254496" y="4285488"/>
            <a:ext cx="5385816" cy="1911096"/>
          </a:xfrm>
          <a:prstGeom prst="roundRect">
            <a:avLst>
              <a:gd name="adj" fmla="val 478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 circle 125"/>
          <p:cNvSpPr/>
          <p:nvPr/>
        </p:nvSpPr>
        <p:spPr>
          <a:xfrm>
            <a:off x="6455664" y="4450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con 1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32376"/>
            <a:ext cx="219456" cy="219456"/>
          </a:xfrm>
          <a:prstGeom prst="rect">
            <a:avLst/>
          </a:prstGeom>
        </p:spPr>
      </p:pic>
      <p:sp>
        <p:nvSpPr>
          <p:cNvPr id="23" name="Card heading 127"/>
          <p:cNvSpPr txBox="1"/>
          <p:nvPr/>
        </p:nvSpPr>
        <p:spPr>
          <a:xfrm>
            <a:off x="6949440" y="445008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if statements</a:t>
            </a:r>
            <a:endParaRPr lang="en-US" sz="1700" dirty="0"/>
          </a:p>
        </p:txBody>
      </p:sp>
      <p:sp>
        <p:nvSpPr>
          <p:cNvPr id="24" name="Text 128"/>
          <p:cNvSpPr txBox="1"/>
          <p:nvPr/>
        </p:nvSpPr>
        <p:spPr>
          <a:xfrm>
            <a:off x="6483096" y="4943856"/>
            <a:ext cx="4928616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The condition is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always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evaluated, but the body runs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only when it is true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— its count can depend on the input (best / worst case).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</a:t>
            </a:r>
            <a:endParaRPr lang="en-US" sz="3000" dirty="0"/>
          </a:p>
        </p:txBody>
      </p:sp>
      <p:sp>
        <p:nvSpPr>
          <p:cNvPr id="3" name="Prompt 140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body of the while loop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is executed in the following code:</a:t>
            </a:r>
            <a:endParaRPr lang="en-US" sz="2300" dirty="0"/>
          </a:p>
        </p:txBody>
      </p:sp>
      <p:sp>
        <p:nvSpPr>
          <p:cNvPr id="4" name="Code card 141"/>
          <p:cNvSpPr/>
          <p:nvPr/>
        </p:nvSpPr>
        <p:spPr>
          <a:xfrm>
            <a:off x="548640" y="1932432"/>
            <a:ext cx="5852160" cy="2340864"/>
          </a:xfrm>
          <a:prstGeom prst="roundRect">
            <a:avLst>
              <a:gd name="adj" fmla="val 3906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42"/>
          <p:cNvSpPr txBox="1"/>
          <p:nvPr/>
        </p:nvSpPr>
        <p:spPr>
          <a:xfrm>
            <a:off x="804672" y="2097024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← 0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1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 ≤ n do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sum ← sum + i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 ← i + 1</a:t>
            </a:r>
            <a:endParaRPr lang="en-US" sz="2400" dirty="0"/>
          </a:p>
        </p:txBody>
      </p:sp>
      <p:sp>
        <p:nvSpPr>
          <p:cNvPr id="6" name="What to find card 145"/>
          <p:cNvSpPr/>
          <p:nvPr/>
        </p:nvSpPr>
        <p:spPr>
          <a:xfrm>
            <a:off x="7223760" y="1932432"/>
            <a:ext cx="4416552" cy="24384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146"/>
          <p:cNvSpPr/>
          <p:nvPr/>
        </p:nvSpPr>
        <p:spPr>
          <a:xfrm>
            <a:off x="742492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1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179320"/>
            <a:ext cx="219456" cy="219456"/>
          </a:xfrm>
          <a:prstGeom prst="rect">
            <a:avLst/>
          </a:prstGeom>
        </p:spPr>
      </p:pic>
      <p:sp>
        <p:nvSpPr>
          <p:cNvPr id="9" name="Card heading 148"/>
          <p:cNvSpPr txBox="1"/>
          <p:nvPr/>
        </p:nvSpPr>
        <p:spPr>
          <a:xfrm>
            <a:off x="7918704" y="209702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10" name="Text 149"/>
          <p:cNvSpPr txBox="1"/>
          <p:nvPr/>
        </p:nvSpPr>
        <p:spPr>
          <a:xfrm>
            <a:off x="7452360" y="2590800"/>
            <a:ext cx="395935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How many times do the two statements inside the loop run?</a:t>
            </a:r>
            <a:endParaRPr lang="en-US" sz="1900" dirty="0"/>
          </a:p>
        </p:txBody>
      </p:sp>
      <p:sp>
        <p:nvSpPr>
          <p:cNvPr id="11" name="Text 150"/>
          <p:cNvSpPr txBox="1"/>
          <p:nvPr/>
        </p:nvSpPr>
        <p:spPr>
          <a:xfrm>
            <a:off x="7452360" y="324612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Give the answer as a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function of 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and count how many times every other line runs too.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1</a:t>
            </a:r>
            <a:endParaRPr lang="en-US" sz="3000" dirty="0"/>
          </a:p>
        </p:txBody>
      </p:sp>
      <p:graphicFrame>
        <p:nvGraphicFramePr>
          <p:cNvPr id="7" name="Count table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63550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← 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i ≤ n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sum ← sum + i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i ← i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 + 3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</a:tr>
            </a:tbl>
          </a:graphicData>
        </a:graphic>
      </p:graphicFrame>
      <p:sp>
        <p:nvSpPr>
          <p:cNvPr id="5" name="Answer card 169"/>
          <p:cNvSpPr/>
          <p:nvPr/>
        </p:nvSpPr>
        <p:spPr>
          <a:xfrm>
            <a:off x="7223760" y="1353312"/>
            <a:ext cx="4416552" cy="2438400"/>
          </a:xfrm>
          <a:prstGeom prst="roundRect">
            <a:avLst>
              <a:gd name="adj" fmla="val 3750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Icon circle 170"/>
          <p:cNvSpPr/>
          <p:nvPr/>
        </p:nvSpPr>
        <p:spPr>
          <a:xfrm>
            <a:off x="7424928" y="1517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1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00200"/>
            <a:ext cx="219456" cy="219456"/>
          </a:xfrm>
          <a:prstGeom prst="rect">
            <a:avLst/>
          </a:prstGeom>
        </p:spPr>
      </p:pic>
      <p:sp>
        <p:nvSpPr>
          <p:cNvPr id="8" name="Card heading 172"/>
          <p:cNvSpPr txBox="1"/>
          <p:nvPr/>
        </p:nvSpPr>
        <p:spPr>
          <a:xfrm>
            <a:off x="7918704" y="1517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173"/>
          <p:cNvSpPr txBox="1"/>
          <p:nvPr/>
        </p:nvSpPr>
        <p:spPr>
          <a:xfrm>
            <a:off x="7452360" y="2011680"/>
            <a:ext cx="3959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The loop body runs </a:t>
            </a:r>
            <a:pPr indent="0" marL="0">
              <a:buNone/>
            </a:pPr>
            <a:r>
              <a:rPr lang="en-US" sz="2900" b="1" dirty="0">
                <a:solidFill>
                  <a:schemeClr val="accent2"/>
                </a:solidFill>
              </a:rPr>
              <a:t>n</a:t>
            </a:r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 times.</a:t>
            </a:r>
            <a:endParaRPr lang="en-US" sz="2900" dirty="0"/>
          </a:p>
        </p:txBody>
      </p:sp>
      <p:sp>
        <p:nvSpPr>
          <p:cNvPr id="10" name="Text 174"/>
          <p:cNvSpPr txBox="1"/>
          <p:nvPr/>
        </p:nvSpPr>
        <p:spPr>
          <a:xfrm>
            <a:off x="7452360" y="2987040"/>
            <a:ext cx="3959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work: 3n + 3 operations → linear, Θ(n).</a:t>
            </a:r>
            <a:endParaRPr lang="en-US" sz="1800" dirty="0"/>
          </a:p>
        </p:txBody>
      </p:sp>
      <p:sp>
        <p:nvSpPr>
          <p:cNvPr id="11" name="Pattern to remember card 176"/>
          <p:cNvSpPr/>
          <p:nvPr/>
        </p:nvSpPr>
        <p:spPr>
          <a:xfrm>
            <a:off x="7223760" y="4020312"/>
            <a:ext cx="4416552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 177"/>
          <p:cNvSpPr/>
          <p:nvPr/>
        </p:nvSpPr>
        <p:spPr>
          <a:xfrm>
            <a:off x="7424928" y="4184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1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4267200"/>
            <a:ext cx="219456" cy="219456"/>
          </a:xfrm>
          <a:prstGeom prst="rect">
            <a:avLst/>
          </a:prstGeom>
        </p:spPr>
      </p:pic>
      <p:sp>
        <p:nvSpPr>
          <p:cNvPr id="14" name="Card heading 179"/>
          <p:cNvSpPr txBox="1"/>
          <p:nvPr/>
        </p:nvSpPr>
        <p:spPr>
          <a:xfrm>
            <a:off x="7918704" y="4184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Pattern to remember</a:t>
            </a:r>
            <a:endParaRPr lang="en-US" sz="1700" dirty="0"/>
          </a:p>
        </p:txBody>
      </p:sp>
      <p:sp>
        <p:nvSpPr>
          <p:cNvPr id="15" name="Text 180"/>
          <p:cNvSpPr txBox="1"/>
          <p:nvPr/>
        </p:nvSpPr>
        <p:spPr>
          <a:xfrm>
            <a:off x="7452360" y="4678680"/>
            <a:ext cx="3959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loop test always runs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more time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than the loop body: the body runs n times, the test n + 1 times.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 — Explanation</a:t>
            </a:r>
            <a:endParaRPr lang="en-US" sz="3000" dirty="0"/>
          </a:p>
        </p:txBody>
      </p:sp>
      <p:sp>
        <p:nvSpPr>
          <p:cNvPr id="3" name="Step circle 206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207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208"/>
          <p:cNvSpPr txBox="1"/>
          <p:nvPr/>
        </p:nvSpPr>
        <p:spPr>
          <a:xfrm>
            <a:off x="1097280" y="1328928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Before the loop.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 ← 0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 ←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run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once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each.</a:t>
            </a:r>
            <a:endParaRPr lang="en-US" sz="2000" dirty="0"/>
          </a:p>
        </p:txBody>
      </p:sp>
      <p:sp>
        <p:nvSpPr>
          <p:cNvPr id="6" name="Step circle 209"/>
          <p:cNvSpPr/>
          <p:nvPr/>
        </p:nvSpPr>
        <p:spPr>
          <a:xfrm>
            <a:off x="548640" y="186080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210"/>
          <p:cNvSpPr txBox="1"/>
          <p:nvPr/>
        </p:nvSpPr>
        <p:spPr>
          <a:xfrm>
            <a:off x="548640" y="18608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11"/>
          <p:cNvSpPr txBox="1"/>
          <p:nvPr/>
        </p:nvSpPr>
        <p:spPr>
          <a:xfrm>
            <a:off x="1097280" y="1882140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Trace i.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 starts at 1 and grows by 1 at the end of every pass, so the body runs with i = 1, 2, …, n — exactly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 passes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tep circle 212"/>
          <p:cNvSpPr/>
          <p:nvPr/>
        </p:nvSpPr>
        <p:spPr>
          <a:xfrm>
            <a:off x="548640" y="271576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213"/>
          <p:cNvSpPr txBox="1"/>
          <p:nvPr/>
        </p:nvSpPr>
        <p:spPr>
          <a:xfrm>
            <a:off x="5486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214"/>
          <p:cNvSpPr txBox="1"/>
          <p:nvPr/>
        </p:nvSpPr>
        <p:spPr>
          <a:xfrm>
            <a:off x="1097280" y="2737104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loop test.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 ≤ n is checked before every pass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plus one final time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after pass n we have i = n + 1, the test fails and the loop ends. So the test runs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+ 1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times.</a:t>
            </a:r>
            <a:endParaRPr lang="en-US" sz="2000" dirty="0"/>
          </a:p>
        </p:txBody>
      </p:sp>
      <p:sp>
        <p:nvSpPr>
          <p:cNvPr id="12" name="Step circle 215"/>
          <p:cNvSpPr/>
          <p:nvPr/>
        </p:nvSpPr>
        <p:spPr>
          <a:xfrm>
            <a:off x="548640" y="387553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216"/>
          <p:cNvSpPr txBox="1"/>
          <p:nvPr/>
        </p:nvSpPr>
        <p:spPr>
          <a:xfrm>
            <a:off x="548640" y="38755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217"/>
          <p:cNvSpPr txBox="1"/>
          <p:nvPr/>
        </p:nvSpPr>
        <p:spPr>
          <a:xfrm>
            <a:off x="1097280" y="389686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body.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Each of the two statements runs once per pass 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 each.</a:t>
            </a:r>
            <a:endParaRPr lang="en-US" sz="2000" dirty="0"/>
          </a:p>
        </p:txBody>
      </p:sp>
      <p:sp>
        <p:nvSpPr>
          <p:cNvPr id="15" name="Step circle 218"/>
          <p:cNvSpPr/>
          <p:nvPr/>
        </p:nvSpPr>
        <p:spPr>
          <a:xfrm>
            <a:off x="548640" y="473049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number 219"/>
          <p:cNvSpPr txBox="1"/>
          <p:nvPr/>
        </p:nvSpPr>
        <p:spPr>
          <a:xfrm>
            <a:off x="548640" y="4730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220"/>
          <p:cNvSpPr txBox="1"/>
          <p:nvPr/>
        </p:nvSpPr>
        <p:spPr>
          <a:xfrm>
            <a:off x="1097280" y="475183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Total: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1 + 1 + (n + 1) + n + n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3n + 3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The count grows linearly with n: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Θ(n)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Check: n = 3 card 224"/>
          <p:cNvSpPr/>
          <p:nvPr/>
        </p:nvSpPr>
        <p:spPr>
          <a:xfrm>
            <a:off x="7818120" y="1307592"/>
            <a:ext cx="3822192" cy="2804160"/>
          </a:xfrm>
          <a:prstGeom prst="roundRect">
            <a:avLst>
              <a:gd name="adj" fmla="val 3261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con circle 225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0" name="Icon 2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227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n = 3</a:t>
            </a:r>
            <a:endParaRPr lang="en-US" sz="1700" dirty="0"/>
          </a:p>
        </p:txBody>
      </p:sp>
      <p:sp>
        <p:nvSpPr>
          <p:cNvPr id="22" name="Text 228"/>
          <p:cNvSpPr txBox="1"/>
          <p:nvPr/>
        </p:nvSpPr>
        <p:spPr>
          <a:xfrm>
            <a:off x="8046720" y="196596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Passes with i = 1, 2, 3 → body runs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times.</a:t>
            </a:r>
            <a:endParaRPr lang="en-US" sz="1900" dirty="0"/>
          </a:p>
        </p:txBody>
      </p:sp>
      <p:sp>
        <p:nvSpPr>
          <p:cNvPr id="23" name="Text 229"/>
          <p:cNvSpPr txBox="1"/>
          <p:nvPr/>
        </p:nvSpPr>
        <p:spPr>
          <a:xfrm>
            <a:off x="8046720" y="262128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Tests with i = 1, 2, 3, 4 → test runs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 = n + 1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times.</a:t>
            </a:r>
            <a:endParaRPr lang="en-US" sz="1900" dirty="0"/>
          </a:p>
        </p:txBody>
      </p:sp>
      <p:sp>
        <p:nvSpPr>
          <p:cNvPr id="24" name="Text 230"/>
          <p:cNvSpPr txBox="1"/>
          <p:nvPr/>
        </p:nvSpPr>
        <p:spPr>
          <a:xfrm>
            <a:off x="8046720" y="327660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Total: 1 + 1 + 4 + 3 + 3 =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12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3·3 + 3.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2</a:t>
            </a:r>
            <a:endParaRPr lang="en-US" sz="3000" dirty="0"/>
          </a:p>
        </p:txBody>
      </p:sp>
      <p:sp>
        <p:nvSpPr>
          <p:cNvPr id="3" name="Prompt 240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body of the for loop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is executed in the following code:</a:t>
            </a:r>
            <a:endParaRPr lang="en-US" sz="2300" dirty="0"/>
          </a:p>
        </p:txBody>
      </p:sp>
      <p:sp>
        <p:nvSpPr>
          <p:cNvPr id="4" name="Code card 241"/>
          <p:cNvSpPr/>
          <p:nvPr/>
        </p:nvSpPr>
        <p:spPr>
          <a:xfrm>
            <a:off x="548640" y="1932432"/>
            <a:ext cx="585216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242"/>
          <p:cNvSpPr txBox="1"/>
          <p:nvPr/>
        </p:nvSpPr>
        <p:spPr>
          <a:xfrm>
            <a:off x="804672" y="2097024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← 0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 do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sum ← sum + i</a:t>
            </a:r>
            <a:endParaRPr lang="en-US" sz="2400" dirty="0"/>
          </a:p>
        </p:txBody>
      </p:sp>
      <p:sp>
        <p:nvSpPr>
          <p:cNvPr id="6" name="What to find card 244"/>
          <p:cNvSpPr/>
          <p:nvPr/>
        </p:nvSpPr>
        <p:spPr>
          <a:xfrm>
            <a:off x="7223760" y="1932432"/>
            <a:ext cx="4416552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245"/>
          <p:cNvSpPr/>
          <p:nvPr/>
        </p:nvSpPr>
        <p:spPr>
          <a:xfrm>
            <a:off x="742492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2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179320"/>
            <a:ext cx="219456" cy="219456"/>
          </a:xfrm>
          <a:prstGeom prst="rect">
            <a:avLst/>
          </a:prstGeom>
        </p:spPr>
      </p:pic>
      <p:sp>
        <p:nvSpPr>
          <p:cNvPr id="9" name="Card heading 247"/>
          <p:cNvSpPr txBox="1"/>
          <p:nvPr/>
        </p:nvSpPr>
        <p:spPr>
          <a:xfrm>
            <a:off x="7918704" y="209702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10" name="Text 248"/>
          <p:cNvSpPr txBox="1"/>
          <p:nvPr/>
        </p:nvSpPr>
        <p:spPr>
          <a:xfrm>
            <a:off x="7452360" y="259080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How many times does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 ← sum + i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run, and how many times is the loop header checked?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2</a:t>
            </a:r>
            <a:endParaRPr lang="en-US" sz="3000" dirty="0"/>
          </a:p>
        </p:txBody>
      </p:sp>
      <p:graphicFrame>
        <p:nvGraphicFramePr>
          <p:cNvPr id="10" name="Count table 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63550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1 to n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sum ← sum + i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 + 2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</a:tr>
            </a:tbl>
          </a:graphicData>
        </a:graphic>
      </p:graphicFrame>
      <p:sp>
        <p:nvSpPr>
          <p:cNvPr id="5" name="Answer card 267"/>
          <p:cNvSpPr/>
          <p:nvPr/>
        </p:nvSpPr>
        <p:spPr>
          <a:xfrm>
            <a:off x="7223760" y="1353312"/>
            <a:ext cx="4416552" cy="2164080"/>
          </a:xfrm>
          <a:prstGeom prst="roundRect">
            <a:avLst>
              <a:gd name="adj" fmla="val 422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Icon circle 268"/>
          <p:cNvSpPr/>
          <p:nvPr/>
        </p:nvSpPr>
        <p:spPr>
          <a:xfrm>
            <a:off x="7424928" y="1517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2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00200"/>
            <a:ext cx="219456" cy="219456"/>
          </a:xfrm>
          <a:prstGeom prst="rect">
            <a:avLst/>
          </a:prstGeom>
        </p:spPr>
      </p:pic>
      <p:sp>
        <p:nvSpPr>
          <p:cNvPr id="8" name="Card heading 270"/>
          <p:cNvSpPr txBox="1"/>
          <p:nvPr/>
        </p:nvSpPr>
        <p:spPr>
          <a:xfrm>
            <a:off x="7918704" y="1517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271"/>
          <p:cNvSpPr txBox="1"/>
          <p:nvPr/>
        </p:nvSpPr>
        <p:spPr>
          <a:xfrm>
            <a:off x="7452360" y="2011680"/>
            <a:ext cx="3959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The loop body runs </a:t>
            </a:r>
            <a:pPr indent="0" marL="0">
              <a:buNone/>
            </a:pPr>
            <a:r>
              <a:rPr lang="en-US" sz="2900" b="1" dirty="0">
                <a:solidFill>
                  <a:schemeClr val="accent2"/>
                </a:solidFill>
              </a:rPr>
              <a:t>n</a:t>
            </a:r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 times.</a:t>
            </a:r>
            <a:endParaRPr lang="en-US" sz="2900" dirty="0"/>
          </a:p>
        </p:txBody>
      </p:sp>
      <p:sp>
        <p:nvSpPr>
          <p:cNvPr id="10" name="Text 272"/>
          <p:cNvSpPr txBox="1"/>
          <p:nvPr/>
        </p:nvSpPr>
        <p:spPr>
          <a:xfrm>
            <a:off x="7452360" y="2987040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work: 2n + 2 operations → Θ(n).</a:t>
            </a:r>
            <a:endParaRPr lang="en-US" sz="1800" dirty="0"/>
          </a:p>
        </p:txBody>
      </p:sp>
      <p:sp>
        <p:nvSpPr>
          <p:cNvPr id="11" name="Why n + 1 for the header? card 274"/>
          <p:cNvSpPr/>
          <p:nvPr/>
        </p:nvSpPr>
        <p:spPr>
          <a:xfrm>
            <a:off x="7223760" y="3745992"/>
            <a:ext cx="4416552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 275"/>
          <p:cNvSpPr/>
          <p:nvPr/>
        </p:nvSpPr>
        <p:spPr>
          <a:xfrm>
            <a:off x="7424928" y="39105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2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3992880"/>
            <a:ext cx="219456" cy="219456"/>
          </a:xfrm>
          <a:prstGeom prst="rect">
            <a:avLst/>
          </a:prstGeom>
        </p:spPr>
      </p:pic>
      <p:sp>
        <p:nvSpPr>
          <p:cNvPr id="14" name="Card heading 277"/>
          <p:cNvSpPr txBox="1"/>
          <p:nvPr/>
        </p:nvSpPr>
        <p:spPr>
          <a:xfrm>
            <a:off x="7918704" y="391058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n + 1 for the header?</a:t>
            </a:r>
            <a:endParaRPr lang="en-US" sz="1700" dirty="0"/>
          </a:p>
        </p:txBody>
      </p:sp>
      <p:sp>
        <p:nvSpPr>
          <p:cNvPr id="15" name="Text 278"/>
          <p:cNvSpPr txBox="1"/>
          <p:nvPr/>
        </p:nvSpPr>
        <p:spPr>
          <a:xfrm>
            <a:off x="7452360" y="4404360"/>
            <a:ext cx="3959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header sets / increases i and compares it with n. The comparison succeeds for i = 1, …, n and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fails once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for i = n + 1.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2 — Explanation</a:t>
            </a:r>
            <a:endParaRPr lang="en-US" sz="3000" dirty="0"/>
          </a:p>
        </p:txBody>
      </p:sp>
      <p:sp>
        <p:nvSpPr>
          <p:cNvPr id="3" name="Step circle 304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305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306"/>
          <p:cNvSpPr txBox="1"/>
          <p:nvPr/>
        </p:nvSpPr>
        <p:spPr>
          <a:xfrm>
            <a:off x="1097280" y="132892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for loop is a while loop in disguise.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i ← 1 to n do body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means: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 ←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then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 i ≤ n do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{ body;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 ← i + 1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}.</a:t>
            </a:r>
            <a:endParaRPr lang="en-US" sz="2000" dirty="0"/>
          </a:p>
        </p:txBody>
      </p:sp>
      <p:sp>
        <p:nvSpPr>
          <p:cNvPr id="6" name="Step circle 307"/>
          <p:cNvSpPr/>
          <p:nvPr/>
        </p:nvSpPr>
        <p:spPr>
          <a:xfrm>
            <a:off x="548640" y="24673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308"/>
          <p:cNvSpPr txBox="1"/>
          <p:nvPr/>
        </p:nvSpPr>
        <p:spPr>
          <a:xfrm>
            <a:off x="548640" y="24673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309"/>
          <p:cNvSpPr txBox="1"/>
          <p:nvPr/>
        </p:nvSpPr>
        <p:spPr>
          <a:xfrm>
            <a:off x="1097280" y="248869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Header.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 check i ≤ n succeeds for i = 1, 2, …, n and fails once for i = n + 1 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+ 1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times.</a:t>
            </a:r>
            <a:endParaRPr lang="en-US" sz="2000" dirty="0"/>
          </a:p>
        </p:txBody>
      </p:sp>
      <p:sp>
        <p:nvSpPr>
          <p:cNvPr id="9" name="Step circle 310"/>
          <p:cNvSpPr/>
          <p:nvPr/>
        </p:nvSpPr>
        <p:spPr>
          <a:xfrm>
            <a:off x="548640" y="33223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311"/>
          <p:cNvSpPr txBox="1"/>
          <p:nvPr/>
        </p:nvSpPr>
        <p:spPr>
          <a:xfrm>
            <a:off x="548640" y="3322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12"/>
          <p:cNvSpPr txBox="1"/>
          <p:nvPr/>
        </p:nvSpPr>
        <p:spPr>
          <a:xfrm>
            <a:off x="1097280" y="33436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Body.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 ← sum + 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runs once for every successful check 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times.</a:t>
            </a:r>
            <a:endParaRPr lang="en-US" sz="2000" dirty="0"/>
          </a:p>
        </p:txBody>
      </p:sp>
      <p:sp>
        <p:nvSpPr>
          <p:cNvPr id="12" name="Step circle 313"/>
          <p:cNvSpPr/>
          <p:nvPr/>
        </p:nvSpPr>
        <p:spPr>
          <a:xfrm>
            <a:off x="548640" y="41772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314"/>
          <p:cNvSpPr txBox="1"/>
          <p:nvPr/>
        </p:nvSpPr>
        <p:spPr>
          <a:xfrm>
            <a:off x="548640" y="4177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315"/>
          <p:cNvSpPr txBox="1"/>
          <p:nvPr/>
        </p:nvSpPr>
        <p:spPr>
          <a:xfrm>
            <a:off x="1097280" y="4198620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Total: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1 + (n + 1) + n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2n + 2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 = Θ(n).</a:t>
            </a:r>
            <a:endParaRPr lang="en-US" sz="2000" dirty="0"/>
          </a:p>
        </p:txBody>
      </p:sp>
      <p:sp>
        <p:nvSpPr>
          <p:cNvPr id="15" name="Step circle 316"/>
          <p:cNvSpPr/>
          <p:nvPr/>
        </p:nvSpPr>
        <p:spPr>
          <a:xfrm>
            <a:off x="548640" y="473049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number 317"/>
          <p:cNvSpPr txBox="1"/>
          <p:nvPr/>
        </p:nvSpPr>
        <p:spPr>
          <a:xfrm>
            <a:off x="548640" y="4730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318"/>
          <p:cNvSpPr txBox="1"/>
          <p:nvPr/>
        </p:nvSpPr>
        <p:spPr>
          <a:xfrm>
            <a:off x="1097280" y="475183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After the loop, sum = 1 + 2 + … + n = n(n + 1)/2 — a large value, but computed with only linear work.</a:t>
            </a:r>
            <a:endParaRPr lang="en-US" sz="2000" dirty="0"/>
          </a:p>
        </p:txBody>
      </p:sp>
      <p:sp>
        <p:nvSpPr>
          <p:cNvPr id="18" name="Check: n = 4 card 322"/>
          <p:cNvSpPr/>
          <p:nvPr/>
        </p:nvSpPr>
        <p:spPr>
          <a:xfrm>
            <a:off x="7818120" y="1307592"/>
            <a:ext cx="3822192" cy="2225040"/>
          </a:xfrm>
          <a:prstGeom prst="roundRect">
            <a:avLst>
              <a:gd name="adj" fmla="val 4110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con circle 32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0" name="Icon 3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32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n = 4</a:t>
            </a:r>
            <a:endParaRPr lang="en-US" sz="1700" dirty="0"/>
          </a:p>
        </p:txBody>
      </p:sp>
      <p:sp>
        <p:nvSpPr>
          <p:cNvPr id="22" name="Text 326"/>
          <p:cNvSpPr txBox="1"/>
          <p:nvPr/>
        </p:nvSpPr>
        <p:spPr>
          <a:xfrm>
            <a:off x="8046720" y="196596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Header checks: i = 1, 2, 3, 4, 5 →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 = n + 1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3" name="Text 327"/>
          <p:cNvSpPr txBox="1"/>
          <p:nvPr/>
        </p:nvSpPr>
        <p:spPr>
          <a:xfrm>
            <a:off x="8046720" y="262128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Body: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 = 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times.</a:t>
            </a:r>
            <a:endParaRPr lang="en-US" sz="1900" dirty="0"/>
          </a:p>
        </p:txBody>
      </p:sp>
      <p:sp>
        <p:nvSpPr>
          <p:cNvPr id="24" name="Text 328"/>
          <p:cNvSpPr txBox="1"/>
          <p:nvPr/>
        </p:nvSpPr>
        <p:spPr>
          <a:xfrm>
            <a:off x="8046720" y="298704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sum = 1 + 2 + 3 + 4 = 10 = 4·5/2.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3</a:t>
            </a:r>
            <a:endParaRPr lang="en-US" sz="3000" dirty="0"/>
          </a:p>
        </p:txBody>
      </p:sp>
      <p:sp>
        <p:nvSpPr>
          <p:cNvPr id="3" name="Prompt 338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body of the for loop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is executed in the following code:</a:t>
            </a:r>
            <a:endParaRPr lang="en-US" sz="2300" dirty="0"/>
          </a:p>
        </p:txBody>
      </p:sp>
      <p:sp>
        <p:nvSpPr>
          <p:cNvPr id="4" name="Code card 339"/>
          <p:cNvSpPr/>
          <p:nvPr/>
        </p:nvSpPr>
        <p:spPr>
          <a:xfrm>
            <a:off x="548640" y="1932432"/>
            <a:ext cx="5852160" cy="2340864"/>
          </a:xfrm>
          <a:prstGeom prst="roundRect">
            <a:avLst>
              <a:gd name="adj" fmla="val 3906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340"/>
          <p:cNvSpPr txBox="1"/>
          <p:nvPr/>
        </p:nvSpPr>
        <p:spPr>
          <a:xfrm>
            <a:off x="804672" y="2097024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← 0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← 1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 do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sum ← sum + i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prod ← prod * i</a:t>
            </a:r>
            <a:endParaRPr lang="en-US" sz="2400" dirty="0"/>
          </a:p>
        </p:txBody>
      </p:sp>
      <p:sp>
        <p:nvSpPr>
          <p:cNvPr id="6" name="What to find card 342"/>
          <p:cNvSpPr/>
          <p:nvPr/>
        </p:nvSpPr>
        <p:spPr>
          <a:xfrm>
            <a:off x="7223760" y="1932432"/>
            <a:ext cx="4416552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343"/>
          <p:cNvSpPr/>
          <p:nvPr/>
        </p:nvSpPr>
        <p:spPr>
          <a:xfrm>
            <a:off x="742492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3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179320"/>
            <a:ext cx="219456" cy="219456"/>
          </a:xfrm>
          <a:prstGeom prst="rect">
            <a:avLst/>
          </a:prstGeom>
        </p:spPr>
      </p:pic>
      <p:sp>
        <p:nvSpPr>
          <p:cNvPr id="9" name="Card heading 345"/>
          <p:cNvSpPr txBox="1"/>
          <p:nvPr/>
        </p:nvSpPr>
        <p:spPr>
          <a:xfrm>
            <a:off x="7918704" y="209702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10" name="Text 346"/>
          <p:cNvSpPr txBox="1"/>
          <p:nvPr/>
        </p:nvSpPr>
        <p:spPr>
          <a:xfrm>
            <a:off x="7452360" y="259080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body now has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two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statements. Does that change the number of passes? Count every line.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3</a:t>
            </a:r>
            <a:endParaRPr lang="en-US" sz="3000" dirty="0"/>
          </a:p>
        </p:txBody>
      </p:sp>
      <p:graphicFrame>
        <p:nvGraphicFramePr>
          <p:cNvPr id="13" name="Count table 3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63550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 ← 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1 to n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sum ← sum + i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prod ← prod * i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 + 3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</a:tr>
            </a:tbl>
          </a:graphicData>
        </a:graphic>
      </p:graphicFrame>
      <p:sp>
        <p:nvSpPr>
          <p:cNvPr id="5" name="Answer card 367"/>
          <p:cNvSpPr/>
          <p:nvPr/>
        </p:nvSpPr>
        <p:spPr>
          <a:xfrm>
            <a:off x="7223760" y="1353312"/>
            <a:ext cx="4416552" cy="2438400"/>
          </a:xfrm>
          <a:prstGeom prst="roundRect">
            <a:avLst>
              <a:gd name="adj" fmla="val 3750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Icon circle 368"/>
          <p:cNvSpPr/>
          <p:nvPr/>
        </p:nvSpPr>
        <p:spPr>
          <a:xfrm>
            <a:off x="7424928" y="1517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3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00200"/>
            <a:ext cx="219456" cy="219456"/>
          </a:xfrm>
          <a:prstGeom prst="rect">
            <a:avLst/>
          </a:prstGeom>
        </p:spPr>
      </p:pic>
      <p:sp>
        <p:nvSpPr>
          <p:cNvPr id="8" name="Card heading 370"/>
          <p:cNvSpPr txBox="1"/>
          <p:nvPr/>
        </p:nvSpPr>
        <p:spPr>
          <a:xfrm>
            <a:off x="7918704" y="1517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371"/>
          <p:cNvSpPr txBox="1"/>
          <p:nvPr/>
        </p:nvSpPr>
        <p:spPr>
          <a:xfrm>
            <a:off x="7452360" y="2011680"/>
            <a:ext cx="3959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The loop body runs </a:t>
            </a:r>
            <a:pPr indent="0" marL="0">
              <a:buNone/>
            </a:pPr>
            <a:r>
              <a:rPr lang="en-US" sz="2900" b="1" dirty="0">
                <a:solidFill>
                  <a:schemeClr val="accent2"/>
                </a:solidFill>
              </a:rPr>
              <a:t>n</a:t>
            </a:r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 times.</a:t>
            </a:r>
            <a:endParaRPr lang="en-US" sz="2900" dirty="0"/>
          </a:p>
        </p:txBody>
      </p:sp>
      <p:sp>
        <p:nvSpPr>
          <p:cNvPr id="10" name="Text 372"/>
          <p:cNvSpPr txBox="1"/>
          <p:nvPr/>
        </p:nvSpPr>
        <p:spPr>
          <a:xfrm>
            <a:off x="7452360" y="2987040"/>
            <a:ext cx="3959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of its two statements runs n times. Total: 3n + 3 → Θ(n).</a:t>
            </a:r>
            <a:endParaRPr lang="en-US" sz="1800" dirty="0"/>
          </a:p>
        </p:txBody>
      </p:sp>
      <p:sp>
        <p:nvSpPr>
          <p:cNvPr id="11" name="Values after the loop card 375"/>
          <p:cNvSpPr/>
          <p:nvPr/>
        </p:nvSpPr>
        <p:spPr>
          <a:xfrm>
            <a:off x="7223760" y="4020312"/>
            <a:ext cx="4416552" cy="1539240"/>
          </a:xfrm>
          <a:prstGeom prst="roundRect">
            <a:avLst>
              <a:gd name="adj" fmla="val 5941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 376"/>
          <p:cNvSpPr/>
          <p:nvPr/>
        </p:nvSpPr>
        <p:spPr>
          <a:xfrm>
            <a:off x="7424928" y="4184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3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4267200"/>
            <a:ext cx="219456" cy="219456"/>
          </a:xfrm>
          <a:prstGeom prst="rect">
            <a:avLst/>
          </a:prstGeom>
        </p:spPr>
      </p:pic>
      <p:sp>
        <p:nvSpPr>
          <p:cNvPr id="14" name="Card heading 378"/>
          <p:cNvSpPr txBox="1"/>
          <p:nvPr/>
        </p:nvSpPr>
        <p:spPr>
          <a:xfrm>
            <a:off x="7918704" y="4184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Values after the loop</a:t>
            </a:r>
            <a:endParaRPr lang="en-US" sz="1700" dirty="0"/>
          </a:p>
        </p:txBody>
      </p:sp>
      <p:sp>
        <p:nvSpPr>
          <p:cNvPr id="15" name="Text 379"/>
          <p:cNvSpPr txBox="1"/>
          <p:nvPr/>
        </p:nvSpPr>
        <p:spPr>
          <a:xfrm>
            <a:off x="7452360" y="4678680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sum = 1 + 2 + … + n = n(n + 1)/2</a:t>
            </a:r>
            <a:endParaRPr lang="en-US" sz="1800" dirty="0"/>
          </a:p>
        </p:txBody>
      </p:sp>
      <p:sp>
        <p:nvSpPr>
          <p:cNvPr id="16" name="Text 380"/>
          <p:cNvSpPr txBox="1"/>
          <p:nvPr/>
        </p:nvSpPr>
        <p:spPr>
          <a:xfrm>
            <a:off x="7452360" y="5029200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prod = 1 · 2 · … · n = n!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3 — Explanation</a:t>
            </a:r>
            <a:endParaRPr lang="en-US" sz="3000" dirty="0"/>
          </a:p>
        </p:txBody>
      </p:sp>
      <p:sp>
        <p:nvSpPr>
          <p:cNvPr id="3" name="Step circle 403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404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405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header as Question 2.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i ← 1 to 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checked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+ 1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times, so there are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passes.</a:t>
            </a:r>
            <a:endParaRPr lang="en-US" sz="2000" dirty="0"/>
          </a:p>
        </p:txBody>
      </p:sp>
      <p:sp>
        <p:nvSpPr>
          <p:cNvPr id="6" name="Step circle 406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407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408"/>
          <p:cNvSpPr txBox="1"/>
          <p:nvPr/>
        </p:nvSpPr>
        <p:spPr>
          <a:xfrm>
            <a:off x="1097280" y="2183892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Two statements in the body.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Adding a statement does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change the number of passes — each statement simply runs once per pass 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 each.</a:t>
            </a:r>
            <a:endParaRPr lang="en-US" sz="2000" dirty="0"/>
          </a:p>
        </p:txBody>
      </p:sp>
      <p:sp>
        <p:nvSpPr>
          <p:cNvPr id="9" name="Step circle 409"/>
          <p:cNvSpPr/>
          <p:nvPr/>
        </p:nvSpPr>
        <p:spPr>
          <a:xfrm>
            <a:off x="548640" y="33223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410"/>
          <p:cNvSpPr txBox="1"/>
          <p:nvPr/>
        </p:nvSpPr>
        <p:spPr>
          <a:xfrm>
            <a:off x="548640" y="3322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411"/>
          <p:cNvSpPr txBox="1"/>
          <p:nvPr/>
        </p:nvSpPr>
        <p:spPr>
          <a:xfrm>
            <a:off x="1097280" y="3343656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Total: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1 + 1 + (n + 1) + n + n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3n + 3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 = Θ(n).</a:t>
            </a:r>
            <a:endParaRPr lang="en-US" sz="2000" dirty="0"/>
          </a:p>
        </p:txBody>
      </p:sp>
      <p:sp>
        <p:nvSpPr>
          <p:cNvPr id="12" name="Step circle 412"/>
          <p:cNvSpPr/>
          <p:nvPr/>
        </p:nvSpPr>
        <p:spPr>
          <a:xfrm>
            <a:off x="548640" y="387553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413"/>
          <p:cNvSpPr txBox="1"/>
          <p:nvPr/>
        </p:nvSpPr>
        <p:spPr>
          <a:xfrm>
            <a:off x="548640" y="38755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14"/>
          <p:cNvSpPr txBox="1"/>
          <p:nvPr/>
        </p:nvSpPr>
        <p:spPr>
          <a:xfrm>
            <a:off x="1097280" y="389686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Key idea.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 loop header decides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many passes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there are; the body decides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much work each pass costs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Work in the loop = (number of passes) × (cost of one pass).</a:t>
            </a:r>
            <a:endParaRPr lang="en-US" sz="2000" dirty="0"/>
          </a:p>
        </p:txBody>
      </p:sp>
      <p:sp>
        <p:nvSpPr>
          <p:cNvPr id="15" name="Check: n = 3 card 418"/>
          <p:cNvSpPr/>
          <p:nvPr/>
        </p:nvSpPr>
        <p:spPr>
          <a:xfrm>
            <a:off x="7818120" y="1307592"/>
            <a:ext cx="3822192" cy="2225040"/>
          </a:xfrm>
          <a:prstGeom prst="roundRect">
            <a:avLst>
              <a:gd name="adj" fmla="val 4110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Icon circle 419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7" name="Icon 4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8" name="Card heading 421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n = 3</a:t>
            </a:r>
            <a:endParaRPr lang="en-US" sz="1700" dirty="0"/>
          </a:p>
        </p:txBody>
      </p:sp>
      <p:sp>
        <p:nvSpPr>
          <p:cNvPr id="19" name="Text 422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sum = 1 + 2 + 3 = 6</a:t>
            </a:r>
            <a:endParaRPr lang="en-US" sz="1900" dirty="0"/>
          </a:p>
        </p:txBody>
      </p:sp>
      <p:sp>
        <p:nvSpPr>
          <p:cNvPr id="20" name="Text 423"/>
          <p:cNvSpPr txBox="1"/>
          <p:nvPr/>
        </p:nvSpPr>
        <p:spPr>
          <a:xfrm>
            <a:off x="8046720" y="233172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prod = 1 · 2 · 3 = 6 = 3!</a:t>
            </a:r>
            <a:endParaRPr lang="en-US" sz="1900" dirty="0"/>
          </a:p>
        </p:txBody>
      </p:sp>
      <p:sp>
        <p:nvSpPr>
          <p:cNvPr id="21" name="Text 424"/>
          <p:cNvSpPr txBox="1"/>
          <p:nvPr/>
        </p:nvSpPr>
        <p:spPr>
          <a:xfrm>
            <a:off x="8046720" y="269748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Total: 1 + 1 + 4 + 3 + 3 =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12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3·3 + 3.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4</a:t>
            </a:r>
            <a:endParaRPr lang="en-US" sz="3000" dirty="0"/>
          </a:p>
        </p:txBody>
      </p:sp>
      <p:sp>
        <p:nvSpPr>
          <p:cNvPr id="3" name="Prompt 434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body of the inner for loop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is executed in the following code:</a:t>
            </a:r>
            <a:endParaRPr lang="en-US" sz="2300" dirty="0"/>
          </a:p>
        </p:txBody>
      </p:sp>
      <p:sp>
        <p:nvSpPr>
          <p:cNvPr id="4" name="Code card 435"/>
          <p:cNvSpPr/>
          <p:nvPr/>
        </p:nvSpPr>
        <p:spPr>
          <a:xfrm>
            <a:off x="548640" y="1932432"/>
            <a:ext cx="5852160" cy="1938528"/>
          </a:xfrm>
          <a:prstGeom prst="roundRect">
            <a:avLst>
              <a:gd name="adj" fmla="val 471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436"/>
          <p:cNvSpPr txBox="1"/>
          <p:nvPr/>
        </p:nvSpPr>
        <p:spPr>
          <a:xfrm>
            <a:off x="804672" y="2097024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← 0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 do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j ← 1 to n do</a:t>
            </a:r>
            <a:endParaRPr lang="en-US" sz="2400" dirty="0"/>
          </a:p>
          <a:p>
            <a:pPr indent="0" marL="0">
              <a:lnSpc>
                <a:spcPts val="3168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sum ← sum + i*j</a:t>
            </a:r>
            <a:endParaRPr lang="en-US" sz="2400" dirty="0"/>
          </a:p>
        </p:txBody>
      </p:sp>
      <p:sp>
        <p:nvSpPr>
          <p:cNvPr id="6" name="What to find card 438"/>
          <p:cNvSpPr/>
          <p:nvPr/>
        </p:nvSpPr>
        <p:spPr>
          <a:xfrm>
            <a:off x="7223760" y="1932432"/>
            <a:ext cx="4416552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439"/>
          <p:cNvSpPr/>
          <p:nvPr/>
        </p:nvSpPr>
        <p:spPr>
          <a:xfrm>
            <a:off x="742492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4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179320"/>
            <a:ext cx="219456" cy="219456"/>
          </a:xfrm>
          <a:prstGeom prst="rect">
            <a:avLst/>
          </a:prstGeom>
        </p:spPr>
      </p:pic>
      <p:sp>
        <p:nvSpPr>
          <p:cNvPr id="9" name="Card heading 441"/>
          <p:cNvSpPr txBox="1"/>
          <p:nvPr/>
        </p:nvSpPr>
        <p:spPr>
          <a:xfrm>
            <a:off x="7918704" y="209702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10" name="Text 442"/>
          <p:cNvSpPr txBox="1"/>
          <p:nvPr/>
        </p:nvSpPr>
        <p:spPr>
          <a:xfrm>
            <a:off x="7452360" y="259080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How many times does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 ← sum + i*j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run? How many times is each loop header checked?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4</a:t>
            </a:r>
            <a:endParaRPr lang="en-US" sz="3000" dirty="0"/>
          </a:p>
        </p:txBody>
      </p:sp>
      <p:graphicFrame>
        <p:nvGraphicFramePr>
          <p:cNvPr id="16" name="Count table 4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635508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1 to n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for j ← 1 to n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 + 1) = n² + 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sum ← sum + i*j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· n = n²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2n² + 2n + 2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</a:tr>
            </a:tbl>
          </a:graphicData>
        </a:graphic>
      </p:graphicFrame>
      <p:sp>
        <p:nvSpPr>
          <p:cNvPr id="5" name="Answer card 461"/>
          <p:cNvSpPr/>
          <p:nvPr/>
        </p:nvSpPr>
        <p:spPr>
          <a:xfrm>
            <a:off x="7223760" y="1353312"/>
            <a:ext cx="4416552" cy="2164080"/>
          </a:xfrm>
          <a:prstGeom prst="roundRect">
            <a:avLst>
              <a:gd name="adj" fmla="val 422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Icon circle 462"/>
          <p:cNvSpPr/>
          <p:nvPr/>
        </p:nvSpPr>
        <p:spPr>
          <a:xfrm>
            <a:off x="7424928" y="1517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4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00200"/>
            <a:ext cx="219456" cy="219456"/>
          </a:xfrm>
          <a:prstGeom prst="rect">
            <a:avLst/>
          </a:prstGeom>
        </p:spPr>
      </p:pic>
      <p:sp>
        <p:nvSpPr>
          <p:cNvPr id="8" name="Card heading 464"/>
          <p:cNvSpPr txBox="1"/>
          <p:nvPr/>
        </p:nvSpPr>
        <p:spPr>
          <a:xfrm>
            <a:off x="7918704" y="1517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465"/>
          <p:cNvSpPr txBox="1"/>
          <p:nvPr/>
        </p:nvSpPr>
        <p:spPr>
          <a:xfrm>
            <a:off x="7452360" y="2011680"/>
            <a:ext cx="3959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The inner body runs </a:t>
            </a:r>
            <a:pPr indent="0" marL="0">
              <a:buNone/>
            </a:pPr>
            <a:r>
              <a:rPr lang="en-US" sz="2900" b="1" dirty="0">
                <a:solidFill>
                  <a:schemeClr val="accent2"/>
                </a:solidFill>
              </a:rPr>
              <a:t>n²</a:t>
            </a:r>
            <a:pPr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 times.</a:t>
            </a:r>
            <a:endParaRPr lang="en-US" sz="2900" dirty="0"/>
          </a:p>
        </p:txBody>
      </p:sp>
      <p:sp>
        <p:nvSpPr>
          <p:cNvPr id="10" name="Text 466"/>
          <p:cNvSpPr txBox="1"/>
          <p:nvPr/>
        </p:nvSpPr>
        <p:spPr>
          <a:xfrm>
            <a:off x="7452360" y="2987040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Total: 2n² + 2n + 2 → quadratic, Θ(n²).</a:t>
            </a:r>
            <a:endParaRPr lang="en-US" sz="1800" dirty="0"/>
          </a:p>
        </p:txBody>
      </p:sp>
      <p:sp>
        <p:nvSpPr>
          <p:cNvPr id="11" name="Rule card 468"/>
          <p:cNvSpPr/>
          <p:nvPr/>
        </p:nvSpPr>
        <p:spPr>
          <a:xfrm>
            <a:off x="7223760" y="3745992"/>
            <a:ext cx="4416552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 469"/>
          <p:cNvSpPr/>
          <p:nvPr/>
        </p:nvSpPr>
        <p:spPr>
          <a:xfrm>
            <a:off x="7424928" y="39105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4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3992880"/>
            <a:ext cx="219456" cy="219456"/>
          </a:xfrm>
          <a:prstGeom prst="rect">
            <a:avLst/>
          </a:prstGeom>
        </p:spPr>
      </p:pic>
      <p:sp>
        <p:nvSpPr>
          <p:cNvPr id="14" name="Card heading 471"/>
          <p:cNvSpPr txBox="1"/>
          <p:nvPr/>
        </p:nvSpPr>
        <p:spPr>
          <a:xfrm>
            <a:off x="7918704" y="391058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Rule</a:t>
            </a:r>
            <a:endParaRPr lang="en-US" sz="1700" dirty="0"/>
          </a:p>
        </p:txBody>
      </p:sp>
      <p:sp>
        <p:nvSpPr>
          <p:cNvPr id="15" name="Text 472"/>
          <p:cNvSpPr txBox="1"/>
          <p:nvPr/>
        </p:nvSpPr>
        <p:spPr>
          <a:xfrm>
            <a:off x="7452360" y="4404360"/>
            <a:ext cx="3959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 the inner loop's bounds do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depend on the outer variable,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multiply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the numbers of passes: n × 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4 — Explanation</a:t>
            </a:r>
            <a:endParaRPr lang="en-US" sz="3000" dirty="0"/>
          </a:p>
        </p:txBody>
      </p:sp>
      <p:sp>
        <p:nvSpPr>
          <p:cNvPr id="3" name="Step circle 498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499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500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Outer loop.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i ← 1 to 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header checked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+ 1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times,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passes.</a:t>
            </a:r>
            <a:endParaRPr lang="en-US" sz="2000" dirty="0"/>
          </a:p>
        </p:txBody>
      </p:sp>
      <p:sp>
        <p:nvSpPr>
          <p:cNvPr id="6" name="Step circle 501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502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503"/>
          <p:cNvSpPr txBox="1"/>
          <p:nvPr/>
        </p:nvSpPr>
        <p:spPr>
          <a:xfrm>
            <a:off x="1097280" y="2183892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Inner header.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On every outer pass, the inner loop starts again from j = 1, and its header is checked n + 1 times. Over n outer passes: n · (n + 1)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n² + 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tep circle 504"/>
          <p:cNvSpPr/>
          <p:nvPr/>
        </p:nvSpPr>
        <p:spPr>
          <a:xfrm>
            <a:off x="548640" y="33223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505"/>
          <p:cNvSpPr txBox="1"/>
          <p:nvPr/>
        </p:nvSpPr>
        <p:spPr>
          <a:xfrm>
            <a:off x="548640" y="3322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506"/>
          <p:cNvSpPr txBox="1"/>
          <p:nvPr/>
        </p:nvSpPr>
        <p:spPr>
          <a:xfrm>
            <a:off x="1097280" y="33436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Inner body.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n inner passes for each of the n values of i: n · n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n²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Step circle 507"/>
          <p:cNvSpPr/>
          <p:nvPr/>
        </p:nvSpPr>
        <p:spPr>
          <a:xfrm>
            <a:off x="548640" y="41772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508"/>
          <p:cNvSpPr txBox="1"/>
          <p:nvPr/>
        </p:nvSpPr>
        <p:spPr>
          <a:xfrm>
            <a:off x="548640" y="4177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509"/>
          <p:cNvSpPr txBox="1"/>
          <p:nvPr/>
        </p:nvSpPr>
        <p:spPr>
          <a:xfrm>
            <a:off x="1097280" y="4198620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Total: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1 + (n + 1) + (n² + n) + n²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2n² + 2n + 2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Θ(n²).</a:t>
            </a:r>
            <a:endParaRPr lang="en-US" sz="2000" dirty="0"/>
          </a:p>
        </p:txBody>
      </p:sp>
      <p:sp>
        <p:nvSpPr>
          <p:cNvPr id="15" name="Step circle 510"/>
          <p:cNvSpPr/>
          <p:nvPr/>
        </p:nvSpPr>
        <p:spPr>
          <a:xfrm>
            <a:off x="548640" y="473049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number 511"/>
          <p:cNvSpPr txBox="1"/>
          <p:nvPr/>
        </p:nvSpPr>
        <p:spPr>
          <a:xfrm>
            <a:off x="548640" y="4730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512"/>
          <p:cNvSpPr txBox="1"/>
          <p:nvPr/>
        </p:nvSpPr>
        <p:spPr>
          <a:xfrm>
            <a:off x="1097280" y="475183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multiply?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 inner bound (n) does not depend on i, so every outer pass does exactly the same amount of work.</a:t>
            </a:r>
            <a:endParaRPr lang="en-US" sz="2000" dirty="0"/>
          </a:p>
        </p:txBody>
      </p:sp>
      <p:sp>
        <p:nvSpPr>
          <p:cNvPr id="18" name="Check: n = 2 card 516"/>
          <p:cNvSpPr/>
          <p:nvPr/>
        </p:nvSpPr>
        <p:spPr>
          <a:xfrm>
            <a:off x="7818120" y="1307592"/>
            <a:ext cx="3822192" cy="2804160"/>
          </a:xfrm>
          <a:prstGeom prst="roundRect">
            <a:avLst>
              <a:gd name="adj" fmla="val 3261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con circle 517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0" name="Icon 5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519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n = 2</a:t>
            </a:r>
            <a:endParaRPr lang="en-US" sz="1700" dirty="0"/>
          </a:p>
        </p:txBody>
      </p:sp>
      <p:sp>
        <p:nvSpPr>
          <p:cNvPr id="22" name="Text 520"/>
          <p:cNvSpPr txBox="1"/>
          <p:nvPr/>
        </p:nvSpPr>
        <p:spPr>
          <a:xfrm>
            <a:off x="8046720" y="196596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Pairs (i, j): (1,1), (1,2), (2,1), (2,2) → body runs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 = 2²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times.</a:t>
            </a:r>
            <a:endParaRPr lang="en-US" sz="1900" dirty="0"/>
          </a:p>
        </p:txBody>
      </p:sp>
      <p:sp>
        <p:nvSpPr>
          <p:cNvPr id="23" name="Text 521"/>
          <p:cNvSpPr txBox="1"/>
          <p:nvPr/>
        </p:nvSpPr>
        <p:spPr>
          <a:xfrm>
            <a:off x="8046720" y="262128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Inner header: 2 · 3 =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6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checks (j = 1, 2, 3 for each i).</a:t>
            </a:r>
            <a:endParaRPr lang="en-US" sz="1900" dirty="0"/>
          </a:p>
        </p:txBody>
      </p:sp>
      <p:sp>
        <p:nvSpPr>
          <p:cNvPr id="24" name="Text 522"/>
          <p:cNvSpPr txBox="1"/>
          <p:nvPr/>
        </p:nvSpPr>
        <p:spPr>
          <a:xfrm>
            <a:off x="8046720" y="327660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Total: 1 + 3 + 6 + 4 =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14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2·4 + 2·2 + 2.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5</a:t>
            </a:r>
            <a:endParaRPr lang="en-US" sz="3000" dirty="0"/>
          </a:p>
        </p:txBody>
      </p:sp>
      <p:sp>
        <p:nvSpPr>
          <p:cNvPr id="3" name="Prompt 534"/>
          <p:cNvSpPr txBox="1"/>
          <p:nvPr/>
        </p:nvSpPr>
        <p:spPr>
          <a:xfrm>
            <a:off x="548640" y="1261872"/>
            <a:ext cx="1109167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An array A is given. The following algorithm counts how many elements appear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exactly once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in the array. How many times is the addition 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occurs ← occurs + 1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executed?</a:t>
            </a:r>
            <a:endParaRPr lang="en-US" sz="2300" dirty="0"/>
          </a:p>
        </p:txBody>
      </p:sp>
      <p:sp>
        <p:nvSpPr>
          <p:cNvPr id="4" name="Code card 535"/>
          <p:cNvSpPr/>
          <p:nvPr/>
        </p:nvSpPr>
        <p:spPr>
          <a:xfrm>
            <a:off x="548640" y="2282952"/>
            <a:ext cx="6675120" cy="3346704"/>
          </a:xfrm>
          <a:prstGeom prst="roundRect">
            <a:avLst>
              <a:gd name="adj" fmla="val 2732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536"/>
          <p:cNvSpPr txBox="1"/>
          <p:nvPr/>
        </p:nvSpPr>
        <p:spPr>
          <a:xfrm>
            <a:off x="804672" y="2447544"/>
            <a:ext cx="6217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Count_singles(A)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singles ← 0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i ← 1 to length[A] do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occurs ← 0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for j ← 1 to length[A] do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if A[i] = A[j] then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occurs ← occurs + 1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if occurs = 1 then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singles ← singles + 1</a:t>
            </a:r>
            <a:endParaRPr lang="en-US" sz="18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singles</a:t>
            </a:r>
            <a:endParaRPr lang="en-US" sz="1800" dirty="0"/>
          </a:p>
        </p:txBody>
      </p:sp>
      <p:sp>
        <p:nvSpPr>
          <p:cNvPr id="6" name="What to find card 539"/>
          <p:cNvSpPr/>
          <p:nvPr/>
        </p:nvSpPr>
        <p:spPr>
          <a:xfrm>
            <a:off x="7498080" y="2282952"/>
            <a:ext cx="4142232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540"/>
          <p:cNvSpPr/>
          <p:nvPr/>
        </p:nvSpPr>
        <p:spPr>
          <a:xfrm>
            <a:off x="7699248" y="244754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5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544" y="2529840"/>
            <a:ext cx="219456" cy="219456"/>
          </a:xfrm>
          <a:prstGeom prst="rect">
            <a:avLst/>
          </a:prstGeom>
        </p:spPr>
      </p:pic>
      <p:sp>
        <p:nvSpPr>
          <p:cNvPr id="9" name="Card heading 542"/>
          <p:cNvSpPr txBox="1"/>
          <p:nvPr/>
        </p:nvSpPr>
        <p:spPr>
          <a:xfrm>
            <a:off x="8193024" y="2447544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10" name="Text 543"/>
          <p:cNvSpPr txBox="1"/>
          <p:nvPr/>
        </p:nvSpPr>
        <p:spPr>
          <a:xfrm>
            <a:off x="7726680" y="2941320"/>
            <a:ext cx="36850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Let n = length[A].</a:t>
            </a:r>
            <a:endParaRPr lang="en-US" sz="1900" dirty="0"/>
          </a:p>
        </p:txBody>
      </p:sp>
      <p:sp>
        <p:nvSpPr>
          <p:cNvPr id="11" name="Text 544"/>
          <p:cNvSpPr txBox="1"/>
          <p:nvPr/>
        </p:nvSpPr>
        <p:spPr>
          <a:xfrm>
            <a:off x="7726680" y="3307080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Count every line. Watch out: some lines are inside an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if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do they always run?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5</a:t>
            </a:r>
            <a:endParaRPr lang="en-US" sz="3000" dirty="0"/>
          </a:p>
        </p:txBody>
      </p:sp>
      <p:graphicFrame>
        <p:nvGraphicFramePr>
          <p:cNvPr id="19" name="Count table 6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16152"/>
          <a:ext cx="6492240" cy="914400"/>
        </p:xfrm>
        <a:graphic>
          <a:graphicData uri="http://schemas.openxmlformats.org/drawingml/2006/table">
            <a:tbl>
              <a:tblPr/>
              <a:tblGrid>
                <a:gridCol w="4617720"/>
                <a:gridCol w="1874520"/>
              </a:tblGrid>
              <a:tr h="3538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singles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1 to length[A]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occurs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for j ← 1 to length[A]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 + 1)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if A[i] = A[j] then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    occurs ← occurs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… n²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if occurs = 1 then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singles ← singles + 1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… 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 singles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 666"/>
          <p:cNvSpPr txBox="1"/>
          <p:nvPr/>
        </p:nvSpPr>
        <p:spPr>
          <a:xfrm>
            <a:off x="548640" y="4828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 = length[A].  Highlighted rows are inside an if: their count depends on the data.</a:t>
            </a:r>
            <a:endParaRPr lang="en-US" sz="1200" dirty="0"/>
          </a:p>
        </p:txBody>
      </p:sp>
      <p:sp>
        <p:nvSpPr>
          <p:cNvPr id="6" name="Answer card 670"/>
          <p:cNvSpPr/>
          <p:nvPr/>
        </p:nvSpPr>
        <p:spPr>
          <a:xfrm>
            <a:off x="7315200" y="1216152"/>
            <a:ext cx="4325112" cy="2786936"/>
          </a:xfrm>
          <a:prstGeom prst="roundRect">
            <a:avLst>
              <a:gd name="adj" fmla="val 3281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Icon circle 671"/>
          <p:cNvSpPr/>
          <p:nvPr/>
        </p:nvSpPr>
        <p:spPr>
          <a:xfrm>
            <a:off x="7516368" y="138074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6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8664" y="1463040"/>
            <a:ext cx="219456" cy="219456"/>
          </a:xfrm>
          <a:prstGeom prst="rect">
            <a:avLst/>
          </a:prstGeom>
        </p:spPr>
      </p:pic>
      <p:sp>
        <p:nvSpPr>
          <p:cNvPr id="9" name="Card heading 673"/>
          <p:cNvSpPr txBox="1"/>
          <p:nvPr/>
        </p:nvSpPr>
        <p:spPr>
          <a:xfrm>
            <a:off x="8010144" y="1380744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10" name="Text 674"/>
          <p:cNvSpPr txBox="1"/>
          <p:nvPr/>
        </p:nvSpPr>
        <p:spPr>
          <a:xfrm>
            <a:off x="7543800" y="1874520"/>
            <a:ext cx="3867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Between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n²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times</a:t>
            </a:r>
            <a:endParaRPr lang="en-US" sz="1800" dirty="0"/>
          </a:p>
        </p:txBody>
      </p:sp>
      <p:sp>
        <p:nvSpPr>
          <p:cNvPr id="11" name="Text 675"/>
          <p:cNvSpPr txBox="1"/>
          <p:nvPr/>
        </p:nvSpPr>
        <p:spPr>
          <a:xfrm>
            <a:off x="7543800" y="2240280"/>
            <a:ext cx="3867912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Best case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(all elements distinct): n.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Worst case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(all equal): n².</a:t>
            </a:r>
            <a:endParaRPr lang="en-US" sz="1250" dirty="0"/>
          </a:p>
        </p:txBody>
      </p:sp>
      <p:sp>
        <p:nvSpPr>
          <p:cNvPr id="12" name="Text 676"/>
          <p:cNvSpPr txBox="1"/>
          <p:nvPr/>
        </p:nvSpPr>
        <p:spPr>
          <a:xfrm>
            <a:off x="7543800" y="2697480"/>
            <a:ext cx="38679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Exactly:</a:t>
            </a:r>
            <a:endParaRPr lang="en-US" sz="12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 13" descr="\text{additions} = \sum_{v}{c_v^{2}}"/>
              <p:cNvSpPr txBox="1"/>
              <p:nvPr/>
            </p:nvSpPr>
            <p:spPr>
              <a:xfrm>
                <a:off x="7543800" y="2991612"/>
                <a:ext cx="1367659" cy="4341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additions</m:t>
                      </m:r>
                      <m:r>
                        <m:rPr>
                          <m:sty m:val="p"/>
                        </m:rPr>
                        <a:rPr lang="en-US" sz="1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  <m:ctrlPr>
                            <a:rPr lang="en-US" sz="14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4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pic>
            <p:nvPicPr>
              <p:cNvPr id="13" name="EQ|d124bd834ac1|14" descr="\text{additions} = \sum_{v}{c_v^{2}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43800" y="2991612"/>
                <a:ext cx="1367659" cy="434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uation 14" descr="c_v = \text{number of copies of value } v"/>
              <p:cNvSpPr txBox="1"/>
              <p:nvPr/>
            </p:nvSpPr>
            <p:spPr>
              <a:xfrm>
                <a:off x="7543800" y="3556842"/>
                <a:ext cx="2077535" cy="1627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2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number of copies of value </m:t>
                      </m:r>
                      <m:r>
                        <a:rPr lang="en-US" sz="12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pic>
            <p:nvPicPr>
              <p:cNvPr id="14" name="EQ|8cf296a147ca|12" descr="c_v = \text{number of copies of value } v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3800" y="3556842"/>
                <a:ext cx="2077535" cy="162781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Why a range? card 679"/>
          <p:cNvSpPr/>
          <p:nvPr/>
        </p:nvSpPr>
        <p:spPr>
          <a:xfrm>
            <a:off x="7315200" y="4185968"/>
            <a:ext cx="4325112" cy="194310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 680"/>
          <p:cNvSpPr/>
          <p:nvPr/>
        </p:nvSpPr>
        <p:spPr>
          <a:xfrm>
            <a:off x="7516368" y="435056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Icon 68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4432856"/>
            <a:ext cx="219456" cy="219456"/>
          </a:xfrm>
          <a:prstGeom prst="rect">
            <a:avLst/>
          </a:prstGeom>
        </p:spPr>
      </p:pic>
      <p:sp>
        <p:nvSpPr>
          <p:cNvPr id="18" name="Card heading 682"/>
          <p:cNvSpPr txBox="1"/>
          <p:nvPr/>
        </p:nvSpPr>
        <p:spPr>
          <a:xfrm>
            <a:off x="8010144" y="4350560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a range?</a:t>
            </a:r>
            <a:endParaRPr lang="en-US" sz="1700" dirty="0"/>
          </a:p>
        </p:txBody>
      </p:sp>
      <p:sp>
        <p:nvSpPr>
          <p:cNvPr id="19" name="Text 683"/>
          <p:cNvSpPr txBox="1"/>
          <p:nvPr/>
        </p:nvSpPr>
        <p:spPr>
          <a:xfrm>
            <a:off x="7543800" y="4844336"/>
            <a:ext cx="3867912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Both highlighted lines are inside an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if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, so they run only when the condition is true.</a:t>
            </a:r>
            <a:endParaRPr lang="en-US" sz="1250" dirty="0"/>
          </a:p>
        </p:txBody>
      </p:sp>
      <p:sp>
        <p:nvSpPr>
          <p:cNvPr id="20" name="Text 684"/>
          <p:cNvSpPr txBox="1"/>
          <p:nvPr/>
        </p:nvSpPr>
        <p:spPr>
          <a:xfrm>
            <a:off x="7543800" y="5301536"/>
            <a:ext cx="3867912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If all elements are equal,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occurs ← occurs + 1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runs n² times — but then no element is single, so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singles ← singles + 1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runs 0 times.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5 — Explanation</a:t>
            </a:r>
            <a:endParaRPr lang="en-US" sz="3000" dirty="0"/>
          </a:p>
        </p:txBody>
      </p:sp>
      <p:sp>
        <p:nvSpPr>
          <p:cNvPr id="3" name="Step circle 991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992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993"/>
          <p:cNvSpPr txBox="1"/>
          <p:nvPr/>
        </p:nvSpPr>
        <p:spPr>
          <a:xfrm>
            <a:off x="1097280" y="1378458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Lines outside the if statements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are counted as in Question 4. In particular the comparison A[i] = A[j] runs exactly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n²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times — once for every pair (i, j).</a:t>
            </a:r>
            <a:endParaRPr lang="en-US" sz="1350" dirty="0"/>
          </a:p>
        </p:txBody>
      </p:sp>
      <p:sp>
        <p:nvSpPr>
          <p:cNvPr id="6" name="Step circle 994"/>
          <p:cNvSpPr/>
          <p:nvPr/>
        </p:nvSpPr>
        <p:spPr>
          <a:xfrm>
            <a:off x="548640" y="1948129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995"/>
          <p:cNvSpPr txBox="1"/>
          <p:nvPr/>
        </p:nvSpPr>
        <p:spPr>
          <a:xfrm>
            <a:off x="548640" y="19481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996"/>
          <p:cNvSpPr txBox="1"/>
          <p:nvPr/>
        </p:nvSpPr>
        <p:spPr>
          <a:xfrm>
            <a:off x="1097280" y="2018995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The addition is inside the if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, so it runs once for every pair (i, j) with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A[i] = A[j]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. The pair j = i always matches, so there are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at least n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such pairs.</a:t>
            </a:r>
            <a:endParaRPr lang="en-US" sz="1350" dirty="0"/>
          </a:p>
        </p:txBody>
      </p:sp>
      <p:sp>
        <p:nvSpPr>
          <p:cNvPr id="9" name="Step circle 997"/>
          <p:cNvSpPr/>
          <p:nvPr/>
        </p:nvSpPr>
        <p:spPr>
          <a:xfrm>
            <a:off x="548640" y="258866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998"/>
          <p:cNvSpPr txBox="1"/>
          <p:nvPr/>
        </p:nvSpPr>
        <p:spPr>
          <a:xfrm>
            <a:off x="548640" y="25886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999"/>
          <p:cNvSpPr txBox="1"/>
          <p:nvPr/>
        </p:nvSpPr>
        <p:spPr>
          <a:xfrm>
            <a:off x="1097280" y="2659532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Group by value.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If value v has c copies, each copy matches all c copies, so v gives c · c = c² matching pairs. Summing over all values v (with c of v copies each):</a:t>
            </a:r>
            <a:endParaRPr 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uation 12" descr="\text{additions} = \sum_{v}{c_v \cdot c_v} = \sum_{v}{c_v^{2}}, \qquad \sum_{v}{c_v} = n"/>
              <p:cNvSpPr txBox="1"/>
              <p:nvPr/>
            </p:nvSpPr>
            <p:spPr>
              <a:xfrm>
                <a:off x="1234440" y="3135020"/>
                <a:ext cx="3757018" cy="4651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additions</m:t>
                      </m:r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  <m:ctrlP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  <m:ctrlP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5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  </m:t>
                      </m:r>
                      <m:nary>
                        <m:naryPr>
                          <m:chr m:val="∑"/>
                          <m:limLoc m:val="undOvr"/>
                          <m:supHide m:val="1"/>
                          <m:ctrlP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pic>
            <p:nvPicPr>
              <p:cNvPr id="12" name="EQ|8465a24b38a4|15" descr="\text{additions} = \sum_{v}{c_v \cdot c_v} = \sum_{v}{c_v^{2}}, \qquad \sum_{v}{c_v} = n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4440" y="3135020"/>
                <a:ext cx="3757018" cy="465178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tep circle 1000"/>
          <p:cNvSpPr/>
          <p:nvPr/>
        </p:nvSpPr>
        <p:spPr>
          <a:xfrm>
            <a:off x="548640" y="376753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Step number 1001"/>
          <p:cNvSpPr txBox="1"/>
          <p:nvPr/>
        </p:nvSpPr>
        <p:spPr>
          <a:xfrm>
            <a:off x="548640" y="37675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1002"/>
          <p:cNvSpPr txBox="1"/>
          <p:nvPr/>
        </p:nvSpPr>
        <p:spPr>
          <a:xfrm>
            <a:off x="1097280" y="3838400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Best case: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all elements distinct → each value has 1 copy →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additions.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Worst case: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all equal → one value with n copies →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n²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additions:</a:t>
            </a:r>
            <a:endParaRPr 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uation 16" descr="n \le \sum_{v}{c_v^{2}} \le n^{2}"/>
              <p:cNvSpPr txBox="1"/>
              <p:nvPr/>
            </p:nvSpPr>
            <p:spPr>
              <a:xfrm>
                <a:off x="1234440" y="4313888"/>
                <a:ext cx="1320165" cy="4651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supHide m:val="1"/>
                          <m:ctrlP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5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5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en-US" sz="15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 dirty="0"/>
              </a:p>
            </p:txBody>
          </p:sp>
        </mc:Choice>
        <mc:Fallback>
          <p:pic>
            <p:nvPicPr>
              <p:cNvPr id="16" name="EQ|c553da765245|15" descr="n \le \sum_{v}{c_v^{2}} \le n^{2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4440" y="4313888"/>
                <a:ext cx="1320165" cy="465178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tep circle 1003"/>
          <p:cNvSpPr/>
          <p:nvPr/>
        </p:nvSpPr>
        <p:spPr>
          <a:xfrm>
            <a:off x="548640" y="494640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tep number 1004"/>
          <p:cNvSpPr txBox="1"/>
          <p:nvPr/>
        </p:nvSpPr>
        <p:spPr>
          <a:xfrm>
            <a:off x="548640" y="494640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Step text 1005"/>
          <p:cNvSpPr txBox="1"/>
          <p:nvPr/>
        </p:nvSpPr>
        <p:spPr>
          <a:xfrm>
            <a:off x="1097280" y="5017267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singles ← singles + 1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runs once for each element that appears exactly once → between 0 and n times.</a:t>
            </a:r>
            <a:endParaRPr lang="en-US" sz="1350" dirty="0"/>
          </a:p>
        </p:txBody>
      </p:sp>
      <p:sp>
        <p:nvSpPr>
          <p:cNvPr id="20" name="Step circle 1006"/>
          <p:cNvSpPr/>
          <p:nvPr/>
        </p:nvSpPr>
        <p:spPr>
          <a:xfrm>
            <a:off x="548640" y="558693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Step number 1007"/>
          <p:cNvSpPr txBox="1"/>
          <p:nvPr/>
        </p:nvSpPr>
        <p:spPr>
          <a:xfrm>
            <a:off x="548640" y="55869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Step text 1008"/>
          <p:cNvSpPr txBox="1"/>
          <p:nvPr/>
        </p:nvSpPr>
        <p:spPr>
          <a:xfrm>
            <a:off x="1097280" y="5657804"/>
            <a:ext cx="6355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Running time: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the n² comparisons happen for every input, so the algorithm is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Θ(n²)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in all cases.</a:t>
            </a:r>
            <a:endParaRPr lang="en-US" sz="1350" dirty="0"/>
          </a:p>
        </p:txBody>
      </p:sp>
      <p:sp>
        <p:nvSpPr>
          <p:cNvPr id="23" name="Example card 1015"/>
          <p:cNvSpPr/>
          <p:nvPr/>
        </p:nvSpPr>
        <p:spPr>
          <a:xfrm>
            <a:off x="7818120" y="1307592"/>
            <a:ext cx="3822192" cy="2438400"/>
          </a:xfrm>
          <a:prstGeom prst="roundRect">
            <a:avLst>
              <a:gd name="adj" fmla="val 3750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circle 1016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5" name="Icon 10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6" name="Card heading 1018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</a:t>
            </a:r>
            <a:endParaRPr lang="en-US" sz="1700" dirty="0"/>
          </a:p>
        </p:txBody>
      </p:sp>
      <p:sp>
        <p:nvSpPr>
          <p:cNvPr id="27" name="Text 1019"/>
          <p:cNvSpPr txBox="1"/>
          <p:nvPr/>
        </p:nvSpPr>
        <p:spPr>
          <a:xfrm>
            <a:off x="8046720" y="19659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 = [5, 3, 5, 7], n = 4</a:t>
            </a:r>
            <a:endParaRPr lang="en-US" sz="1250" dirty="0"/>
          </a:p>
        </p:txBody>
      </p:sp>
      <p:sp>
        <p:nvSpPr>
          <p:cNvPr id="28" name="Text 1020"/>
          <p:cNvSpPr txBox="1"/>
          <p:nvPr/>
        </p:nvSpPr>
        <p:spPr>
          <a:xfrm>
            <a:off x="8046720" y="22326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value 5: c = 2 → 2² = 4</a:t>
            </a:r>
            <a:endParaRPr lang="en-US" sz="1250" dirty="0"/>
          </a:p>
        </p:txBody>
      </p:sp>
      <p:sp>
        <p:nvSpPr>
          <p:cNvPr id="29" name="Text 1021"/>
          <p:cNvSpPr txBox="1"/>
          <p:nvPr/>
        </p:nvSpPr>
        <p:spPr>
          <a:xfrm>
            <a:off x="8046720" y="24993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value 3: c = 1 → 1² = 1</a:t>
            </a:r>
            <a:endParaRPr lang="en-US" sz="1250" dirty="0"/>
          </a:p>
        </p:txBody>
      </p:sp>
      <p:sp>
        <p:nvSpPr>
          <p:cNvPr id="30" name="Text 1022"/>
          <p:cNvSpPr txBox="1"/>
          <p:nvPr/>
        </p:nvSpPr>
        <p:spPr>
          <a:xfrm>
            <a:off x="8046720" y="27660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value 7: c = 1 → 1² = 1</a:t>
            </a:r>
            <a:endParaRPr lang="en-US" sz="1250" dirty="0"/>
          </a:p>
        </p:txBody>
      </p:sp>
      <p:sp>
        <p:nvSpPr>
          <p:cNvPr id="31" name="Text 1023"/>
          <p:cNvSpPr txBox="1"/>
          <p:nvPr/>
        </p:nvSpPr>
        <p:spPr>
          <a:xfrm>
            <a:off x="8046720" y="30327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Additions = 6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(between n = 4 and n² = 16)</a:t>
            </a:r>
            <a:endParaRPr lang="en-US" sz="1250" dirty="0"/>
          </a:p>
        </p:txBody>
      </p:sp>
      <p:sp>
        <p:nvSpPr>
          <p:cNvPr id="32" name="Text 1024"/>
          <p:cNvSpPr txBox="1"/>
          <p:nvPr/>
        </p:nvSpPr>
        <p:spPr>
          <a:xfrm>
            <a:off x="8046720" y="3299460"/>
            <a:ext cx="336499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singles = 2 (the 3 and the 7)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6</a:t>
            </a:r>
            <a:endParaRPr lang="en-US" sz="3000" dirty="0"/>
          </a:p>
        </p:txBody>
      </p:sp>
      <p:sp>
        <p:nvSpPr>
          <p:cNvPr id="3" name="Prompt 1030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How many times is the addition 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 ← k + 1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executed in the following code?</a:t>
            </a:r>
            <a:endParaRPr lang="en-US" sz="2300" dirty="0"/>
          </a:p>
        </p:txBody>
      </p:sp>
      <p:sp>
        <p:nvSpPr>
          <p:cNvPr id="4" name="Code card 1031"/>
          <p:cNvSpPr/>
          <p:nvPr/>
        </p:nvSpPr>
        <p:spPr>
          <a:xfrm>
            <a:off x="548640" y="1932432"/>
            <a:ext cx="5669280" cy="2257044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032"/>
          <p:cNvSpPr txBox="1"/>
          <p:nvPr/>
        </p:nvSpPr>
        <p:spPr>
          <a:xfrm>
            <a:off x="804672" y="2097024"/>
            <a:ext cx="5212080" cy="192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k ← 0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i ← 1 to n do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for j ← 1 to i do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k + 1</a:t>
            </a:r>
            <a:endParaRPr lang="en-US" sz="2300" dirty="0"/>
          </a:p>
        </p:txBody>
      </p:sp>
      <p:sp>
        <p:nvSpPr>
          <p:cNvPr id="6" name="Assume 1033"/>
          <p:cNvSpPr txBox="1"/>
          <p:nvPr/>
        </p:nvSpPr>
        <p:spPr>
          <a:xfrm>
            <a:off x="6675120" y="193243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accent5"/>
                </a:solidFill>
              </a:rPr>
              <a:t>Assume </a:t>
            </a:r>
            <a:pPr indent="0" marL="0">
              <a:buNone/>
            </a:pPr>
            <a:r>
              <a:rPr lang="en-US" sz="2050" b="1" dirty="0">
                <a:solidFill>
                  <a:schemeClr val="accent5"/>
                </a:solidFill>
              </a:rPr>
              <a:t>n = 4</a:t>
            </a:r>
            <a:pPr indent="0" marL="0">
              <a:buNone/>
            </a:pPr>
            <a:r>
              <a:rPr lang="en-US" sz="2050" dirty="0">
                <a:solidFill>
                  <a:schemeClr val="accent5"/>
                </a:solidFill>
              </a:rPr>
              <a:t> — fill in the trace table:</a:t>
            </a:r>
            <a:endParaRPr lang="en-US" sz="2050" dirty="0"/>
          </a:p>
        </p:txBody>
      </p:sp>
      <p:graphicFrame>
        <p:nvGraphicFramePr>
          <p:cNvPr id="21" name="Trace table 10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435352"/>
          <a:ext cx="496519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0799"/>
                <a:gridCol w="450799"/>
                <a:gridCol w="450799"/>
                <a:gridCol w="450799"/>
                <a:gridCol w="450799"/>
                <a:gridCol w="450799"/>
                <a:gridCol w="450799"/>
                <a:gridCol w="450799"/>
                <a:gridCol w="450799"/>
                <a:gridCol w="45079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6</a:t>
            </a:r>
            <a:endParaRPr lang="en-US" sz="3000" dirty="0"/>
          </a:p>
        </p:txBody>
      </p:sp>
      <p:sp>
        <p:nvSpPr>
          <p:cNvPr id="4" name="Code card 1047"/>
          <p:cNvSpPr/>
          <p:nvPr/>
        </p:nvSpPr>
        <p:spPr>
          <a:xfrm>
            <a:off x="548640" y="1261872"/>
            <a:ext cx="5120640" cy="1921764"/>
          </a:xfrm>
          <a:prstGeom prst="roundRect">
            <a:avLst>
              <a:gd name="adj" fmla="val 475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048"/>
          <p:cNvSpPr txBox="1"/>
          <p:nvPr/>
        </p:nvSpPr>
        <p:spPr>
          <a:xfrm>
            <a:off x="804672" y="1426464"/>
            <a:ext cx="4663440" cy="159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  <a:endParaRPr lang="en-US" sz="1900" dirty="0"/>
          </a:p>
          <a:p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k ← 0</a:t>
            </a:r>
            <a:endParaRPr lang="en-US" sz="1900" dirty="0"/>
          </a:p>
          <a:p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i ← 1 to n do</a:t>
            </a:r>
            <a:endParaRPr lang="en-US" sz="1900" dirty="0"/>
          </a:p>
          <a:p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for j ← 1 to i do</a:t>
            </a:r>
            <a:endParaRPr lang="en-US" sz="1900" dirty="0"/>
          </a:p>
          <a:p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ts val="2508"/>
              </a:lnSpc>
              <a:buNone/>
            </a:pPr>
            <a:r>
              <a:rPr lang="en-US" sz="19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k + 1</a:t>
            </a:r>
            <a:endParaRPr lang="en-US" sz="1900" dirty="0"/>
          </a:p>
        </p:txBody>
      </p:sp>
      <p:sp>
        <p:nvSpPr>
          <p:cNvPr id="6" name="Trace caption 1049"/>
          <p:cNvSpPr txBox="1"/>
          <p:nvPr/>
        </p:nvSpPr>
        <p:spPr>
          <a:xfrm>
            <a:off x="548640" y="34122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Trace for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 = 4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(one column per execution of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 ← k + 1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):</a:t>
            </a:r>
            <a:endParaRPr lang="en-US" sz="1800" dirty="0"/>
          </a:p>
        </p:txBody>
      </p:sp>
      <p:graphicFrame>
        <p:nvGraphicFramePr>
          <p:cNvPr id="22" name="Trace table 10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2004"/>
          <a:ext cx="6400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85216"/>
                <a:gridCol w="585216"/>
                <a:gridCol w="585216"/>
                <a:gridCol w="585216"/>
                <a:gridCol w="585216"/>
                <a:gridCol w="585216"/>
                <a:gridCol w="585216"/>
                <a:gridCol w="585216"/>
                <a:gridCol w="585216"/>
                <a:gridCol w="585216"/>
              </a:tblGrid>
              <a:tr h="5266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</a:tbl>
          </a:graphicData>
        </a:graphic>
      </p:graphicFrame>
      <p:sp>
        <p:nvSpPr>
          <p:cNvPr id="8" name="Answer card 1053"/>
          <p:cNvSpPr/>
          <p:nvPr/>
        </p:nvSpPr>
        <p:spPr>
          <a:xfrm>
            <a:off x="7223760" y="1261872"/>
            <a:ext cx="4416552" cy="3338028"/>
          </a:xfrm>
          <a:prstGeom prst="roundRect">
            <a:avLst>
              <a:gd name="adj" fmla="val 2739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Icon circle 1054"/>
          <p:cNvSpPr/>
          <p:nvPr/>
        </p:nvSpPr>
        <p:spPr>
          <a:xfrm>
            <a:off x="7424928" y="14264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Icon 10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508760"/>
            <a:ext cx="219456" cy="219456"/>
          </a:xfrm>
          <a:prstGeom prst="rect">
            <a:avLst/>
          </a:prstGeom>
        </p:spPr>
      </p:pic>
      <p:sp>
        <p:nvSpPr>
          <p:cNvPr id="11" name="Card heading 1056"/>
          <p:cNvSpPr txBox="1"/>
          <p:nvPr/>
        </p:nvSpPr>
        <p:spPr>
          <a:xfrm>
            <a:off x="7918704" y="142646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uation 12" descr="k = 1 + 2 + \cdots + n = \frac{n(n+1)}{2}"/>
              <p:cNvSpPr txBox="1"/>
              <p:nvPr/>
            </p:nvSpPr>
            <p:spPr>
              <a:xfrm>
                <a:off x="7452360" y="1947672"/>
                <a:ext cx="3929364" cy="6817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23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23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3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3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300" dirty="0"/>
              </a:p>
            </p:txBody>
          </p:sp>
        </mc:Choice>
        <mc:Fallback>
          <p:pic>
            <p:nvPicPr>
              <p:cNvPr id="12" name="EQ|2b30fbbdf4c5|23" descr="k = 1 + 2 + \cdots + n = \frac{n(n+1)}{2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52360" y="1947672"/>
                <a:ext cx="3929364" cy="68172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 1057"/>
          <p:cNvSpPr txBox="1"/>
          <p:nvPr/>
        </p:nvSpPr>
        <p:spPr>
          <a:xfrm>
            <a:off x="7452360" y="2748270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 n = 4: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uation 14" descr="\frac{4 \cdot 5}{2} = \frac{20}{2} = 10"/>
              <p:cNvSpPr txBox="1"/>
              <p:nvPr/>
            </p:nvSpPr>
            <p:spPr>
              <a:xfrm>
                <a:off x="7452360" y="3126222"/>
                <a:ext cx="1680942" cy="5653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pic>
            <p:nvPicPr>
              <p:cNvPr id="14" name="EQ|0e726e92a49f|20" descr="\frac{4 \cdot 5}{2} = \frac{20}{2} = 1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2360" y="3126222"/>
                <a:ext cx="1680942" cy="565374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1058"/>
          <p:cNvSpPr txBox="1"/>
          <p:nvPr/>
        </p:nvSpPr>
        <p:spPr>
          <a:xfrm>
            <a:off x="7452360" y="3795228"/>
            <a:ext cx="3959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— the last value of k in the trace table. Growth: Θ(n²).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6 — Explanation</a:t>
            </a:r>
            <a:endParaRPr lang="en-US" sz="3000" dirty="0"/>
          </a:p>
        </p:txBody>
      </p:sp>
      <p:sp>
        <p:nvSpPr>
          <p:cNvPr id="3" name="Step circle 1262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1263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264"/>
          <p:cNvSpPr txBox="1"/>
          <p:nvPr/>
        </p:nvSpPr>
        <p:spPr>
          <a:xfrm>
            <a:off x="1097280" y="1367028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inner bound depends on i.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For a fixed i, j runs from 1 to i, so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 ← k + 1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runs exactly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times on that outer pass.</a:t>
            </a:r>
            <a:endParaRPr lang="en-US" sz="1500" dirty="0"/>
          </a:p>
        </p:txBody>
      </p:sp>
      <p:sp>
        <p:nvSpPr>
          <p:cNvPr id="6" name="Step circle 1265"/>
          <p:cNvSpPr/>
          <p:nvPr/>
        </p:nvSpPr>
        <p:spPr>
          <a:xfrm>
            <a:off x="548640" y="199887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1266"/>
          <p:cNvSpPr txBox="1"/>
          <p:nvPr/>
        </p:nvSpPr>
        <p:spPr>
          <a:xfrm>
            <a:off x="548640" y="19988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1267"/>
          <p:cNvSpPr txBox="1"/>
          <p:nvPr/>
        </p:nvSpPr>
        <p:spPr>
          <a:xfrm>
            <a:off x="1097280" y="2058314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up the outer passes: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 = 1 gives 1, i = 2 gives 2, …, i = n gives n: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 9" descr="S = \sum_{i=1}^{n}{i} = 1 + 2 + \cdots + n"/>
              <p:cNvSpPr txBox="1"/>
              <p:nvPr/>
            </p:nvSpPr>
            <p:spPr>
              <a:xfrm>
                <a:off x="1234440" y="2350922"/>
                <a:ext cx="2545461" cy="6671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9" name="EQ|6f5fa9a21acf|17" descr="S = \sum_{i=1}^{n}{i} = 1 + 2 + \cdots + n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4440" y="2350922"/>
                <a:ext cx="2545461" cy="66710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tep circle 1268"/>
          <p:cNvSpPr/>
          <p:nvPr/>
        </p:nvSpPr>
        <p:spPr>
          <a:xfrm>
            <a:off x="548640" y="320182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tep number 1269"/>
          <p:cNvSpPr txBox="1"/>
          <p:nvPr/>
        </p:nvSpPr>
        <p:spPr>
          <a:xfrm>
            <a:off x="548640" y="32018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1270"/>
          <p:cNvSpPr txBox="1"/>
          <p:nvPr/>
        </p:nvSpPr>
        <p:spPr>
          <a:xfrm>
            <a:off x="1097280" y="3261258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Gauss's trick.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Write S forwards and backwards and add: every column sums to n + 1, and there are n columns: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 13" descr="2S = n(n+1) \;\Rightarrow\; S = \frac{n(n+1)}{2}"/>
              <p:cNvSpPr txBox="1"/>
              <p:nvPr/>
            </p:nvSpPr>
            <p:spPr>
              <a:xfrm>
                <a:off x="1234440" y="3782466"/>
                <a:ext cx="3057118" cy="50388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13" name="EQ|481f3f5bab5f|17" descr="2S = n(n+1) \;\Rightarrow\; S = \frac{n(n+1)}{2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4440" y="3782466"/>
                <a:ext cx="3057118" cy="503885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tep circle 1271"/>
          <p:cNvSpPr/>
          <p:nvPr/>
        </p:nvSpPr>
        <p:spPr>
          <a:xfrm>
            <a:off x="548640" y="4470145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Step number 1272"/>
          <p:cNvSpPr txBox="1"/>
          <p:nvPr/>
        </p:nvSpPr>
        <p:spPr>
          <a:xfrm>
            <a:off x="548640" y="447014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text 1273"/>
          <p:cNvSpPr txBox="1"/>
          <p:nvPr/>
        </p:nvSpPr>
        <p:spPr>
          <a:xfrm>
            <a:off x="1097280" y="4529581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with n = 4: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1 + 2 + 3 + 4 = 10 = 4·5/2 — exactly the final value of k in the trace table (k starts at 0 and grows by 1 per addition).</a:t>
            </a:r>
            <a:endParaRPr lang="en-US" sz="1500" dirty="0"/>
          </a:p>
        </p:txBody>
      </p:sp>
      <p:sp>
        <p:nvSpPr>
          <p:cNvPr id="17" name="Step circle 1274"/>
          <p:cNvSpPr/>
          <p:nvPr/>
        </p:nvSpPr>
        <p:spPr>
          <a:xfrm>
            <a:off x="548640" y="516143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tep number 1275"/>
          <p:cNvSpPr txBox="1"/>
          <p:nvPr/>
        </p:nvSpPr>
        <p:spPr>
          <a:xfrm>
            <a:off x="548640" y="516143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Step text 1276"/>
          <p:cNvSpPr txBox="1"/>
          <p:nvPr/>
        </p:nvSpPr>
        <p:spPr>
          <a:xfrm>
            <a:off x="1097280" y="5220867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Growth: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about half the work of Question 4, but the same order of growth: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uation 20" descr="\frac{n(n+1)}{2} = \frac{n^{2}+n}{2} = \Theta(n^{2})"/>
              <p:cNvSpPr txBox="1"/>
              <p:nvPr/>
            </p:nvSpPr>
            <p:spPr>
              <a:xfrm>
                <a:off x="1234440" y="5513475"/>
                <a:ext cx="2566213" cy="5181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7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20" name="EQ|282370b472c3|17" descr="\frac{n(n+1)}{2} = \frac{n^{2}+n}{2} = \Theta(n^{2}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5513475"/>
                <a:ext cx="2566213" cy="518186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Gauss pairing, n = 4 card 1282"/>
          <p:cNvSpPr/>
          <p:nvPr/>
        </p:nvSpPr>
        <p:spPr>
          <a:xfrm>
            <a:off x="7818120" y="1307592"/>
            <a:ext cx="3822192" cy="2362200"/>
          </a:xfrm>
          <a:prstGeom prst="roundRect">
            <a:avLst>
              <a:gd name="adj" fmla="val 3871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2" name="Icon circle 128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3" name="Icon 128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4" name="Card heading 128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Gauss pairing, n = 4</a:t>
            </a:r>
            <a:endParaRPr lang="en-US" sz="1700" dirty="0"/>
          </a:p>
        </p:txBody>
      </p:sp>
      <p:sp>
        <p:nvSpPr>
          <p:cNvPr id="25" name="Text 1286"/>
          <p:cNvSpPr txBox="1"/>
          <p:nvPr/>
        </p:nvSpPr>
        <p:spPr>
          <a:xfrm>
            <a:off x="8046720" y="19659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1 + 2 + 3 + 4</a:t>
            </a:r>
            <a:endParaRPr lang="en-US" sz="1500" dirty="0"/>
          </a:p>
        </p:txBody>
      </p:sp>
      <p:sp>
        <p:nvSpPr>
          <p:cNvPr id="26" name="Text 1287"/>
          <p:cNvSpPr txBox="1"/>
          <p:nvPr/>
        </p:nvSpPr>
        <p:spPr>
          <a:xfrm>
            <a:off x="8046720" y="22707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+ 4 + 3 + 2 + 1</a:t>
            </a:r>
            <a:endParaRPr lang="en-US" sz="1500" dirty="0"/>
          </a:p>
        </p:txBody>
      </p:sp>
      <p:sp>
        <p:nvSpPr>
          <p:cNvPr id="27" name="Text 1288"/>
          <p:cNvSpPr txBox="1"/>
          <p:nvPr/>
        </p:nvSpPr>
        <p:spPr>
          <a:xfrm>
            <a:off x="8046720" y="25755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 5 + 5 + 5 + 5</a:t>
            </a:r>
            <a:endParaRPr lang="en-US" sz="1500" dirty="0"/>
          </a:p>
        </p:txBody>
      </p:sp>
      <p:sp>
        <p:nvSpPr>
          <p:cNvPr id="28" name="Text 1289"/>
          <p:cNvSpPr txBox="1"/>
          <p:nvPr/>
        </p:nvSpPr>
        <p:spPr>
          <a:xfrm>
            <a:off x="8046720" y="28803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2S = 4 · 5 = 20</a:t>
            </a:r>
            <a:endParaRPr lang="en-US" sz="1500" dirty="0"/>
          </a:p>
        </p:txBody>
      </p:sp>
      <p:sp>
        <p:nvSpPr>
          <p:cNvPr id="29" name="Text 1290"/>
          <p:cNvSpPr txBox="1"/>
          <p:nvPr/>
        </p:nvSpPr>
        <p:spPr>
          <a:xfrm>
            <a:off x="8046720" y="3185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 = 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7</a:t>
            </a:r>
            <a:endParaRPr lang="en-US" sz="3000" dirty="0"/>
          </a:p>
        </p:txBody>
      </p:sp>
      <p:sp>
        <p:nvSpPr>
          <p:cNvPr id="3" name="Prompt 1309"/>
          <p:cNvSpPr txBox="1"/>
          <p:nvPr/>
        </p:nvSpPr>
        <p:spPr>
          <a:xfrm>
            <a:off x="548640" y="1261872"/>
            <a:ext cx="1109167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body of the inner while loop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 executed in the following code:</a:t>
            </a:r>
            <a:endParaRPr lang="en-US" sz="2000" dirty="0"/>
          </a:p>
        </p:txBody>
      </p:sp>
      <p:sp>
        <p:nvSpPr>
          <p:cNvPr id="4" name="Code card 1310"/>
          <p:cNvSpPr/>
          <p:nvPr/>
        </p:nvSpPr>
        <p:spPr>
          <a:xfrm>
            <a:off x="548640" y="1886712"/>
            <a:ext cx="5120640" cy="3346704"/>
          </a:xfrm>
          <a:prstGeom prst="roundRect">
            <a:avLst>
              <a:gd name="adj" fmla="val 2732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311"/>
          <p:cNvSpPr txBox="1"/>
          <p:nvPr/>
        </p:nvSpPr>
        <p:spPr>
          <a:xfrm>
            <a:off x="804672" y="2051304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k ← 0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 ← 1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q ← 1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 ← 4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while i ≤ n do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j ← 0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while j &lt; q do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k + 1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← j + 1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q ← q * r</a:t>
            </a:r>
            <a:endParaRPr lang="en-US" sz="15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i ← i + 1</a:t>
            </a:r>
            <a:endParaRPr lang="en-US" sz="1500" dirty="0"/>
          </a:p>
        </p:txBody>
      </p:sp>
      <p:sp>
        <p:nvSpPr>
          <p:cNvPr id="6" name="Assume 1312"/>
          <p:cNvSpPr txBox="1"/>
          <p:nvPr/>
        </p:nvSpPr>
        <p:spPr>
          <a:xfrm>
            <a:off x="6172200" y="188671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Trace for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n = 4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— one row per pass of the outer loop:</a:t>
            </a:r>
            <a:endParaRPr lang="en-US" sz="1800" dirty="0"/>
          </a:p>
        </p:txBody>
      </p:sp>
      <p:graphicFrame>
        <p:nvGraphicFramePr>
          <p:cNvPr id="24" name="Trace table 13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435352"/>
          <a:ext cx="54681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731520"/>
                <a:gridCol w="548640"/>
                <a:gridCol w="1280160"/>
                <a:gridCol w="1810512"/>
              </a:tblGrid>
              <a:tr h="5280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</a:tr>
              <a:tr h="5280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 + 1 = 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+ 4 = 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+ 16 = 21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+ 64 = </a:t>
                      </a:r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race note 1314"/>
          <p:cNvSpPr txBox="1"/>
          <p:nvPr/>
        </p:nvSpPr>
        <p:spPr>
          <a:xfrm>
            <a:off x="6172200" y="5258562"/>
            <a:ext cx="5468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In each pass j counts from 0 up to q, so the inner body runs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q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times and k grows by q. After the 4th pass i = 5 &gt; 4 and the loop ends: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k = 85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7</a:t>
            </a:r>
            <a:endParaRPr lang="en-US" sz="3000" dirty="0"/>
          </a:p>
        </p:txBody>
      </p:sp>
      <p:sp>
        <p:nvSpPr>
          <p:cNvPr id="4" name="Trace caption 1395"/>
          <p:cNvSpPr txBox="1"/>
          <p:nvPr/>
        </p:nvSpPr>
        <p:spPr>
          <a:xfrm>
            <a:off x="548640" y="1261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Trace for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 = 4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r = 4:</a:t>
            </a:r>
            <a:endParaRPr lang="en-US" sz="1500" dirty="0"/>
          </a:p>
        </p:txBody>
      </p:sp>
      <p:graphicFrame>
        <p:nvGraphicFramePr>
          <p:cNvPr id="25" name="Trace table 13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6400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325880"/>
                <a:gridCol w="1920240"/>
                <a:gridCol w="118872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at start of pass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takes the values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passes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after pass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0, 1, 2, 3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+ 4 = 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…, 15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+ 16 = 21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…, 63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+ 64 = 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test 5 ≤ 4 fails → the loop ends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General formula card 1397"/>
          <p:cNvSpPr/>
          <p:nvPr/>
        </p:nvSpPr>
        <p:spPr>
          <a:xfrm>
            <a:off x="548640" y="4370832"/>
            <a:ext cx="6400800" cy="1711327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1398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13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4617720"/>
            <a:ext cx="219456" cy="219456"/>
          </a:xfrm>
          <a:prstGeom prst="rect">
            <a:avLst/>
          </a:prstGeom>
        </p:spPr>
      </p:pic>
      <p:sp>
        <p:nvSpPr>
          <p:cNvPr id="9" name="Card heading 1400"/>
          <p:cNvSpPr txBox="1"/>
          <p:nvPr/>
        </p:nvSpPr>
        <p:spPr>
          <a:xfrm>
            <a:off x="1243584" y="4535424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General formula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uation 10" descr="k = 1 + r + r^{2} + \cdots + r^{n-1} = \sum_{i=0}^{n-1}{r^{i}} = \frac{r^{n}-1}{r-1}"/>
              <p:cNvSpPr txBox="1"/>
              <p:nvPr/>
            </p:nvSpPr>
            <p:spPr>
              <a:xfrm>
                <a:off x="777240" y="5056632"/>
                <a:ext cx="4453613" cy="74206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18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>
          <p:pic>
            <p:nvPicPr>
              <p:cNvPr id="10" name="EQ|3b4d1909b34d|18" descr="k = 1 + r + r^{2} + \cdots + r^{n-1} = \sum_{i=0}^{n-1}{r^{i}} = \frac{r^{n}-1}{r-1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7240" y="5056632"/>
                <a:ext cx="4453613" cy="742063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Answer card 1402"/>
          <p:cNvSpPr/>
          <p:nvPr/>
        </p:nvSpPr>
        <p:spPr>
          <a:xfrm>
            <a:off x="7223760" y="1261872"/>
            <a:ext cx="4416552" cy="2358574"/>
          </a:xfrm>
          <a:prstGeom prst="roundRect">
            <a:avLst>
              <a:gd name="adj" fmla="val 3877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Icon circle 1403"/>
          <p:cNvSpPr/>
          <p:nvPr/>
        </p:nvSpPr>
        <p:spPr>
          <a:xfrm>
            <a:off x="7424928" y="14264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14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508760"/>
            <a:ext cx="219456" cy="219456"/>
          </a:xfrm>
          <a:prstGeom prst="rect">
            <a:avLst/>
          </a:prstGeom>
        </p:spPr>
      </p:pic>
      <p:sp>
        <p:nvSpPr>
          <p:cNvPr id="14" name="Card heading 1405"/>
          <p:cNvSpPr txBox="1"/>
          <p:nvPr/>
        </p:nvSpPr>
        <p:spPr>
          <a:xfrm>
            <a:off x="7918704" y="142646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uation 15" descr="\frac{4^{n}-1}{3} \;\; \text{times}"/>
              <p:cNvSpPr txBox="1"/>
              <p:nvPr/>
            </p:nvSpPr>
            <p:spPr>
              <a:xfrm>
                <a:off x="7452360" y="1947672"/>
                <a:ext cx="2140046" cy="8406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9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9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95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9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9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9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9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times</m:t>
                      </m:r>
                    </m:oMath>
                  </m:oMathPara>
                </a14:m>
                <a:endParaRPr lang="en-US" sz="2950" dirty="0"/>
              </a:p>
            </p:txBody>
          </p:sp>
        </mc:Choice>
        <mc:Fallback>
          <p:pic>
            <p:nvPicPr>
              <p:cNvPr id="15" name="EQ|b06ab6fb8cc8|29.5" descr="\frac{4^{n}-1}{3} \;\; \text{times}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2360" y="1947672"/>
                <a:ext cx="2140046" cy="84067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 1406"/>
          <p:cNvSpPr txBox="1"/>
          <p:nvPr/>
        </p:nvSpPr>
        <p:spPr>
          <a:xfrm>
            <a:off x="7452360" y="290721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n = 4: (256 − 1)/3 =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as in the table. Exponential growth: Θ(4ⁿ).</a:t>
            </a:r>
            <a:endParaRPr lang="en-US" sz="1500" dirty="0"/>
          </a:p>
        </p:txBody>
      </p:sp>
      <p:sp>
        <p:nvSpPr>
          <p:cNvPr id="17" name="Watch the last term card 1409"/>
          <p:cNvSpPr/>
          <p:nvPr/>
        </p:nvSpPr>
        <p:spPr>
          <a:xfrm>
            <a:off x="7223760" y="3803326"/>
            <a:ext cx="4416552" cy="20955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 1410"/>
          <p:cNvSpPr/>
          <p:nvPr/>
        </p:nvSpPr>
        <p:spPr>
          <a:xfrm>
            <a:off x="7424928" y="396791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Icon 14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4050214"/>
            <a:ext cx="219456" cy="219456"/>
          </a:xfrm>
          <a:prstGeom prst="rect">
            <a:avLst/>
          </a:prstGeom>
        </p:spPr>
      </p:pic>
      <p:sp>
        <p:nvSpPr>
          <p:cNvPr id="20" name="Card heading 1412"/>
          <p:cNvSpPr txBox="1"/>
          <p:nvPr/>
        </p:nvSpPr>
        <p:spPr>
          <a:xfrm>
            <a:off x="7918704" y="3967918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Watch the last term</a:t>
            </a:r>
            <a:endParaRPr lang="en-US" sz="1700" dirty="0"/>
          </a:p>
        </p:txBody>
      </p:sp>
      <p:sp>
        <p:nvSpPr>
          <p:cNvPr id="21" name="Text 1413"/>
          <p:cNvSpPr txBox="1"/>
          <p:nvPr/>
        </p:nvSpPr>
        <p:spPr>
          <a:xfrm>
            <a:off x="7452360" y="4461694"/>
            <a:ext cx="3959352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The outer loop runs n times, so q takes the values r⁰, r¹, …, rⁿ⁻¹. The sum has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 terms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and stops at exponent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 − 1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Text 1414"/>
          <p:cNvSpPr txBox="1"/>
          <p:nvPr/>
        </p:nvSpPr>
        <p:spPr>
          <a:xfrm>
            <a:off x="7452360" y="5200834"/>
            <a:ext cx="3959352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Summing up to rⁿ would count one pass too many (341 instead of 85 for n = 4).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7 — Explanation</a:t>
            </a:r>
            <a:endParaRPr lang="en-US" sz="3000" dirty="0"/>
          </a:p>
        </p:txBody>
      </p:sp>
      <p:sp>
        <p:nvSpPr>
          <p:cNvPr id="3" name="Step circle 1583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1584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585"/>
          <p:cNvSpPr txBox="1"/>
          <p:nvPr/>
        </p:nvSpPr>
        <p:spPr>
          <a:xfrm>
            <a:off x="1097280" y="1367028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Outer loop: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 runs 1, 2, …, n →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passes (same pattern as Question 1).</a:t>
            </a:r>
            <a:endParaRPr lang="en-US" sz="1500" dirty="0"/>
          </a:p>
        </p:txBody>
      </p:sp>
      <p:sp>
        <p:nvSpPr>
          <p:cNvPr id="6" name="Step circle 1586"/>
          <p:cNvSpPr/>
          <p:nvPr/>
        </p:nvSpPr>
        <p:spPr>
          <a:xfrm>
            <a:off x="548640" y="181142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1587"/>
          <p:cNvSpPr txBox="1"/>
          <p:nvPr/>
        </p:nvSpPr>
        <p:spPr>
          <a:xfrm>
            <a:off x="548640" y="18114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1588"/>
          <p:cNvSpPr txBox="1"/>
          <p:nvPr/>
        </p:nvSpPr>
        <p:spPr>
          <a:xfrm>
            <a:off x="1097280" y="187086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 grows geometrically: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q starts at 1 and is multiplied by r = 4 after each outer pass, so on pass number i: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 9" descr="q = r^{i-1}: \quad 1,\; 4,\; 16,\; 64,\; \ldots"/>
              <p:cNvSpPr txBox="1"/>
              <p:nvPr/>
            </p:nvSpPr>
            <p:spPr>
              <a:xfrm>
                <a:off x="1234440" y="2392070"/>
                <a:ext cx="2673706" cy="2694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9" name="EQ|904070addcac|17" descr="q = r^{i-1}: \quad 1,\; 4,\; 16,\; 64,\; \ldots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4440" y="2392070"/>
                <a:ext cx="2673706" cy="269469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tep circle 1589"/>
          <p:cNvSpPr/>
          <p:nvPr/>
        </p:nvSpPr>
        <p:spPr>
          <a:xfrm>
            <a:off x="548640" y="284533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tep number 1590"/>
          <p:cNvSpPr txBox="1"/>
          <p:nvPr/>
        </p:nvSpPr>
        <p:spPr>
          <a:xfrm>
            <a:off x="548640" y="28453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1591"/>
          <p:cNvSpPr txBox="1"/>
          <p:nvPr/>
        </p:nvSpPr>
        <p:spPr>
          <a:xfrm>
            <a:off x="1097280" y="290477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Inner loop: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j starts at 0 and runs while j &lt; q, growing by 1 → exactly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passes (j = 0, 1, …, q − 1).</a:t>
            </a:r>
            <a:endParaRPr lang="en-US" sz="1500" dirty="0"/>
          </a:p>
        </p:txBody>
      </p:sp>
      <p:sp>
        <p:nvSpPr>
          <p:cNvPr id="13" name="Step circle 1592"/>
          <p:cNvSpPr/>
          <p:nvPr/>
        </p:nvSpPr>
        <p:spPr>
          <a:xfrm>
            <a:off x="548640" y="35366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Step number 1593"/>
          <p:cNvSpPr txBox="1"/>
          <p:nvPr/>
        </p:nvSpPr>
        <p:spPr>
          <a:xfrm>
            <a:off x="548640" y="3536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1594"/>
          <p:cNvSpPr txBox="1"/>
          <p:nvPr/>
        </p:nvSpPr>
        <p:spPr>
          <a:xfrm>
            <a:off x="1097280" y="3596056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them up: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 geometric series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 terms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(the last exponent is n − 1, not n):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uation 16" descr="S = 1 + r + r^{2} + \cdots + r^{n-1}"/>
              <p:cNvSpPr txBox="1"/>
              <p:nvPr/>
            </p:nvSpPr>
            <p:spPr>
              <a:xfrm>
                <a:off x="1234440" y="3888664"/>
                <a:ext cx="2553233" cy="2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16" name="EQ|306860e8b13f|17" descr="S = 1 + r + r^{2} + \cdots + r^{n-1}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4440" y="3888664"/>
                <a:ext cx="2553233" cy="23838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tep circle 1595"/>
          <p:cNvSpPr/>
          <p:nvPr/>
        </p:nvSpPr>
        <p:spPr>
          <a:xfrm>
            <a:off x="548640" y="431083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tep number 1596"/>
          <p:cNvSpPr txBox="1"/>
          <p:nvPr/>
        </p:nvSpPr>
        <p:spPr>
          <a:xfrm>
            <a:off x="548640" y="43108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Step text 1597"/>
          <p:cNvSpPr txBox="1"/>
          <p:nvPr/>
        </p:nvSpPr>
        <p:spPr>
          <a:xfrm>
            <a:off x="1097280" y="4370274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 it: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multiply by r and subtract — everything cancels except two terms: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uation 20" descr="rS - S = r^{n} - 1 \;\Rightarrow\; S = \frac{r^{n}-1}{r-1} = \frac{4^{n}-1}{3}"/>
              <p:cNvSpPr txBox="1"/>
              <p:nvPr/>
            </p:nvSpPr>
            <p:spPr>
              <a:xfrm>
                <a:off x="1234440" y="4662882"/>
                <a:ext cx="3950944" cy="50264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17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7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20" name="EQ|2844a2c94bc2|17" descr="rS - S = r^{n} - 1 \;\Rightarrow\; S = \frac{r^{n}-1}{r-1} = \frac{4^{n}-1}{3}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4662882"/>
                <a:ext cx="3950944" cy="502641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Step circle 1598"/>
          <p:cNvSpPr/>
          <p:nvPr/>
        </p:nvSpPr>
        <p:spPr>
          <a:xfrm>
            <a:off x="548640" y="534931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Step number 1599"/>
          <p:cNvSpPr txBox="1"/>
          <p:nvPr/>
        </p:nvSpPr>
        <p:spPr>
          <a:xfrm>
            <a:off x="548640" y="534931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Step text 1600"/>
          <p:cNvSpPr txBox="1"/>
          <p:nvPr/>
        </p:nvSpPr>
        <p:spPr>
          <a:xfrm>
            <a:off x="1097280" y="5408754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Growth: Θ(4ⁿ)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exponential, even though the code is just two nested loops: the inner loop gets 4× longer on every outer pass.</a:t>
            </a:r>
            <a:endParaRPr lang="en-US" sz="1500" dirty="0"/>
          </a:p>
        </p:txBody>
      </p:sp>
      <p:sp>
        <p:nvSpPr>
          <p:cNvPr id="24" name="Check the formula card 1602"/>
          <p:cNvSpPr/>
          <p:nvPr/>
        </p:nvSpPr>
        <p:spPr>
          <a:xfrm>
            <a:off x="7818120" y="1307592"/>
            <a:ext cx="3822192" cy="3618034"/>
          </a:xfrm>
          <a:prstGeom prst="roundRect">
            <a:avLst>
              <a:gd name="adj" fmla="val 2527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5" name="Icon circle 160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6" name="Icon 16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7" name="Card heading 160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the formula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Equation 28" descr="n=1: \;\; \frac{4-1}{3} = 1"/>
              <p:cNvSpPr txBox="1"/>
              <p:nvPr/>
            </p:nvSpPr>
            <p:spPr>
              <a:xfrm>
                <a:off x="8046720" y="1993392"/>
                <a:ext cx="1589737" cy="4381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f>
                        <m:fPr>
                          <m:ctrlPr>
                            <a:rPr lang="en-US" sz="15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550" dirty="0"/>
              </a:p>
            </p:txBody>
          </p:sp>
        </mc:Choice>
        <mc:Fallback>
          <p:pic>
            <p:nvPicPr>
              <p:cNvPr id="28" name="EQ|6121fd8c6785|15.5" descr="n=1: \;\; \frac{4-1}{3} = 1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6720" y="1993392"/>
                <a:ext cx="1589737" cy="438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Equation 29" descr="n=2: \;\; \frac{16-1}{3} = 5"/>
              <p:cNvSpPr txBox="1"/>
              <p:nvPr/>
            </p:nvSpPr>
            <p:spPr>
              <a:xfrm>
                <a:off x="8046720" y="2562620"/>
                <a:ext cx="1683068" cy="4381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f>
                        <m:fPr>
                          <m:ctrlPr>
                            <a:rPr lang="en-US" sz="15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550" dirty="0"/>
              </a:p>
            </p:txBody>
          </p:sp>
        </mc:Choice>
        <mc:Fallback>
          <p:pic>
            <p:nvPicPr>
              <p:cNvPr id="29" name="EQ|946c4c0647b7|15.5" descr="n=2: \;\; \frac{16-1}{3} = 5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46720" y="2562620"/>
                <a:ext cx="1683068" cy="438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Equation 30" descr="n=3: \;\; \frac{64-1}{3} = 21"/>
              <p:cNvSpPr txBox="1"/>
              <p:nvPr/>
            </p:nvSpPr>
            <p:spPr>
              <a:xfrm>
                <a:off x="8046720" y="3131849"/>
                <a:ext cx="1776398" cy="4381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f>
                        <m:fPr>
                          <m:ctrlPr>
                            <a:rPr lang="en-US" sz="15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550" dirty="0"/>
              </a:p>
            </p:txBody>
          </p:sp>
        </mc:Choice>
        <mc:Fallback>
          <p:pic>
            <p:nvPicPr>
              <p:cNvPr id="30" name="EQ|dd74ea45449d|15.5" descr="n=3: \;\; \frac{64-1}{3} = 21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3131849"/>
                <a:ext cx="1776398" cy="438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Equation 31" descr="n=4: \;\; \frac{256-1}{3} = 85"/>
              <p:cNvSpPr txBox="1"/>
              <p:nvPr/>
            </p:nvSpPr>
            <p:spPr>
              <a:xfrm>
                <a:off x="8046720" y="3701077"/>
                <a:ext cx="1869658" cy="4381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f>
                        <m:fPr>
                          <m:ctrlPr>
                            <a:rPr lang="en-US" sz="15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5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sz="15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550" dirty="0"/>
              </a:p>
            </p:txBody>
          </p:sp>
        </mc:Choice>
        <mc:Fallback>
          <p:pic>
            <p:nvPicPr>
              <p:cNvPr id="31" name="EQ|bf216da34b45|15.5" descr="n=4: \;\; \frac{256-1}{3} = 85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6720" y="3701077"/>
                <a:ext cx="1869658" cy="438164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 1606"/>
          <p:cNvSpPr txBox="1"/>
          <p:nvPr/>
        </p:nvSpPr>
        <p:spPr>
          <a:xfrm>
            <a:off x="8046720" y="4242874"/>
            <a:ext cx="3364992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These match the k column of the trace table: k starts at 0 and grows by 1 per inner pass.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8</a:t>
            </a:r>
            <a:endParaRPr lang="en-US" sz="3000" dirty="0"/>
          </a:p>
        </p:txBody>
      </p:sp>
      <p:sp>
        <p:nvSpPr>
          <p:cNvPr id="3" name="Prompt 1612"/>
          <p:cNvSpPr txBox="1"/>
          <p:nvPr/>
        </p:nvSpPr>
        <p:spPr>
          <a:xfrm>
            <a:off x="548640" y="12618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(a)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Count how many times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body of the while loop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is executed in the following code.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(b)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What is the value of the variable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i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when the while loop ends? (as a function of n)</a:t>
            </a:r>
            <a:endParaRPr lang="en-US" sz="2300" dirty="0"/>
          </a:p>
        </p:txBody>
      </p:sp>
      <p:sp>
        <p:nvSpPr>
          <p:cNvPr id="4" name="Code card 1613"/>
          <p:cNvSpPr/>
          <p:nvPr/>
        </p:nvSpPr>
        <p:spPr>
          <a:xfrm>
            <a:off x="548640" y="2359152"/>
            <a:ext cx="4937760" cy="2642616"/>
          </a:xfrm>
          <a:prstGeom prst="roundRect">
            <a:avLst>
              <a:gd name="adj" fmla="val 346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614"/>
          <p:cNvSpPr txBox="1"/>
          <p:nvPr/>
        </p:nvSpPr>
        <p:spPr>
          <a:xfrm>
            <a:off x="804672" y="2523744"/>
            <a:ext cx="44805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k ← 0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 ← 1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while i &lt; n do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k + 1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i * 2</a:t>
            </a:r>
            <a:endParaRPr lang="en-US" sz="2300" dirty="0"/>
          </a:p>
        </p:txBody>
      </p:sp>
      <p:sp>
        <p:nvSpPr>
          <p:cNvPr id="6" name="Assume 1615"/>
          <p:cNvSpPr txBox="1"/>
          <p:nvPr/>
        </p:nvSpPr>
        <p:spPr>
          <a:xfrm>
            <a:off x="5943600" y="2359152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accent5"/>
                </a:solidFill>
              </a:rPr>
              <a:t>Trace it — fill in k and i after each pass:</a:t>
            </a:r>
            <a:endParaRPr lang="en-US" sz="2050" dirty="0"/>
          </a:p>
        </p:txBody>
      </p:sp>
      <p:graphicFrame>
        <p:nvGraphicFramePr>
          <p:cNvPr id="27" name="Trace table 16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907792"/>
          <a:ext cx="56967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77088"/>
                <a:gridCol w="577088"/>
                <a:gridCol w="577088"/>
                <a:gridCol w="577088"/>
                <a:gridCol w="577088"/>
                <a:gridCol w="577088"/>
                <a:gridCol w="577088"/>
                <a:gridCol w="577088"/>
                <a:gridCol w="57708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8</a:t>
            </a:r>
            <a:endParaRPr lang="en-US" sz="3000" dirty="0"/>
          </a:p>
        </p:txBody>
      </p:sp>
      <p:sp>
        <p:nvSpPr>
          <p:cNvPr id="4" name="Trace caption 1689"/>
          <p:cNvSpPr txBox="1"/>
          <p:nvPr/>
        </p:nvSpPr>
        <p:spPr>
          <a:xfrm>
            <a:off x="548640" y="1261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Trace: after k passes of the loop, i has doubled k times.</a:t>
            </a:r>
            <a:endParaRPr lang="en-US" sz="1550" dirty="0"/>
          </a:p>
        </p:txBody>
      </p:sp>
      <p:graphicFrame>
        <p:nvGraphicFramePr>
          <p:cNvPr id="28" name="Trace table 1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3352"/>
          <a:ext cx="6400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rivation card 1692"/>
          <p:cNvSpPr/>
          <p:nvPr/>
        </p:nvSpPr>
        <p:spPr>
          <a:xfrm>
            <a:off x="548640" y="2823667"/>
            <a:ext cx="6400800" cy="1627432"/>
          </a:xfrm>
          <a:prstGeom prst="roundRect">
            <a:avLst>
              <a:gd name="adj" fmla="val 5619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 circle 1693"/>
          <p:cNvSpPr/>
          <p:nvPr/>
        </p:nvSpPr>
        <p:spPr>
          <a:xfrm>
            <a:off x="749808" y="2988259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16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070555"/>
            <a:ext cx="219456" cy="219456"/>
          </a:xfrm>
          <a:prstGeom prst="rect">
            <a:avLst/>
          </a:prstGeom>
        </p:spPr>
      </p:pic>
      <p:sp>
        <p:nvSpPr>
          <p:cNvPr id="9" name="Card heading 1695"/>
          <p:cNvSpPr txBox="1"/>
          <p:nvPr/>
        </p:nvSpPr>
        <p:spPr>
          <a:xfrm>
            <a:off x="1243584" y="2988259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Derivation</a:t>
            </a:r>
            <a:endParaRPr lang="en-US" sz="1700" dirty="0"/>
          </a:p>
        </p:txBody>
      </p:sp>
      <p:sp>
        <p:nvSpPr>
          <p:cNvPr id="10" name="Text 1696"/>
          <p:cNvSpPr txBox="1"/>
          <p:nvPr/>
        </p:nvSpPr>
        <p:spPr>
          <a:xfrm>
            <a:off x="777240" y="3482035"/>
            <a:ext cx="594360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After k passes i = 2ᵏ, and the loop stops at the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first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k with: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uation 11" descr="2^{k} \ge n \;\Leftrightarrow\; k \ge \log_2 n \;\Rightarrow\; k = \lceil \log_2 n \rceil"/>
              <p:cNvSpPr txBox="1"/>
              <p:nvPr/>
            </p:nvSpPr>
            <p:spPr>
              <a:xfrm>
                <a:off x="777240" y="3844747"/>
                <a:ext cx="4068289" cy="322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9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9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9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9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19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9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9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9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19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9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9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9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1900" dirty="0"/>
              </a:p>
            </p:txBody>
          </p:sp>
        </mc:Choice>
        <mc:Fallback>
          <p:pic>
            <p:nvPicPr>
              <p:cNvPr id="11" name="EQ|f6e2767ed779|19" descr="2^{k} \ge n \;\Leftrightarrow\; k \ge \log_2 n \;\Rightarrow\; k = \lceil \log_2 n \rceil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7240" y="3844747"/>
                <a:ext cx="4068289" cy="322888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Answer card 1700"/>
          <p:cNvSpPr/>
          <p:nvPr/>
        </p:nvSpPr>
        <p:spPr>
          <a:xfrm>
            <a:off x="7223760" y="1261872"/>
            <a:ext cx="4416552" cy="2961437"/>
          </a:xfrm>
          <a:prstGeom prst="roundRect">
            <a:avLst>
              <a:gd name="adj" fmla="val 308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Icon circle 1701"/>
          <p:cNvSpPr/>
          <p:nvPr/>
        </p:nvSpPr>
        <p:spPr>
          <a:xfrm>
            <a:off x="7424928" y="14264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 17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508760"/>
            <a:ext cx="219456" cy="219456"/>
          </a:xfrm>
          <a:prstGeom prst="rect">
            <a:avLst/>
          </a:prstGeom>
        </p:spPr>
      </p:pic>
      <p:sp>
        <p:nvSpPr>
          <p:cNvPr id="15" name="Card heading 1703"/>
          <p:cNvSpPr txBox="1"/>
          <p:nvPr/>
        </p:nvSpPr>
        <p:spPr>
          <a:xfrm>
            <a:off x="7918704" y="142646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16" name="Text 1704"/>
          <p:cNvSpPr txBox="1"/>
          <p:nvPr/>
        </p:nvSpPr>
        <p:spPr>
          <a:xfrm>
            <a:off x="7452360" y="1920240"/>
            <a:ext cx="3959352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(a)</a:t>
            </a:r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 Number of passes of the body:</a:t>
            </a:r>
            <a:endParaRPr lang="en-US" sz="15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uation 17" descr="\lceil \log_2 n \rceil"/>
              <p:cNvSpPr txBox="1"/>
              <p:nvPr/>
            </p:nvSpPr>
            <p:spPr>
              <a:xfrm>
                <a:off x="7452360" y="2260092"/>
                <a:ext cx="1027898" cy="354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⌈"/>
                          <m:endChr m:val="⌉"/>
                          <m:ctrlPr>
                            <a:rPr lang="en-US" sz="23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3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35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5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3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2350" dirty="0"/>
              </a:p>
            </p:txBody>
          </p:sp>
        </mc:Choice>
        <mc:Fallback>
          <p:pic>
            <p:nvPicPr>
              <p:cNvPr id="17" name="EQ|c50bcb2c62e8|23.5" descr="\lceil \log_2 n \rceil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2360" y="2260092"/>
                <a:ext cx="1027898" cy="354559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 1705"/>
          <p:cNvSpPr txBox="1"/>
          <p:nvPr/>
        </p:nvSpPr>
        <p:spPr>
          <a:xfrm>
            <a:off x="7452360" y="2718283"/>
            <a:ext cx="3959352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(b)</a:t>
            </a:r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 Final value of i — the smallest power of 2 that is ≥ n:</a:t>
            </a:r>
            <a:endParaRPr lang="en-US" sz="15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uation 19" descr="i = 2^{\lceil \log_2 n \rceil}"/>
              <p:cNvSpPr txBox="1"/>
              <p:nvPr/>
            </p:nvSpPr>
            <p:spPr>
              <a:xfrm>
                <a:off x="7452360" y="3294355"/>
                <a:ext cx="1394919" cy="3330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⌈"/>
                              <m:endChr m:val="⌉"/>
                              <m:ctrlPr>
                                <a:rPr lang="en-US" sz="23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350" b="0" i="1">
                                      <a:solidFill>
                                        <a:srgbClr val="C628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350" b="0" i="0">
                                      <a:solidFill>
                                        <a:srgbClr val="C628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350" b="0" i="0">
                                      <a:solidFill>
                                        <a:srgbClr val="C628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3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350" dirty="0"/>
              </a:p>
            </p:txBody>
          </p:sp>
        </mc:Choice>
        <mc:Fallback>
          <p:pic>
            <p:nvPicPr>
              <p:cNvPr id="19" name="EQ|957734aeff2a|23.5" descr="i = 2^{\lceil \log_2 n \rceil}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2360" y="3294355"/>
                <a:ext cx="1394919" cy="33307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 1706"/>
          <p:cNvSpPr txBox="1"/>
          <p:nvPr/>
        </p:nvSpPr>
        <p:spPr>
          <a:xfrm>
            <a:off x="7452360" y="3731057"/>
            <a:ext cx="3959352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(For n ≤ 1 the loop does not run and i = 1.)</a:t>
            </a:r>
            <a:endParaRPr lang="en-US" sz="1550" dirty="0"/>
          </a:p>
        </p:txBody>
      </p:sp>
      <p:sp>
        <p:nvSpPr>
          <p:cNvPr id="21" name="Example: n = 100 card 1708"/>
          <p:cNvSpPr/>
          <p:nvPr/>
        </p:nvSpPr>
        <p:spPr>
          <a:xfrm>
            <a:off x="7223760" y="4406189"/>
            <a:ext cx="4416552" cy="1759153"/>
          </a:xfrm>
          <a:prstGeom prst="roundRect">
            <a:avLst>
              <a:gd name="adj" fmla="val 5198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2" name="Icon circle 1709"/>
          <p:cNvSpPr/>
          <p:nvPr/>
        </p:nvSpPr>
        <p:spPr>
          <a:xfrm>
            <a:off x="7424928" y="4570781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3" name="Icon 171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653077"/>
            <a:ext cx="219456" cy="219456"/>
          </a:xfrm>
          <a:prstGeom prst="rect">
            <a:avLst/>
          </a:prstGeom>
        </p:spPr>
      </p:pic>
      <p:sp>
        <p:nvSpPr>
          <p:cNvPr id="24" name="Card heading 1711"/>
          <p:cNvSpPr txBox="1"/>
          <p:nvPr/>
        </p:nvSpPr>
        <p:spPr>
          <a:xfrm>
            <a:off x="7918704" y="4570781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Example: n = 100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quation 25" descr="\log_2 100 \approx 6.64 \;\Rightarrow\; \lceil \log_2 100 \rceil = 7"/>
              <p:cNvSpPr txBox="1"/>
              <p:nvPr/>
            </p:nvSpPr>
            <p:spPr>
              <a:xfrm>
                <a:off x="7452360" y="5091989"/>
                <a:ext cx="3130956" cy="2564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7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7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70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17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pic>
            <p:nvPicPr>
              <p:cNvPr id="25" name="EQ|b72a131d3779|17" descr="\log_2 100 \approx 6.64 \;\Rightarrow\; \lceil \log_2 100 \rceil = 7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2360" y="5091989"/>
                <a:ext cx="3130956" cy="256489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 1712"/>
          <p:cNvSpPr txBox="1"/>
          <p:nvPr/>
        </p:nvSpPr>
        <p:spPr>
          <a:xfrm>
            <a:off x="7452360" y="5452110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 = 1, 2, 4, 8, 16, 32, 64 are all &lt; 100 →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 passes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; then i =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128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 ≥ 100 ends the loop.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8 — Explanation</a:t>
            </a:r>
            <a:endParaRPr lang="en-US" sz="3000" dirty="0"/>
          </a:p>
        </p:txBody>
      </p:sp>
      <p:sp>
        <p:nvSpPr>
          <p:cNvPr id="3" name="Step circle 1794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1795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796"/>
          <p:cNvSpPr txBox="1"/>
          <p:nvPr/>
        </p:nvSpPr>
        <p:spPr>
          <a:xfrm>
            <a:off x="1097280" y="1340358"/>
            <a:ext cx="63550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Trace i: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i starts at 1 and doubles on every pass, so after k passes:</a:t>
            </a:r>
            <a:endParaRPr lang="en-US" sz="18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i = 2^{k}: \quad 1,\; 2,\; 4,\; 8,\; \ldots"/>
              <p:cNvSpPr txBox="1"/>
              <p:nvPr/>
            </p:nvSpPr>
            <p:spPr>
              <a:xfrm>
                <a:off x="1234440" y="1686306"/>
                <a:ext cx="2739892" cy="3327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>
          <p:pic>
            <p:nvPicPr>
              <p:cNvPr id="6" name="EQ|e39aeaf1a310|20.5" descr="i = 2^{k}: \quad 1,\; 2,\; 4,\; 8,\; \ldots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4440" y="1686306"/>
                <a:ext cx="2739892" cy="332727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1797"/>
          <p:cNvSpPr/>
          <p:nvPr/>
        </p:nvSpPr>
        <p:spPr>
          <a:xfrm>
            <a:off x="548640" y="223574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Step number 1798"/>
          <p:cNvSpPr txBox="1"/>
          <p:nvPr/>
        </p:nvSpPr>
        <p:spPr>
          <a:xfrm>
            <a:off x="548640" y="2235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1799"/>
          <p:cNvSpPr txBox="1"/>
          <p:nvPr/>
        </p:nvSpPr>
        <p:spPr>
          <a:xfrm>
            <a:off x="1097280" y="2268512"/>
            <a:ext cx="635508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When does it stop?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The loop runs while i &lt; n, so it stops at the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first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k for which 2ᵏ ≥ n.</a:t>
            </a:r>
            <a:endParaRPr lang="en-US" sz="1850" dirty="0"/>
          </a:p>
        </p:txBody>
      </p:sp>
      <p:sp>
        <p:nvSpPr>
          <p:cNvPr id="10" name="Step circle 1800"/>
          <p:cNvSpPr/>
          <p:nvPr/>
        </p:nvSpPr>
        <p:spPr>
          <a:xfrm>
            <a:off x="548640" y="303996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tep number 1801"/>
          <p:cNvSpPr txBox="1"/>
          <p:nvPr/>
        </p:nvSpPr>
        <p:spPr>
          <a:xfrm>
            <a:off x="548640" y="303996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1802"/>
          <p:cNvSpPr txBox="1"/>
          <p:nvPr/>
        </p:nvSpPr>
        <p:spPr>
          <a:xfrm>
            <a:off x="1097280" y="3072727"/>
            <a:ext cx="635508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Solve for k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— the smallest whole number with this property is the number of passes (a):</a:t>
            </a:r>
            <a:endParaRPr lang="en-US" sz="18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 13" descr="2^{k} \ge n \;\Leftrightarrow\; k \ge \log_2 n \;\Rightarrow\; k = \lceil \log_2 n \rceil"/>
              <p:cNvSpPr txBox="1"/>
              <p:nvPr/>
            </p:nvSpPr>
            <p:spPr>
              <a:xfrm>
                <a:off x="1234440" y="3700615"/>
                <a:ext cx="4389470" cy="3483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2050" dirty="0"/>
              </a:p>
            </p:txBody>
          </p:sp>
        </mc:Choice>
        <mc:Fallback>
          <p:pic>
            <p:nvPicPr>
              <p:cNvPr id="13" name="EQ|f6e2767ed779|20.5" descr="2^{k} \ge n \;\Leftrightarrow\; k \ge \log_2 n \;\Rightarrow\; k = \lceil \log_2 n \rceil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4440" y="3700615"/>
                <a:ext cx="4389470" cy="34838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tep circle 1803"/>
          <p:cNvSpPr/>
          <p:nvPr/>
        </p:nvSpPr>
        <p:spPr>
          <a:xfrm>
            <a:off x="548640" y="426570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Step number 1804"/>
          <p:cNvSpPr txBox="1"/>
          <p:nvPr/>
        </p:nvSpPr>
        <p:spPr>
          <a:xfrm>
            <a:off x="548640" y="42657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text 1805"/>
          <p:cNvSpPr txBox="1"/>
          <p:nvPr/>
        </p:nvSpPr>
        <p:spPr>
          <a:xfrm>
            <a:off x="1097280" y="4298473"/>
            <a:ext cx="635508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Final value (b):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if n is a power of 2, then i = n exactly; otherwise i is the next power of 2 above n:</a:t>
            </a:r>
            <a:endParaRPr lang="en-US" sz="18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uation 17" descr="i = 2^{k} = 2^{\lceil \log_2 n \rceil}"/>
              <p:cNvSpPr txBox="1"/>
              <p:nvPr/>
            </p:nvSpPr>
            <p:spPr>
              <a:xfrm>
                <a:off x="1234440" y="4926361"/>
                <a:ext cx="1790167" cy="290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⌈"/>
                              <m:endChr m:val="⌉"/>
                              <m:ctrlPr>
                                <a:rPr lang="en-US" sz="20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50" b="0" i="1">
                                      <a:solidFill>
                                        <a:srgbClr val="1E2A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50" b="0" i="0">
                                      <a:solidFill>
                                        <a:srgbClr val="1E2A2F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50" b="0" i="0">
                                      <a:solidFill>
                                        <a:srgbClr val="1E2A2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050" dirty="0"/>
              </a:p>
            </p:txBody>
          </p:sp>
        </mc:Choice>
        <mc:Fallback>
          <p:pic>
            <p:nvPicPr>
              <p:cNvPr id="17" name="EQ|0b06524d718e|20.5" descr="i = 2^{k} = 2^{\lceil \log_2 n \rceil}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4926361"/>
                <a:ext cx="1790167" cy="290551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Step circle 1806"/>
          <p:cNvSpPr/>
          <p:nvPr/>
        </p:nvSpPr>
        <p:spPr>
          <a:xfrm>
            <a:off x="548640" y="5433625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Step number 1807"/>
          <p:cNvSpPr txBox="1"/>
          <p:nvPr/>
        </p:nvSpPr>
        <p:spPr>
          <a:xfrm>
            <a:off x="548640" y="543362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Step text 1808"/>
          <p:cNvSpPr txBox="1"/>
          <p:nvPr/>
        </p:nvSpPr>
        <p:spPr>
          <a:xfrm>
            <a:off x="1097280" y="5466391"/>
            <a:ext cx="635508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Growth: Θ(log n).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Doubling reaches n very quickly — the same idea makes binary search fast.</a:t>
            </a:r>
            <a:endParaRPr lang="en-US" sz="1850" dirty="0"/>
          </a:p>
        </p:txBody>
      </p:sp>
      <p:sp>
        <p:nvSpPr>
          <p:cNvPr id="21" name="Examples card 1813"/>
          <p:cNvSpPr/>
          <p:nvPr/>
        </p:nvSpPr>
        <p:spPr>
          <a:xfrm>
            <a:off x="7818120" y="1307592"/>
            <a:ext cx="3822192" cy="3276600"/>
          </a:xfrm>
          <a:prstGeom prst="roundRect">
            <a:avLst>
              <a:gd name="adj" fmla="val 2791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2" name="Icon circle 1814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3" name="Icon 18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4" name="Card heading 1816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Examples</a:t>
            </a:r>
            <a:endParaRPr lang="en-US" sz="1700" dirty="0"/>
          </a:p>
        </p:txBody>
      </p:sp>
      <p:sp>
        <p:nvSpPr>
          <p:cNvPr id="25" name="Text 1817"/>
          <p:cNvSpPr txBox="1"/>
          <p:nvPr/>
        </p:nvSpPr>
        <p:spPr>
          <a:xfrm>
            <a:off x="8046720" y="1965960"/>
            <a:ext cx="336499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n = 64: log₂ 64 = 6 →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6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passes, i = 64</a:t>
            </a:r>
            <a:endParaRPr lang="en-US" sz="1750" dirty="0"/>
          </a:p>
        </p:txBody>
      </p:sp>
      <p:sp>
        <p:nvSpPr>
          <p:cNvPr id="26" name="Text 1818"/>
          <p:cNvSpPr txBox="1"/>
          <p:nvPr/>
        </p:nvSpPr>
        <p:spPr>
          <a:xfrm>
            <a:off x="8046720" y="2575560"/>
            <a:ext cx="336499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n = 100: log₂ 100 ≈ 6.64 →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7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passes, i = 128</a:t>
            </a:r>
            <a:endParaRPr lang="en-US" sz="1750" dirty="0"/>
          </a:p>
        </p:txBody>
      </p:sp>
      <p:sp>
        <p:nvSpPr>
          <p:cNvPr id="27" name="Text 1819"/>
          <p:cNvSpPr txBox="1"/>
          <p:nvPr/>
        </p:nvSpPr>
        <p:spPr>
          <a:xfrm>
            <a:off x="8046720" y="3185160"/>
            <a:ext cx="336499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n = 128: log₂ 128 = 7 →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7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passes, i = 128</a:t>
            </a:r>
            <a:endParaRPr lang="en-US" sz="1750" dirty="0"/>
          </a:p>
        </p:txBody>
      </p:sp>
      <p:sp>
        <p:nvSpPr>
          <p:cNvPr id="28" name="Text 1820"/>
          <p:cNvSpPr txBox="1"/>
          <p:nvPr/>
        </p:nvSpPr>
        <p:spPr>
          <a:xfrm>
            <a:off x="8046720" y="3794760"/>
            <a:ext cx="336499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n = 129: log₂ 129 ≈ 7.01 → </a:t>
            </a:r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8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passes, i = 256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9</a:t>
            </a:r>
            <a:endParaRPr lang="en-US" sz="3000" dirty="0"/>
          </a:p>
        </p:txBody>
      </p:sp>
      <p:sp>
        <p:nvSpPr>
          <p:cNvPr id="3" name="Prompt 1833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How many times is the multiplication 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 ← k * 2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executed in the following code?</a:t>
            </a:r>
            <a:endParaRPr lang="en-US" sz="2300" dirty="0"/>
          </a:p>
        </p:txBody>
      </p:sp>
      <p:sp>
        <p:nvSpPr>
          <p:cNvPr id="4" name="Code card 1834"/>
          <p:cNvSpPr/>
          <p:nvPr/>
        </p:nvSpPr>
        <p:spPr>
          <a:xfrm>
            <a:off x="548640" y="1932432"/>
            <a:ext cx="5669280" cy="2257044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seudocode 1835"/>
          <p:cNvSpPr txBox="1"/>
          <p:nvPr/>
        </p:nvSpPr>
        <p:spPr>
          <a:xfrm>
            <a:off x="804672" y="2097024"/>
            <a:ext cx="5212080" cy="192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i ← 1 to n do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k ← 1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while k &lt; i do</a:t>
            </a:r>
            <a:endParaRPr lang="en-US" sz="2300" dirty="0"/>
          </a:p>
          <a:p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k * 2</a:t>
            </a:r>
            <a:endParaRPr lang="en-US" sz="2300" dirty="0"/>
          </a:p>
        </p:txBody>
      </p:sp>
      <p:sp>
        <p:nvSpPr>
          <p:cNvPr id="6" name="Hint — reuse Question 8 card 1837"/>
          <p:cNvSpPr/>
          <p:nvPr/>
        </p:nvSpPr>
        <p:spPr>
          <a:xfrm>
            <a:off x="6675120" y="1932432"/>
            <a:ext cx="4965192" cy="1493520"/>
          </a:xfrm>
          <a:prstGeom prst="roundRect">
            <a:avLst>
              <a:gd name="adj" fmla="val 6122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7" name="Icon circle 1838"/>
          <p:cNvSpPr/>
          <p:nvPr/>
        </p:nvSpPr>
        <p:spPr>
          <a:xfrm>
            <a:off x="6876288" y="209702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8" name="Icon 18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584" y="2179320"/>
            <a:ext cx="219456" cy="219456"/>
          </a:xfrm>
          <a:prstGeom prst="rect">
            <a:avLst/>
          </a:prstGeom>
        </p:spPr>
      </p:pic>
      <p:sp>
        <p:nvSpPr>
          <p:cNvPr id="9" name="Card heading 1840"/>
          <p:cNvSpPr txBox="1"/>
          <p:nvPr/>
        </p:nvSpPr>
        <p:spPr>
          <a:xfrm>
            <a:off x="7370064" y="20970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Hint — reuse Question 8</a:t>
            </a:r>
            <a:endParaRPr lang="en-US" sz="1700" dirty="0"/>
          </a:p>
        </p:txBody>
      </p:sp>
      <p:sp>
        <p:nvSpPr>
          <p:cNvPr id="10" name="Text 1841"/>
          <p:cNvSpPr txBox="1"/>
          <p:nvPr/>
        </p:nvSpPr>
        <p:spPr>
          <a:xfrm>
            <a:off x="6903720" y="2590800"/>
            <a:ext cx="4507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loop that starts at 1 and doubles while it is &lt; n runs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log₂ n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times.</a:t>
            </a:r>
            <a:endParaRPr lang="en-US" sz="1900" dirty="0"/>
          </a:p>
        </p:txBody>
      </p:sp>
      <p:sp>
        <p:nvSpPr>
          <p:cNvPr id="11" name="Code card 1842"/>
          <p:cNvSpPr/>
          <p:nvPr/>
        </p:nvSpPr>
        <p:spPr>
          <a:xfrm>
            <a:off x="6675120" y="3654552"/>
            <a:ext cx="4965192" cy="1283208"/>
          </a:xfrm>
          <a:prstGeom prst="roundRect">
            <a:avLst>
              <a:gd name="adj" fmla="val 7126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ode caption 1843"/>
          <p:cNvSpPr txBox="1"/>
          <p:nvPr/>
        </p:nvSpPr>
        <p:spPr>
          <a:xfrm>
            <a:off x="6903720" y="3782568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6"/>
                </a:solidFill>
              </a:rPr>
              <a:t>QUESTION 8</a:t>
            </a:r>
            <a:endParaRPr lang="en-US" sz="1300" dirty="0"/>
          </a:p>
        </p:txBody>
      </p:sp>
      <p:sp>
        <p:nvSpPr>
          <p:cNvPr id="13" name="Pseudocode 1844"/>
          <p:cNvSpPr txBox="1"/>
          <p:nvPr/>
        </p:nvSpPr>
        <p:spPr>
          <a:xfrm>
            <a:off x="6931152" y="4203192"/>
            <a:ext cx="45079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 &lt; n do</a:t>
            </a:r>
            <a:endParaRPr lang="en-US" sz="1700" dirty="0"/>
          </a:p>
          <a:p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 ← i * 2      </a:t>
            </a:r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log₂ n</a:t>
            </a:r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9 — Step 1: Trace the Code</a:t>
            </a:r>
            <a:endParaRPr lang="en-US" sz="3000" dirty="0"/>
          </a:p>
        </p:txBody>
      </p:sp>
      <p:graphicFrame>
        <p:nvGraphicFramePr>
          <p:cNvPr id="31" name="Trace table 18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6492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1737360"/>
              </a:tblGrid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of k  (start at 1, double until k ≥ i)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 →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 →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 →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 →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686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multiplications for n = 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How to read a row card 1866"/>
          <p:cNvSpPr/>
          <p:nvPr/>
        </p:nvSpPr>
        <p:spPr>
          <a:xfrm>
            <a:off x="7223760" y="1261872"/>
            <a:ext cx="4416552" cy="3040380"/>
          </a:xfrm>
          <a:prstGeom prst="roundRect">
            <a:avLst>
              <a:gd name="adj" fmla="val 300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 1867"/>
          <p:cNvSpPr/>
          <p:nvPr/>
        </p:nvSpPr>
        <p:spPr>
          <a:xfrm>
            <a:off x="7424928" y="14264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18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508760"/>
            <a:ext cx="219456" cy="219456"/>
          </a:xfrm>
          <a:prstGeom prst="rect">
            <a:avLst/>
          </a:prstGeom>
        </p:spPr>
      </p:pic>
      <p:sp>
        <p:nvSpPr>
          <p:cNvPr id="8" name="Card heading 1869"/>
          <p:cNvSpPr txBox="1"/>
          <p:nvPr/>
        </p:nvSpPr>
        <p:spPr>
          <a:xfrm>
            <a:off x="7918704" y="142646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How to read a row</a:t>
            </a:r>
            <a:endParaRPr lang="en-US" sz="1700" dirty="0"/>
          </a:p>
        </p:txBody>
      </p:sp>
      <p:sp>
        <p:nvSpPr>
          <p:cNvPr id="9" name="Text 1870"/>
          <p:cNvSpPr txBox="1"/>
          <p:nvPr/>
        </p:nvSpPr>
        <p:spPr>
          <a:xfrm>
            <a:off x="7452360" y="1920240"/>
            <a:ext cx="3959352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For each i, k starts at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and is doubled while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k &lt; i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.</a:t>
            </a:r>
            <a:endParaRPr lang="en-US" sz="1850" dirty="0"/>
          </a:p>
        </p:txBody>
      </p:sp>
      <p:sp>
        <p:nvSpPr>
          <p:cNvPr id="10" name="Text 1871"/>
          <p:cNvSpPr txBox="1"/>
          <p:nvPr/>
        </p:nvSpPr>
        <p:spPr>
          <a:xfrm>
            <a:off x="7452360" y="2560320"/>
            <a:ext cx="3959352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Every arrow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→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is one execution of 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 ← k * 2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.</a:t>
            </a:r>
            <a:endParaRPr lang="en-US" sz="1850" dirty="0"/>
          </a:p>
        </p:txBody>
      </p:sp>
      <p:sp>
        <p:nvSpPr>
          <p:cNvPr id="11" name="Text 1872"/>
          <p:cNvSpPr txBox="1"/>
          <p:nvPr/>
        </p:nvSpPr>
        <p:spPr>
          <a:xfrm>
            <a:off x="7452360" y="3200400"/>
            <a:ext cx="395935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Example i = 5: 1 → 2 → 4 → 8. Three arrows, so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3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multiplications. Then 8 ≥ 5 and the inner loop stops.</a:t>
            </a:r>
            <a:endParaRPr lang="en-US" sz="1850" dirty="0"/>
          </a:p>
        </p:txBody>
      </p:sp>
      <p:sp>
        <p:nvSpPr>
          <p:cNvPr id="12" name="For n = 8 card 1874"/>
          <p:cNvSpPr/>
          <p:nvPr/>
        </p:nvSpPr>
        <p:spPr>
          <a:xfrm>
            <a:off x="7223760" y="4530852"/>
            <a:ext cx="4416552" cy="1478280"/>
          </a:xfrm>
          <a:prstGeom prst="roundRect">
            <a:avLst>
              <a:gd name="adj" fmla="val 6186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Icon circle 1875"/>
          <p:cNvSpPr/>
          <p:nvPr/>
        </p:nvSpPr>
        <p:spPr>
          <a:xfrm>
            <a:off x="7424928" y="469544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 18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4777740"/>
            <a:ext cx="219456" cy="219456"/>
          </a:xfrm>
          <a:prstGeom prst="rect">
            <a:avLst/>
          </a:prstGeom>
        </p:spPr>
      </p:pic>
      <p:sp>
        <p:nvSpPr>
          <p:cNvPr id="15" name="Card heading 1877"/>
          <p:cNvSpPr txBox="1"/>
          <p:nvPr/>
        </p:nvSpPr>
        <p:spPr>
          <a:xfrm>
            <a:off x="7918704" y="469544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 n = 8</a:t>
            </a:r>
            <a:endParaRPr lang="en-US" sz="1700" dirty="0"/>
          </a:p>
        </p:txBody>
      </p:sp>
      <p:sp>
        <p:nvSpPr>
          <p:cNvPr id="16" name="Text 1878"/>
          <p:cNvSpPr txBox="1"/>
          <p:nvPr/>
        </p:nvSpPr>
        <p:spPr>
          <a:xfrm>
            <a:off x="7452360" y="5189220"/>
            <a:ext cx="3959352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0 + 1 + 2 + 2 + 3 + 3 + 3 + 3 = </a:t>
            </a:r>
            <a:pPr indent="0" marL="0">
              <a:buNone/>
            </a:pPr>
            <a:r>
              <a:rPr lang="en-US" sz="1850" b="1" dirty="0">
                <a:solidFill>
                  <a:schemeClr val="tx1"/>
                </a:solidFill>
              </a:rPr>
              <a:t>17</a:t>
            </a:r>
            <a:pPr indent="0" marL="0">
              <a:buNone/>
            </a:pPr>
            <a:r>
              <a:rPr lang="en-US" sz="1850" dirty="0">
                <a:solidFill>
                  <a:schemeClr val="tx1"/>
                </a:solidFill>
              </a:rPr>
              <a:t> multiplications.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9 — Step 2: The Pattern</a:t>
            </a:r>
            <a:endParaRPr lang="en-US" sz="3000" dirty="0"/>
          </a:p>
        </p:txBody>
      </p:sp>
      <p:sp>
        <p:nvSpPr>
          <p:cNvPr id="4" name="Prompt 1942"/>
          <p:cNvSpPr txBox="1"/>
          <p:nvPr/>
        </p:nvSpPr>
        <p:spPr>
          <a:xfrm>
            <a:off x="548640" y="1261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Group the passes by the number of multiplications they do:</a:t>
            </a:r>
            <a:endParaRPr lang="en-US" sz="1800" dirty="0"/>
          </a:p>
        </p:txBody>
      </p:sp>
      <p:graphicFrame>
        <p:nvGraphicFramePr>
          <p:cNvPr id="32" name="Trace table 19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792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8288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i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passes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5, 6, 7, 8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 10, …, 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 18, …, 32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ption 1944"/>
          <p:cNvSpPr txBox="1"/>
          <p:nvPr/>
        </p:nvSpPr>
        <p:spPr>
          <a:xfrm>
            <a:off x="548640" y="53080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chemeClr val="accent6"/>
                </a:solidFill>
              </a:rPr>
              <a:t>Each time i passes a power of 2, one more doubling is needed.</a:t>
            </a:r>
            <a:endParaRPr lang="en-US" sz="1550" dirty="0"/>
          </a:p>
        </p:txBody>
      </p:sp>
      <p:sp>
        <p:nvSpPr>
          <p:cNvPr id="7" name="Rule for pass i card 1947"/>
          <p:cNvSpPr/>
          <p:nvPr/>
        </p:nvSpPr>
        <p:spPr>
          <a:xfrm>
            <a:off x="7223760" y="1261872"/>
            <a:ext cx="4416552" cy="2816885"/>
          </a:xfrm>
          <a:prstGeom prst="roundRect">
            <a:avLst>
              <a:gd name="adj" fmla="val 3246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Icon circle 1948"/>
          <p:cNvSpPr/>
          <p:nvPr/>
        </p:nvSpPr>
        <p:spPr>
          <a:xfrm>
            <a:off x="7424928" y="14264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9" name="Icon 19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508760"/>
            <a:ext cx="219456" cy="219456"/>
          </a:xfrm>
          <a:prstGeom prst="rect">
            <a:avLst/>
          </a:prstGeom>
        </p:spPr>
      </p:pic>
      <p:sp>
        <p:nvSpPr>
          <p:cNvPr id="10" name="Card heading 1950"/>
          <p:cNvSpPr txBox="1"/>
          <p:nvPr/>
        </p:nvSpPr>
        <p:spPr>
          <a:xfrm>
            <a:off x="7918704" y="142646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Rule for pass i</a:t>
            </a:r>
            <a:endParaRPr lang="en-US" sz="1700" dirty="0"/>
          </a:p>
        </p:txBody>
      </p:sp>
      <p:sp>
        <p:nvSpPr>
          <p:cNvPr id="11" name="Text 1951"/>
          <p:cNvSpPr txBox="1"/>
          <p:nvPr/>
        </p:nvSpPr>
        <p:spPr>
          <a:xfrm>
            <a:off x="7452360" y="192024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Pass i does as many multiplications as the number of times we must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1 to reach at least i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: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uation 12" descr="\lceil \log_2 i \rceil"/>
              <p:cNvSpPr txBox="1"/>
              <p:nvPr/>
            </p:nvSpPr>
            <p:spPr>
              <a:xfrm>
                <a:off x="7452360" y="2801112"/>
                <a:ext cx="1072248" cy="3998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⌈"/>
                          <m:endChr m:val="⌉"/>
                          <m:ctrlPr>
                            <a:rPr lang="en-US" sz="26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5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65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65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</m:oMath>
                  </m:oMathPara>
                </a14:m>
                <a:endParaRPr lang="en-US" sz="2650" dirty="0"/>
              </a:p>
            </p:txBody>
          </p:sp>
        </mc:Choice>
        <mc:Fallback>
          <p:pic>
            <p:nvPicPr>
              <p:cNvPr id="12" name="EQ|6fca4c3bc565|26.5" descr="\lceil \log_2 i \rceil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52360" y="2801112"/>
                <a:ext cx="1072248" cy="399821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 1952"/>
          <p:cNvSpPr txBox="1"/>
          <p:nvPr/>
        </p:nvSpPr>
        <p:spPr>
          <a:xfrm>
            <a:off x="7452360" y="3304565"/>
            <a:ext cx="3959352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(log₂ i rounded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up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). This is exactly Question 8 with n replaced by i.</a:t>
            </a:r>
            <a:endParaRPr lang="en-US" sz="1700" dirty="0"/>
          </a:p>
        </p:txBody>
      </p:sp>
      <p:sp>
        <p:nvSpPr>
          <p:cNvPr id="14" name="Examples card 1956"/>
          <p:cNvSpPr/>
          <p:nvPr/>
        </p:nvSpPr>
        <p:spPr>
          <a:xfrm>
            <a:off x="7223760" y="4307357"/>
            <a:ext cx="4416552" cy="1844040"/>
          </a:xfrm>
          <a:prstGeom prst="roundRect">
            <a:avLst>
              <a:gd name="adj" fmla="val 4959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Icon circle 1957"/>
          <p:cNvSpPr/>
          <p:nvPr/>
        </p:nvSpPr>
        <p:spPr>
          <a:xfrm>
            <a:off x="7424928" y="4471949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con 195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4554245"/>
            <a:ext cx="219456" cy="219456"/>
          </a:xfrm>
          <a:prstGeom prst="rect">
            <a:avLst/>
          </a:prstGeom>
        </p:spPr>
      </p:pic>
      <p:sp>
        <p:nvSpPr>
          <p:cNvPr id="17" name="Card heading 1959"/>
          <p:cNvSpPr txBox="1"/>
          <p:nvPr/>
        </p:nvSpPr>
        <p:spPr>
          <a:xfrm>
            <a:off x="7918704" y="4471949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Examples</a:t>
            </a:r>
            <a:endParaRPr lang="en-US" sz="1700" dirty="0"/>
          </a:p>
        </p:txBody>
      </p:sp>
      <p:sp>
        <p:nvSpPr>
          <p:cNvPr id="18" name="Text 1960"/>
          <p:cNvSpPr txBox="1"/>
          <p:nvPr/>
        </p:nvSpPr>
        <p:spPr>
          <a:xfrm>
            <a:off x="7452360" y="4965725"/>
            <a:ext cx="3959352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 = 5: log₂ 5 ≈ 2.32 → rounded up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9" name="Text 1961"/>
          <p:cNvSpPr txBox="1"/>
          <p:nvPr/>
        </p:nvSpPr>
        <p:spPr>
          <a:xfrm>
            <a:off x="7452360" y="5301005"/>
            <a:ext cx="3959352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 = 8: log₂ 8 = 3 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Text 1962"/>
          <p:cNvSpPr txBox="1"/>
          <p:nvPr/>
        </p:nvSpPr>
        <p:spPr>
          <a:xfrm>
            <a:off x="7452360" y="5636285"/>
            <a:ext cx="3959352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 = 9: log₂ 9 ≈ 3.17 → rounded up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9 — Step 3: Add It Up</a:t>
            </a:r>
            <a:endParaRPr lang="en-US" sz="3000" dirty="0"/>
          </a:p>
        </p:txBody>
      </p:sp>
      <p:sp>
        <p:nvSpPr>
          <p:cNvPr id="4" name="Step circle 2013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Step number 2014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ext 2015"/>
          <p:cNvSpPr txBox="1"/>
          <p:nvPr/>
        </p:nvSpPr>
        <p:spPr>
          <a:xfrm>
            <a:off x="1097280" y="1347978"/>
            <a:ext cx="6355080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The total is the sum over all passes:</a:t>
            </a:r>
            <a:endParaRPr lang="en-US" sz="1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T(n) = \lceil \log_2 1 \rceil + \lceil \log_2 2 \rceil + \cdots + \lceil \log_2 n \rceil"/>
              <p:cNvSpPr txBox="1"/>
              <p:nvPr/>
            </p:nvSpPr>
            <p:spPr>
              <a:xfrm>
                <a:off x="1234440" y="1678686"/>
                <a:ext cx="4448785" cy="2942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1950" dirty="0"/>
              </a:p>
            </p:txBody>
          </p:sp>
        </mc:Choice>
        <mc:Fallback>
          <p:pic>
            <p:nvPicPr>
              <p:cNvPr id="7" name="EQ|e7708df33fcd|19.5" descr="T(n) = \lceil \log_2 1 \rceil + \lceil \log_2 2 \rceil + \cdots + \lceil \log_2 n \rceil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4440" y="1678686"/>
                <a:ext cx="4448785" cy="294208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tep circle 2016"/>
          <p:cNvSpPr/>
          <p:nvPr/>
        </p:nvSpPr>
        <p:spPr>
          <a:xfrm>
            <a:off x="548640" y="218137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Step number 2017"/>
          <p:cNvSpPr txBox="1"/>
          <p:nvPr/>
        </p:nvSpPr>
        <p:spPr>
          <a:xfrm>
            <a:off x="548640" y="21813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text 2018"/>
          <p:cNvSpPr txBox="1"/>
          <p:nvPr/>
        </p:nvSpPr>
        <p:spPr>
          <a:xfrm>
            <a:off x="1097280" y="2221763"/>
            <a:ext cx="635508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Not more than: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there are n passes, and no pass does more than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log₂ n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multiplications:</a:t>
            </a:r>
            <a:endParaRPr lang="en-US" sz="1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uation 11" descr="T(n) \le n \cdot \lceil \log_2 n \rceil"/>
              <p:cNvSpPr txBox="1"/>
              <p:nvPr/>
            </p:nvSpPr>
            <p:spPr>
              <a:xfrm>
                <a:off x="1234440" y="2819171"/>
                <a:ext cx="2040111" cy="2942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1950" dirty="0"/>
              </a:p>
            </p:txBody>
          </p:sp>
        </mc:Choice>
        <mc:Fallback>
          <p:pic>
            <p:nvPicPr>
              <p:cNvPr id="11" name="EQ|d5e3f8902b5d|19.5" descr="T(n) \le n \cdot \lceil \log_2 n \rceil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4440" y="2819171"/>
                <a:ext cx="2040111" cy="294208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Step circle 2019"/>
          <p:cNvSpPr/>
          <p:nvPr/>
        </p:nvSpPr>
        <p:spPr>
          <a:xfrm>
            <a:off x="548640" y="332186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2020"/>
          <p:cNvSpPr txBox="1"/>
          <p:nvPr/>
        </p:nvSpPr>
        <p:spPr>
          <a:xfrm>
            <a:off x="548640" y="33218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text 2021"/>
          <p:cNvSpPr txBox="1"/>
          <p:nvPr/>
        </p:nvSpPr>
        <p:spPr>
          <a:xfrm>
            <a:off x="1097280" y="3362249"/>
            <a:ext cx="635508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Not less than: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 the last half of the passes (i &gt; n/2) each do at least log₂ n − 1 multiplications:</a:t>
            </a:r>
            <a:endParaRPr lang="en-US" sz="1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uation 15" descr="T(n) \ge \frac{n}{2} \cdot (\log_2 n - 1)"/>
              <p:cNvSpPr txBox="1"/>
              <p:nvPr/>
            </p:nvSpPr>
            <p:spPr>
              <a:xfrm>
                <a:off x="1234440" y="3959657"/>
                <a:ext cx="2453251" cy="4963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>
          <p:pic>
            <p:nvPicPr>
              <p:cNvPr id="15" name="EQ|d5f33c35fe22|19.5" descr="T(n) \ge \frac{n}{2} \cdot (\log_2 n - 1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3959657"/>
                <a:ext cx="2453251" cy="4963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Step circle 2022"/>
          <p:cNvSpPr/>
          <p:nvPr/>
        </p:nvSpPr>
        <p:spPr>
          <a:xfrm>
            <a:off x="548640" y="466446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tep number 2023"/>
          <p:cNvSpPr txBox="1"/>
          <p:nvPr/>
        </p:nvSpPr>
        <p:spPr>
          <a:xfrm>
            <a:off x="548640" y="46644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text 2024"/>
          <p:cNvSpPr txBox="1"/>
          <p:nvPr/>
        </p:nvSpPr>
        <p:spPr>
          <a:xfrm>
            <a:off x="1097280" y="4704846"/>
            <a:ext cx="6355080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chemeClr val="tx1"/>
                </a:solidFill>
              </a:rPr>
              <a:t>Both limits grow like n · log₂ n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, so the answer is:</a:t>
            </a:r>
            <a:endParaRPr lang="en-US" sz="1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uation 19" descr="T(n) = \Theta(n \log n)"/>
              <p:cNvSpPr txBox="1"/>
              <p:nvPr/>
            </p:nvSpPr>
            <p:spPr>
              <a:xfrm>
                <a:off x="1234440" y="5035554"/>
                <a:ext cx="2423199" cy="3677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50" dirty="0"/>
              </a:p>
            </p:txBody>
          </p:sp>
        </mc:Choice>
        <mc:Fallback>
          <p:pic>
            <p:nvPicPr>
              <p:cNvPr id="19" name="EQ|adc464698bfe|24.5" descr="T(n) = \Theta(n \log n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5035554"/>
                <a:ext cx="2423199" cy="367742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Check the numbers card 2026"/>
          <p:cNvSpPr/>
          <p:nvPr/>
        </p:nvSpPr>
        <p:spPr>
          <a:xfrm>
            <a:off x="7818120" y="1307592"/>
            <a:ext cx="3822192" cy="1165860"/>
          </a:xfrm>
          <a:prstGeom prst="roundRect">
            <a:avLst>
              <a:gd name="adj" fmla="val 7843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Icon circle 2027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2" name="Icon 20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3" name="Card heading 2029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the numbers</a:t>
            </a:r>
            <a:endParaRPr lang="en-US" sz="1700" dirty="0"/>
          </a:p>
        </p:txBody>
      </p:sp>
      <p:sp>
        <p:nvSpPr>
          <p:cNvPr id="24" name="Text 2030"/>
          <p:cNvSpPr txBox="1"/>
          <p:nvPr/>
        </p:nvSpPr>
        <p:spPr>
          <a:xfrm>
            <a:off x="8046720" y="1965960"/>
            <a:ext cx="336499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Exact count vs. n · log₂ n:</a:t>
            </a:r>
            <a:endParaRPr lang="en-US" sz="1650" dirty="0"/>
          </a:p>
        </p:txBody>
      </p:sp>
      <p:graphicFrame>
        <p:nvGraphicFramePr>
          <p:cNvPr id="33" name="Trace table 20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10612"/>
          <a:ext cx="382219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1490472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T(n)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· log₂ 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ame as log₂(n!) card 2033"/>
          <p:cNvSpPr/>
          <p:nvPr/>
        </p:nvSpPr>
        <p:spPr>
          <a:xfrm>
            <a:off x="7818120" y="4563770"/>
            <a:ext cx="3822192" cy="1623060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Icon circle 2034"/>
          <p:cNvSpPr/>
          <p:nvPr/>
        </p:nvSpPr>
        <p:spPr>
          <a:xfrm>
            <a:off x="8019288" y="472836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8" name="Icon 203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4810658"/>
            <a:ext cx="219456" cy="219456"/>
          </a:xfrm>
          <a:prstGeom prst="rect">
            <a:avLst/>
          </a:prstGeom>
        </p:spPr>
      </p:pic>
      <p:sp>
        <p:nvSpPr>
          <p:cNvPr id="29" name="Card heading 2036"/>
          <p:cNvSpPr txBox="1"/>
          <p:nvPr/>
        </p:nvSpPr>
        <p:spPr>
          <a:xfrm>
            <a:off x="8513064" y="472836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Same as log₂(n!)</a:t>
            </a:r>
            <a:endParaRPr lang="en-US" sz="1700" dirty="0"/>
          </a:p>
        </p:txBody>
      </p:sp>
      <p:sp>
        <p:nvSpPr>
          <p:cNvPr id="30" name="Text 2037"/>
          <p:cNvSpPr txBox="1"/>
          <p:nvPr/>
        </p:nvSpPr>
        <p:spPr>
          <a:xfrm>
            <a:off x="8046720" y="5222138"/>
            <a:ext cx="3364992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Without rounding, log₂ 1 + log₂ 2 + … + log₂ n = log₂(1 · 2 · … · n) = log₂(n!), which is also Θ(n log n).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10</a:t>
            </a:r>
            <a:endParaRPr lang="en-US" sz="3000" dirty="0"/>
          </a:p>
        </p:txBody>
      </p:sp>
      <p:sp>
        <p:nvSpPr>
          <p:cNvPr id="3" name="Prompt 2064"/>
          <p:cNvSpPr txBox="1"/>
          <p:nvPr/>
        </p:nvSpPr>
        <p:spPr>
          <a:xfrm>
            <a:off x="548640" y="1261872"/>
            <a:ext cx="11091672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An array of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elements is given.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How many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comparisons between array elements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are needed to find the </a:t>
            </a:r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maximum</a:t>
            </a:r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 element?</a:t>
            </a:r>
            <a:endParaRPr lang="en-US" sz="2300" dirty="0"/>
          </a:p>
        </p:txBody>
      </p:sp>
      <p:sp>
        <p:nvSpPr>
          <p:cNvPr id="4" name="Array cell 2065"/>
          <p:cNvSpPr/>
          <p:nvPr/>
        </p:nvSpPr>
        <p:spPr>
          <a:xfrm>
            <a:off x="73152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Array value 2066"/>
          <p:cNvSpPr txBox="1"/>
          <p:nvPr/>
        </p:nvSpPr>
        <p:spPr>
          <a:xfrm>
            <a:off x="73152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sp>
        <p:nvSpPr>
          <p:cNvPr id="6" name="Array index 2067"/>
          <p:cNvSpPr txBox="1"/>
          <p:nvPr/>
        </p:nvSpPr>
        <p:spPr>
          <a:xfrm>
            <a:off x="73152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A[0]</a:t>
            </a:r>
            <a:endParaRPr lang="en-US" sz="1200" dirty="0"/>
          </a:p>
        </p:txBody>
      </p:sp>
      <p:sp>
        <p:nvSpPr>
          <p:cNvPr id="7" name="Array cell 2068"/>
          <p:cNvSpPr/>
          <p:nvPr/>
        </p:nvSpPr>
        <p:spPr>
          <a:xfrm>
            <a:off x="155448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rray value 2069"/>
          <p:cNvSpPr txBox="1"/>
          <p:nvPr/>
        </p:nvSpPr>
        <p:spPr>
          <a:xfrm>
            <a:off x="155448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Array index 2070"/>
          <p:cNvSpPr txBox="1"/>
          <p:nvPr/>
        </p:nvSpPr>
        <p:spPr>
          <a:xfrm>
            <a:off x="155448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A[1]</a:t>
            </a:r>
            <a:endParaRPr lang="en-US" sz="1200" dirty="0"/>
          </a:p>
        </p:txBody>
      </p:sp>
      <p:sp>
        <p:nvSpPr>
          <p:cNvPr id="10" name="Array cell 2071"/>
          <p:cNvSpPr/>
          <p:nvPr/>
        </p:nvSpPr>
        <p:spPr>
          <a:xfrm>
            <a:off x="237744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Array value 2072"/>
          <p:cNvSpPr txBox="1"/>
          <p:nvPr/>
        </p:nvSpPr>
        <p:spPr>
          <a:xfrm>
            <a:off x="237744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</a:t>
            </a:r>
            <a:endParaRPr lang="en-US" sz="2200" dirty="0"/>
          </a:p>
        </p:txBody>
      </p:sp>
      <p:sp>
        <p:nvSpPr>
          <p:cNvPr id="12" name="Array index 2073"/>
          <p:cNvSpPr txBox="1"/>
          <p:nvPr/>
        </p:nvSpPr>
        <p:spPr>
          <a:xfrm>
            <a:off x="237744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A[2]</a:t>
            </a:r>
            <a:endParaRPr lang="en-US" sz="1200" dirty="0"/>
          </a:p>
        </p:txBody>
      </p:sp>
      <p:sp>
        <p:nvSpPr>
          <p:cNvPr id="13" name="Array cell 2074"/>
          <p:cNvSpPr/>
          <p:nvPr/>
        </p:nvSpPr>
        <p:spPr>
          <a:xfrm>
            <a:off x="320040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Array value 2075"/>
          <p:cNvSpPr txBox="1"/>
          <p:nvPr/>
        </p:nvSpPr>
        <p:spPr>
          <a:xfrm>
            <a:off x="320040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Array index 2076"/>
          <p:cNvSpPr txBox="1"/>
          <p:nvPr/>
        </p:nvSpPr>
        <p:spPr>
          <a:xfrm>
            <a:off x="320040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A[3]</a:t>
            </a:r>
            <a:endParaRPr lang="en-US" sz="1200" dirty="0"/>
          </a:p>
        </p:txBody>
      </p:sp>
      <p:sp>
        <p:nvSpPr>
          <p:cNvPr id="16" name="Array cell 2077"/>
          <p:cNvSpPr/>
          <p:nvPr/>
        </p:nvSpPr>
        <p:spPr>
          <a:xfrm>
            <a:off x="402336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Array value 2078"/>
          <p:cNvSpPr txBox="1"/>
          <p:nvPr/>
        </p:nvSpPr>
        <p:spPr>
          <a:xfrm>
            <a:off x="402336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sp>
        <p:nvSpPr>
          <p:cNvPr id="18" name="Array index 2079"/>
          <p:cNvSpPr txBox="1"/>
          <p:nvPr/>
        </p:nvSpPr>
        <p:spPr>
          <a:xfrm>
            <a:off x="402336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A[4]</a:t>
            </a:r>
            <a:endParaRPr lang="en-US" sz="1200" dirty="0"/>
          </a:p>
        </p:txBody>
      </p:sp>
      <p:sp>
        <p:nvSpPr>
          <p:cNvPr id="19" name="Array cell 2080"/>
          <p:cNvSpPr/>
          <p:nvPr/>
        </p:nvSpPr>
        <p:spPr>
          <a:xfrm>
            <a:off x="4846320" y="298399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Array value 2081"/>
          <p:cNvSpPr txBox="1"/>
          <p:nvPr/>
        </p:nvSpPr>
        <p:spPr>
          <a:xfrm>
            <a:off x="4846320" y="2983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Array index 2082"/>
          <p:cNvSpPr txBox="1"/>
          <p:nvPr/>
        </p:nvSpPr>
        <p:spPr>
          <a:xfrm>
            <a:off x="4846320" y="3843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A[5]</a:t>
            </a:r>
            <a:endParaRPr lang="en-US" sz="1200" dirty="0"/>
          </a:p>
        </p:txBody>
      </p:sp>
      <p:sp>
        <p:nvSpPr>
          <p:cNvPr id="22" name="Array caption 2083"/>
          <p:cNvSpPr txBox="1"/>
          <p:nvPr/>
        </p:nvSpPr>
        <p:spPr>
          <a:xfrm>
            <a:off x="731520" y="43007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n = 6 in this example — which element is the largest, and how few comparisons can prove it?</a:t>
            </a:r>
            <a:endParaRPr lang="en-US" sz="1800" dirty="0"/>
          </a:p>
        </p:txBody>
      </p:sp>
      <p:sp>
        <p:nvSpPr>
          <p:cNvPr id="23" name="What to find card 2085"/>
          <p:cNvSpPr/>
          <p:nvPr/>
        </p:nvSpPr>
        <p:spPr>
          <a:xfrm>
            <a:off x="7223760" y="2801112"/>
            <a:ext cx="4416552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 2086"/>
          <p:cNvSpPr/>
          <p:nvPr/>
        </p:nvSpPr>
        <p:spPr>
          <a:xfrm>
            <a:off x="7424928" y="29657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Icon 20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3048000"/>
            <a:ext cx="219456" cy="219456"/>
          </a:xfrm>
          <a:prstGeom prst="rect">
            <a:avLst/>
          </a:prstGeom>
        </p:spPr>
      </p:pic>
      <p:sp>
        <p:nvSpPr>
          <p:cNvPr id="26" name="Card heading 2088"/>
          <p:cNvSpPr txBox="1"/>
          <p:nvPr/>
        </p:nvSpPr>
        <p:spPr>
          <a:xfrm>
            <a:off x="7918704" y="29657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find</a:t>
            </a:r>
            <a:endParaRPr lang="en-US" sz="1700" dirty="0"/>
          </a:p>
        </p:txBody>
      </p:sp>
      <p:sp>
        <p:nvSpPr>
          <p:cNvPr id="27" name="Text 2089"/>
          <p:cNvSpPr txBox="1"/>
          <p:nvPr/>
        </p:nvSpPr>
        <p:spPr>
          <a:xfrm>
            <a:off x="7452360" y="345948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Write an algorithm and count only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comparisons between two array elements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not loop-counter tests.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10</a:t>
            </a:r>
            <a:endParaRPr lang="en-US" sz="3000" dirty="0"/>
          </a:p>
        </p:txBody>
      </p:sp>
      <p:graphicFrame>
        <p:nvGraphicFramePr>
          <p:cNvPr id="35" name="Count table 2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6355080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2011680"/>
              </a:tblGrid>
              <a:tr h="4828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max_Search(A)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Max ← A[0]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for i ← 1 to n − 1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if A[i] &gt; Max then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− 1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    Max ← A[i]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… n − 1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return Max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 2109"/>
          <p:cNvSpPr txBox="1"/>
          <p:nvPr/>
        </p:nvSpPr>
        <p:spPr>
          <a:xfrm>
            <a:off x="548640" y="482437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Highlighted: the only line that compares array elements. Array indices: A[0 … n − 1].</a:t>
            </a:r>
            <a:endParaRPr lang="en-US" sz="1200" dirty="0"/>
          </a:p>
        </p:txBody>
      </p:sp>
      <p:sp>
        <p:nvSpPr>
          <p:cNvPr id="6" name="Answer card 2112"/>
          <p:cNvSpPr/>
          <p:nvPr/>
        </p:nvSpPr>
        <p:spPr>
          <a:xfrm>
            <a:off x="7223760" y="1353312"/>
            <a:ext cx="4416552" cy="1912620"/>
          </a:xfrm>
          <a:prstGeom prst="roundRect">
            <a:avLst>
              <a:gd name="adj" fmla="val 4781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Icon circle 2113"/>
          <p:cNvSpPr/>
          <p:nvPr/>
        </p:nvSpPr>
        <p:spPr>
          <a:xfrm>
            <a:off x="7424928" y="15179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con 21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00200"/>
            <a:ext cx="219456" cy="219456"/>
          </a:xfrm>
          <a:prstGeom prst="rect">
            <a:avLst/>
          </a:prstGeom>
        </p:spPr>
      </p:pic>
      <p:sp>
        <p:nvSpPr>
          <p:cNvPr id="9" name="Card heading 2115"/>
          <p:cNvSpPr txBox="1"/>
          <p:nvPr/>
        </p:nvSpPr>
        <p:spPr>
          <a:xfrm>
            <a:off x="7918704" y="151790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10" name="Text 2116"/>
          <p:cNvSpPr txBox="1"/>
          <p:nvPr/>
        </p:nvSpPr>
        <p:spPr>
          <a:xfrm>
            <a:off x="7452360" y="2011680"/>
            <a:ext cx="3959352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chemeClr val="accent2"/>
                </a:solidFill>
              </a:rPr>
              <a:t>n − 1</a:t>
            </a:r>
            <a:pPr indent="0" marL="0">
              <a:buNone/>
            </a:pPr>
            <a:r>
              <a:rPr lang="en-US" sz="2650" b="1" dirty="0">
                <a:solidFill>
                  <a:schemeClr val="tx2"/>
                </a:solidFill>
              </a:rPr>
              <a:t> comparisons</a:t>
            </a:r>
            <a:endParaRPr lang="en-US" sz="2650" dirty="0"/>
          </a:p>
        </p:txBody>
      </p:sp>
      <p:sp>
        <p:nvSpPr>
          <p:cNvPr id="11" name="Text 2117"/>
          <p:cNvSpPr txBox="1"/>
          <p:nvPr/>
        </p:nvSpPr>
        <p:spPr>
          <a:xfrm>
            <a:off x="7452360" y="2506980"/>
            <a:ext cx="3959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Always exactly n − 1 — in the best, worst and average case.</a:t>
            </a:r>
            <a:endParaRPr lang="en-US" sz="1650" dirty="0"/>
          </a:p>
        </p:txBody>
      </p:sp>
      <p:sp>
        <p:nvSpPr>
          <p:cNvPr id="12" name="Notes on the code card 2120"/>
          <p:cNvSpPr/>
          <p:nvPr/>
        </p:nvSpPr>
        <p:spPr>
          <a:xfrm>
            <a:off x="7223760" y="3494532"/>
            <a:ext cx="4416552" cy="249936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con circle 2121"/>
          <p:cNvSpPr/>
          <p:nvPr/>
        </p:nvSpPr>
        <p:spPr>
          <a:xfrm>
            <a:off x="7424928" y="36591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 21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3741420"/>
            <a:ext cx="219456" cy="219456"/>
          </a:xfrm>
          <a:prstGeom prst="rect">
            <a:avLst/>
          </a:prstGeom>
        </p:spPr>
      </p:pic>
      <p:sp>
        <p:nvSpPr>
          <p:cNvPr id="15" name="Card heading 2123"/>
          <p:cNvSpPr txBox="1"/>
          <p:nvPr/>
        </p:nvSpPr>
        <p:spPr>
          <a:xfrm>
            <a:off x="7918704" y="3659124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Notes on the code</a:t>
            </a:r>
            <a:endParaRPr lang="en-US" sz="1700" dirty="0"/>
          </a:p>
        </p:txBody>
      </p:sp>
      <p:sp>
        <p:nvSpPr>
          <p:cNvPr id="16" name="Text 2124"/>
          <p:cNvSpPr txBox="1"/>
          <p:nvPr/>
        </p:nvSpPr>
        <p:spPr>
          <a:xfrm>
            <a:off x="7452360" y="4152900"/>
            <a:ext cx="395935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The array is A[0 … n − 1], so the loop goes from 1 to </a:t>
            </a:r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n − 1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 (1-based version: 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 ← A[1]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i ← 2 to n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).</a:t>
            </a:r>
            <a:endParaRPr lang="en-US" sz="1650" dirty="0"/>
          </a:p>
        </p:txBody>
      </p:sp>
      <p:sp>
        <p:nvSpPr>
          <p:cNvPr id="17" name="Text 2125"/>
          <p:cNvSpPr txBox="1"/>
          <p:nvPr/>
        </p:nvSpPr>
        <p:spPr>
          <a:xfrm>
            <a:off x="7452360" y="4983480"/>
            <a:ext cx="395935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 ← A[i]</a:t>
            </a:r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 runs only when a new maximum is found: between 0 and n − 1 times.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10 — Explanation</a:t>
            </a:r>
            <a:endParaRPr lang="en-US" sz="3000" dirty="0"/>
          </a:p>
        </p:txBody>
      </p:sp>
      <p:sp>
        <p:nvSpPr>
          <p:cNvPr id="3" name="Step circle 2188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2189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2190"/>
          <p:cNvSpPr txBox="1"/>
          <p:nvPr/>
        </p:nvSpPr>
        <p:spPr>
          <a:xfrm>
            <a:off x="1097280" y="1336548"/>
            <a:ext cx="63550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Idea: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keep the largest value seen so far in Max. Start with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 ← A[0]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no comparison is needed yet.</a:t>
            </a:r>
            <a:endParaRPr lang="en-US" sz="1900" dirty="0"/>
          </a:p>
        </p:txBody>
      </p:sp>
      <p:sp>
        <p:nvSpPr>
          <p:cNvPr id="6" name="Step circle 2191"/>
          <p:cNvSpPr/>
          <p:nvPr/>
        </p:nvSpPr>
        <p:spPr>
          <a:xfrm>
            <a:off x="548640" y="213146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2192"/>
          <p:cNvSpPr txBox="1"/>
          <p:nvPr/>
        </p:nvSpPr>
        <p:spPr>
          <a:xfrm>
            <a:off x="548640" y="21314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193"/>
          <p:cNvSpPr txBox="1"/>
          <p:nvPr/>
        </p:nvSpPr>
        <p:spPr>
          <a:xfrm>
            <a:off x="1097280" y="2160422"/>
            <a:ext cx="63550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Scan the rest: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each of the other n − 1 elements is compared with Max exactly once →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 − 1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element comparisons.</a:t>
            </a:r>
            <a:endParaRPr lang="en-US" sz="1900" dirty="0"/>
          </a:p>
        </p:txBody>
      </p:sp>
      <p:sp>
        <p:nvSpPr>
          <p:cNvPr id="9" name="Step circle 2194"/>
          <p:cNvSpPr/>
          <p:nvPr/>
        </p:nvSpPr>
        <p:spPr>
          <a:xfrm>
            <a:off x="548640" y="295534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2195"/>
          <p:cNvSpPr txBox="1"/>
          <p:nvPr/>
        </p:nvSpPr>
        <p:spPr>
          <a:xfrm>
            <a:off x="548640" y="295534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2196"/>
          <p:cNvSpPr txBox="1"/>
          <p:nvPr/>
        </p:nvSpPr>
        <p:spPr>
          <a:xfrm>
            <a:off x="1097280" y="2984297"/>
            <a:ext cx="63550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we don't count: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the loop test i ≤ n − 1 compares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indices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not array elements.</a:t>
            </a:r>
            <a:endParaRPr lang="en-US" sz="1900" dirty="0"/>
          </a:p>
        </p:txBody>
      </p:sp>
      <p:sp>
        <p:nvSpPr>
          <p:cNvPr id="12" name="Step circle 2197"/>
          <p:cNvSpPr/>
          <p:nvPr/>
        </p:nvSpPr>
        <p:spPr>
          <a:xfrm>
            <a:off x="548640" y="3779215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2198"/>
          <p:cNvSpPr txBox="1"/>
          <p:nvPr/>
        </p:nvSpPr>
        <p:spPr>
          <a:xfrm>
            <a:off x="548640" y="37792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2199"/>
          <p:cNvSpPr txBox="1"/>
          <p:nvPr/>
        </p:nvSpPr>
        <p:spPr>
          <a:xfrm>
            <a:off x="1097280" y="3808171"/>
            <a:ext cx="6355080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Independent of the data: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the number of comparisons is always n − 1. Only the number of assignments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 ← A[i]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depends on the data: 0 (maximum is first) up to n − 1 (array sorted in increasing order).</a:t>
            </a:r>
            <a:endParaRPr lang="en-US" sz="1900" dirty="0"/>
          </a:p>
        </p:txBody>
      </p:sp>
      <p:sp>
        <p:nvSpPr>
          <p:cNvPr id="15" name="Step circle 2200"/>
          <p:cNvSpPr/>
          <p:nvPr/>
        </p:nvSpPr>
        <p:spPr>
          <a:xfrm>
            <a:off x="548640" y="518221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number 2201"/>
          <p:cNvSpPr txBox="1"/>
          <p:nvPr/>
        </p:nvSpPr>
        <p:spPr>
          <a:xfrm>
            <a:off x="548640" y="51822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2202"/>
          <p:cNvSpPr txBox="1"/>
          <p:nvPr/>
        </p:nvSpPr>
        <p:spPr>
          <a:xfrm>
            <a:off x="1097280" y="5211166"/>
            <a:ext cx="6355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 − 1 is optimal: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every element except the maximum must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lose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at least one comparison to be ruled out, and each comparison has only one loser. So no algorithm can use fewer than n − 1.</a:t>
            </a:r>
            <a:endParaRPr lang="en-US" sz="1900" dirty="0"/>
          </a:p>
        </p:txBody>
      </p:sp>
      <p:sp>
        <p:nvSpPr>
          <p:cNvPr id="18" name="Example card 2209"/>
          <p:cNvSpPr/>
          <p:nvPr/>
        </p:nvSpPr>
        <p:spPr>
          <a:xfrm>
            <a:off x="7818120" y="1307592"/>
            <a:ext cx="3822192" cy="3215640"/>
          </a:xfrm>
          <a:prstGeom prst="roundRect">
            <a:avLst>
              <a:gd name="adj" fmla="val 2844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con circle 2210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0" name="Icon 22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2212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</a:t>
            </a:r>
            <a:endParaRPr lang="en-US" sz="1700" dirty="0"/>
          </a:p>
        </p:txBody>
      </p:sp>
      <p:sp>
        <p:nvSpPr>
          <p:cNvPr id="22" name="Text 2213"/>
          <p:cNvSpPr txBox="1"/>
          <p:nvPr/>
        </p:nvSpPr>
        <p:spPr>
          <a:xfrm>
            <a:off x="8046720" y="196596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 = [4, 9, 2, 7, 5], n = 5</a:t>
            </a:r>
            <a:endParaRPr lang="en-US" sz="1800" dirty="0"/>
          </a:p>
        </p:txBody>
      </p:sp>
      <p:sp>
        <p:nvSpPr>
          <p:cNvPr id="23" name="Text 2214"/>
          <p:cNvSpPr txBox="1"/>
          <p:nvPr/>
        </p:nvSpPr>
        <p:spPr>
          <a:xfrm>
            <a:off x="8046720" y="231648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9 &gt; 4?  yes → Max = 9</a:t>
            </a:r>
            <a:endParaRPr lang="en-US" sz="1800" dirty="0"/>
          </a:p>
        </p:txBody>
      </p:sp>
      <p:sp>
        <p:nvSpPr>
          <p:cNvPr id="24" name="Text 2215"/>
          <p:cNvSpPr txBox="1"/>
          <p:nvPr/>
        </p:nvSpPr>
        <p:spPr>
          <a:xfrm>
            <a:off x="8046720" y="266700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 &gt; 9?  no</a:t>
            </a:r>
            <a:endParaRPr lang="en-US" sz="1800" dirty="0"/>
          </a:p>
        </p:txBody>
      </p:sp>
      <p:sp>
        <p:nvSpPr>
          <p:cNvPr id="25" name="Text 2216"/>
          <p:cNvSpPr txBox="1"/>
          <p:nvPr/>
        </p:nvSpPr>
        <p:spPr>
          <a:xfrm>
            <a:off x="8046720" y="301752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7 &gt; 9?  no</a:t>
            </a:r>
            <a:endParaRPr lang="en-US" sz="1800" dirty="0"/>
          </a:p>
        </p:txBody>
      </p:sp>
      <p:sp>
        <p:nvSpPr>
          <p:cNvPr id="26" name="Text 2217"/>
          <p:cNvSpPr txBox="1"/>
          <p:nvPr/>
        </p:nvSpPr>
        <p:spPr>
          <a:xfrm>
            <a:off x="8046720" y="336804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 &gt; 9?  no</a:t>
            </a:r>
            <a:endParaRPr lang="en-US" sz="1800" dirty="0"/>
          </a:p>
        </p:txBody>
      </p:sp>
      <p:sp>
        <p:nvSpPr>
          <p:cNvPr id="27" name="Text 2218"/>
          <p:cNvSpPr txBox="1"/>
          <p:nvPr/>
        </p:nvSpPr>
        <p:spPr>
          <a:xfrm>
            <a:off x="8046720" y="3718560"/>
            <a:ext cx="3364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 = n − 1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comparisons, 1 assignment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11</a:t>
            </a:r>
            <a:endParaRPr lang="en-US" sz="3000" dirty="0"/>
          </a:p>
        </p:txBody>
      </p:sp>
      <p:sp>
        <p:nvSpPr>
          <p:cNvPr id="3" name="Prompt 2242"/>
          <p:cNvSpPr txBox="1"/>
          <p:nvPr/>
        </p:nvSpPr>
        <p:spPr>
          <a:xfrm>
            <a:off x="548640" y="1261872"/>
            <a:ext cx="11091672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 array of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elements is given.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many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comparisons between two array elements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are needed to find the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two largest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numbers?</a:t>
            </a:r>
            <a:endParaRPr lang="en-US" sz="2200" dirty="0"/>
          </a:p>
        </p:txBody>
      </p:sp>
      <p:sp>
        <p:nvSpPr>
          <p:cNvPr id="4" name="Array cell 2243"/>
          <p:cNvSpPr/>
          <p:nvPr/>
        </p:nvSpPr>
        <p:spPr>
          <a:xfrm>
            <a:off x="73152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Array value 2244"/>
          <p:cNvSpPr txBox="1"/>
          <p:nvPr/>
        </p:nvSpPr>
        <p:spPr>
          <a:xfrm>
            <a:off x="73152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sp>
        <p:nvSpPr>
          <p:cNvPr id="6" name="Array index 2245"/>
          <p:cNvSpPr txBox="1"/>
          <p:nvPr/>
        </p:nvSpPr>
        <p:spPr>
          <a:xfrm>
            <a:off x="73152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A[0]</a:t>
            </a:r>
            <a:endParaRPr lang="en-US" sz="1200" dirty="0"/>
          </a:p>
        </p:txBody>
      </p:sp>
      <p:sp>
        <p:nvSpPr>
          <p:cNvPr id="7" name="Array cell 2246"/>
          <p:cNvSpPr/>
          <p:nvPr/>
        </p:nvSpPr>
        <p:spPr>
          <a:xfrm>
            <a:off x="155448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rray value 2247"/>
          <p:cNvSpPr txBox="1"/>
          <p:nvPr/>
        </p:nvSpPr>
        <p:spPr>
          <a:xfrm>
            <a:off x="155448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Array index 2248"/>
          <p:cNvSpPr txBox="1"/>
          <p:nvPr/>
        </p:nvSpPr>
        <p:spPr>
          <a:xfrm>
            <a:off x="155448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A[1]</a:t>
            </a:r>
            <a:endParaRPr lang="en-US" sz="1200" dirty="0"/>
          </a:p>
        </p:txBody>
      </p:sp>
      <p:sp>
        <p:nvSpPr>
          <p:cNvPr id="10" name="Array cell 2249"/>
          <p:cNvSpPr/>
          <p:nvPr/>
        </p:nvSpPr>
        <p:spPr>
          <a:xfrm>
            <a:off x="237744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Array value 2250"/>
          <p:cNvSpPr txBox="1"/>
          <p:nvPr/>
        </p:nvSpPr>
        <p:spPr>
          <a:xfrm>
            <a:off x="237744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</a:t>
            </a:r>
            <a:endParaRPr lang="en-US" sz="2200" dirty="0"/>
          </a:p>
        </p:txBody>
      </p:sp>
      <p:sp>
        <p:nvSpPr>
          <p:cNvPr id="12" name="Array index 2251"/>
          <p:cNvSpPr txBox="1"/>
          <p:nvPr/>
        </p:nvSpPr>
        <p:spPr>
          <a:xfrm>
            <a:off x="237744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A[2]</a:t>
            </a:r>
            <a:endParaRPr lang="en-US" sz="1200" dirty="0"/>
          </a:p>
        </p:txBody>
      </p:sp>
      <p:sp>
        <p:nvSpPr>
          <p:cNvPr id="13" name="Array cell 2252"/>
          <p:cNvSpPr/>
          <p:nvPr/>
        </p:nvSpPr>
        <p:spPr>
          <a:xfrm>
            <a:off x="320040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Array value 2253"/>
          <p:cNvSpPr txBox="1"/>
          <p:nvPr/>
        </p:nvSpPr>
        <p:spPr>
          <a:xfrm>
            <a:off x="320040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Array index 2254"/>
          <p:cNvSpPr txBox="1"/>
          <p:nvPr/>
        </p:nvSpPr>
        <p:spPr>
          <a:xfrm>
            <a:off x="320040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A[3]</a:t>
            </a:r>
            <a:endParaRPr lang="en-US" sz="1200" dirty="0"/>
          </a:p>
        </p:txBody>
      </p:sp>
      <p:sp>
        <p:nvSpPr>
          <p:cNvPr id="16" name="Array cell 2255"/>
          <p:cNvSpPr/>
          <p:nvPr/>
        </p:nvSpPr>
        <p:spPr>
          <a:xfrm>
            <a:off x="402336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Array value 2256"/>
          <p:cNvSpPr txBox="1"/>
          <p:nvPr/>
        </p:nvSpPr>
        <p:spPr>
          <a:xfrm>
            <a:off x="402336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sp>
        <p:nvSpPr>
          <p:cNvPr id="18" name="Array index 2257"/>
          <p:cNvSpPr txBox="1"/>
          <p:nvPr/>
        </p:nvSpPr>
        <p:spPr>
          <a:xfrm>
            <a:off x="402336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A[4]</a:t>
            </a:r>
            <a:endParaRPr lang="en-US" sz="1200" dirty="0"/>
          </a:p>
        </p:txBody>
      </p:sp>
      <p:sp>
        <p:nvSpPr>
          <p:cNvPr id="19" name="Array cell 2258"/>
          <p:cNvSpPr/>
          <p:nvPr/>
        </p:nvSpPr>
        <p:spPr>
          <a:xfrm>
            <a:off x="4846320" y="293827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Array value 2259"/>
          <p:cNvSpPr txBox="1"/>
          <p:nvPr/>
        </p:nvSpPr>
        <p:spPr>
          <a:xfrm>
            <a:off x="4846320" y="2938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Array index 2260"/>
          <p:cNvSpPr txBox="1"/>
          <p:nvPr/>
        </p:nvSpPr>
        <p:spPr>
          <a:xfrm>
            <a:off x="4846320" y="3797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A[5]</a:t>
            </a:r>
            <a:endParaRPr lang="en-US" sz="1200" dirty="0"/>
          </a:p>
        </p:txBody>
      </p:sp>
      <p:sp>
        <p:nvSpPr>
          <p:cNvPr id="22" name="Array caption 2261"/>
          <p:cNvSpPr txBox="1"/>
          <p:nvPr/>
        </p:nvSpPr>
        <p:spPr>
          <a:xfrm>
            <a:off x="731520" y="42550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chemeClr val="accent6"/>
                </a:solidFill>
              </a:rPr>
              <a:t>Here the answer would be 9 and 7. Can you reuse the algorithm from Question 10?</a:t>
            </a:r>
            <a:endParaRPr lang="en-US" sz="1750" dirty="0"/>
          </a:p>
        </p:txBody>
      </p:sp>
      <p:sp>
        <p:nvSpPr>
          <p:cNvPr id="23" name="Code card 2262"/>
          <p:cNvSpPr/>
          <p:nvPr/>
        </p:nvSpPr>
        <p:spPr>
          <a:xfrm>
            <a:off x="6949440" y="2755392"/>
            <a:ext cx="4690872" cy="2473452"/>
          </a:xfrm>
          <a:prstGeom prst="roundRect">
            <a:avLst>
              <a:gd name="adj" fmla="val 369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Code caption 2263"/>
          <p:cNvSpPr txBox="1"/>
          <p:nvPr/>
        </p:nvSpPr>
        <p:spPr>
          <a:xfrm>
            <a:off x="7178040" y="288340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6"/>
                </a:solidFill>
              </a:rPr>
              <a:t>REMINDER — QUESTION 10 (1-BASED)</a:t>
            </a:r>
            <a:endParaRPr lang="en-US" sz="1300" dirty="0"/>
          </a:p>
        </p:txBody>
      </p:sp>
      <p:sp>
        <p:nvSpPr>
          <p:cNvPr id="25" name="Pseudocode 2264"/>
          <p:cNvSpPr txBox="1"/>
          <p:nvPr/>
        </p:nvSpPr>
        <p:spPr>
          <a:xfrm>
            <a:off x="7205472" y="3304032"/>
            <a:ext cx="4233672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max_Search(A)</a:t>
            </a:r>
            <a:endParaRPr lang="en-US" sz="1750" dirty="0"/>
          </a:p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Max ← A[1]</a:t>
            </a:r>
            <a:endParaRPr lang="en-US" sz="1750" dirty="0"/>
          </a:p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i ← 2 to length[A] do</a:t>
            </a:r>
            <a:endParaRPr lang="en-US" sz="1750" dirty="0"/>
          </a:p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if A[i] &gt; Max then</a:t>
            </a:r>
            <a:endParaRPr lang="en-US" sz="1750" dirty="0"/>
          </a:p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Max ← A[i]</a:t>
            </a:r>
            <a:endParaRPr lang="en-US" sz="1750" dirty="0"/>
          </a:p>
          <a:p>
            <a:pPr indent="0" marL="0">
              <a:lnSpc>
                <a:spcPts val="231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Max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11</a:t>
            </a:r>
            <a:endParaRPr lang="en-US" sz="3000" dirty="0"/>
          </a:p>
        </p:txBody>
      </p:sp>
      <p:graphicFrame>
        <p:nvGraphicFramePr>
          <p:cNvPr id="38" name="Count table 23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37960" cy="914400"/>
        </p:xfrm>
        <a:graphic>
          <a:graphicData uri="http://schemas.openxmlformats.org/drawingml/2006/table">
            <a:tbl>
              <a:tblPr/>
              <a:tblGrid>
                <a:gridCol w="4800600"/>
                <a:gridCol w="1737360"/>
              </a:tblGrid>
              <a:tr h="3450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max2_Search(A)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n ← size(A)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Max1 ← A[0];  index ← 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for i ← 1 to n − 1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if A[i] &gt; Max1 then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− 1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    Max1 ← A[i];  index ← i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A' ← A without A[index]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Max2 ← A'[0]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for i ← 1 to n − 2 do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if A'[i] &gt; Max2 then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 − 2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        Max2 ← A'[i]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    return Max1, Max2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element comparisons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 − 3</a:t>
                      </a:r>
                      <a:endParaRPr lang="en-US" sz="1200" dirty="0"/>
                    </a:p>
                  </a:txBody>
                  <a:tcPr marL="128016" marR="91440" marT="27432" marB="27432" anchor="ctr">
                    <a:lnL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</a:tr>
            </a:tbl>
          </a:graphicData>
        </a:graphic>
      </p:graphicFrame>
      <p:sp>
        <p:nvSpPr>
          <p:cNvPr id="5" name="Answer card 2313"/>
          <p:cNvSpPr/>
          <p:nvPr/>
        </p:nvSpPr>
        <p:spPr>
          <a:xfrm>
            <a:off x="7360920" y="1188720"/>
            <a:ext cx="4279392" cy="2011680"/>
          </a:xfrm>
          <a:prstGeom prst="roundRect">
            <a:avLst>
              <a:gd name="adj" fmla="val 454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Icon circle 2314"/>
          <p:cNvSpPr/>
          <p:nvPr/>
        </p:nvSpPr>
        <p:spPr>
          <a:xfrm>
            <a:off x="7562088" y="13533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con 23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4" y="1435608"/>
            <a:ext cx="219456" cy="219456"/>
          </a:xfrm>
          <a:prstGeom prst="rect">
            <a:avLst/>
          </a:prstGeom>
        </p:spPr>
      </p:pic>
      <p:sp>
        <p:nvSpPr>
          <p:cNvPr id="8" name="Card heading 2316"/>
          <p:cNvSpPr txBox="1"/>
          <p:nvPr/>
        </p:nvSpPr>
        <p:spPr>
          <a:xfrm>
            <a:off x="8055864" y="13533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2317"/>
          <p:cNvSpPr txBox="1"/>
          <p:nvPr/>
        </p:nvSpPr>
        <p:spPr>
          <a:xfrm>
            <a:off x="7589520" y="1847088"/>
            <a:ext cx="382219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(n − 1) + (n − 2) = </a:t>
            </a:r>
            <a:pPr indent="0" marL="0">
              <a:buNone/>
            </a:pPr>
            <a:r>
              <a:rPr lang="en-US" sz="2250" b="1" dirty="0">
                <a:solidFill>
                  <a:schemeClr val="accent2"/>
                </a:solidFill>
              </a:rPr>
              <a:t>2n − 3</a:t>
            </a:r>
            <a:endParaRPr lang="en-US" sz="2250" dirty="0"/>
          </a:p>
        </p:txBody>
      </p:sp>
      <p:sp>
        <p:nvSpPr>
          <p:cNvPr id="10" name="Text 2318"/>
          <p:cNvSpPr txBox="1"/>
          <p:nvPr/>
        </p:nvSpPr>
        <p:spPr>
          <a:xfrm>
            <a:off x="7589520" y="2281428"/>
            <a:ext cx="3822192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comparisons with this two-pass algorithm. Removing A[index] moves elements but compares none.</a:t>
            </a:r>
            <a:endParaRPr lang="en-US" sz="1450" dirty="0"/>
          </a:p>
        </p:txBody>
      </p:sp>
      <p:sp>
        <p:nvSpPr>
          <p:cNvPr id="11" name="Can we do better? card 2320"/>
          <p:cNvSpPr/>
          <p:nvPr/>
        </p:nvSpPr>
        <p:spPr>
          <a:xfrm>
            <a:off x="7360920" y="3383280"/>
            <a:ext cx="4279392" cy="1577340"/>
          </a:xfrm>
          <a:prstGeom prst="roundRect">
            <a:avLst>
              <a:gd name="adj" fmla="val 579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 2321"/>
          <p:cNvSpPr/>
          <p:nvPr/>
        </p:nvSpPr>
        <p:spPr>
          <a:xfrm>
            <a:off x="7562088" y="354787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Icon 23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3630168"/>
            <a:ext cx="219456" cy="219456"/>
          </a:xfrm>
          <a:prstGeom prst="rect">
            <a:avLst/>
          </a:prstGeom>
        </p:spPr>
      </p:pic>
      <p:sp>
        <p:nvSpPr>
          <p:cNvPr id="14" name="Card heading 2323"/>
          <p:cNvSpPr txBox="1"/>
          <p:nvPr/>
        </p:nvSpPr>
        <p:spPr>
          <a:xfrm>
            <a:off x="8055864" y="35478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Can we do better?</a:t>
            </a:r>
            <a:endParaRPr lang="en-US" sz="1700" dirty="0"/>
          </a:p>
        </p:txBody>
      </p:sp>
      <p:sp>
        <p:nvSpPr>
          <p:cNvPr id="15" name="Text 2324"/>
          <p:cNvSpPr txBox="1"/>
          <p:nvPr/>
        </p:nvSpPr>
        <p:spPr>
          <a:xfrm>
            <a:off x="7589520" y="4041648"/>
            <a:ext cx="3822192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Yes — 2n − 3 is what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this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algorithm uses. A tournament needs only n +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log₂ n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 − 2 comparisons (see the next slide).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11 — Explanation</a:t>
            </a:r>
            <a:endParaRPr lang="en-US" sz="3000" dirty="0"/>
          </a:p>
        </p:txBody>
      </p:sp>
      <p:sp>
        <p:nvSpPr>
          <p:cNvPr id="3" name="Step circle 2349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2350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2351"/>
          <p:cNvSpPr txBox="1"/>
          <p:nvPr/>
        </p:nvSpPr>
        <p:spPr>
          <a:xfrm>
            <a:off x="1097280" y="1328928"/>
            <a:ext cx="60807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Pass 1 = Question 10: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find the largest element and remember its position 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− 1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comparisons.</a:t>
            </a:r>
            <a:endParaRPr lang="en-US" sz="2000" dirty="0"/>
          </a:p>
        </p:txBody>
      </p:sp>
      <p:sp>
        <p:nvSpPr>
          <p:cNvPr id="6" name="Step circle 2352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2353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354"/>
          <p:cNvSpPr txBox="1"/>
          <p:nvPr/>
        </p:nvSpPr>
        <p:spPr>
          <a:xfrm>
            <a:off x="1097280" y="2183892"/>
            <a:ext cx="60807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Remove it: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copying A without A[index] moves elements but compares none. n − 1 elements remain.</a:t>
            </a:r>
            <a:endParaRPr lang="en-US" sz="2000" dirty="0"/>
          </a:p>
        </p:txBody>
      </p:sp>
      <p:sp>
        <p:nvSpPr>
          <p:cNvPr id="9" name="Step circle 2355"/>
          <p:cNvSpPr/>
          <p:nvPr/>
        </p:nvSpPr>
        <p:spPr>
          <a:xfrm>
            <a:off x="548640" y="30175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2356"/>
          <p:cNvSpPr txBox="1"/>
          <p:nvPr/>
        </p:nvSpPr>
        <p:spPr>
          <a:xfrm>
            <a:off x="54864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2357"/>
          <p:cNvSpPr txBox="1"/>
          <p:nvPr/>
        </p:nvSpPr>
        <p:spPr>
          <a:xfrm>
            <a:off x="1097280" y="3038856"/>
            <a:ext cx="60807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Pass 2: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 maximum of the remaining n − 1 elements is the second largest → (n − 1) − 1 = 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 − 2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comparisons.</a:t>
            </a:r>
            <a:endParaRPr lang="en-US" sz="2000" dirty="0"/>
          </a:p>
        </p:txBody>
      </p:sp>
      <p:sp>
        <p:nvSpPr>
          <p:cNvPr id="12" name="Step circle 2358"/>
          <p:cNvSpPr/>
          <p:nvPr/>
        </p:nvSpPr>
        <p:spPr>
          <a:xfrm>
            <a:off x="548640" y="38724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2359"/>
          <p:cNvSpPr txBox="1"/>
          <p:nvPr/>
        </p:nvSpPr>
        <p:spPr>
          <a:xfrm>
            <a:off x="548640" y="387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2360"/>
          <p:cNvSpPr txBox="1"/>
          <p:nvPr/>
        </p:nvSpPr>
        <p:spPr>
          <a:xfrm>
            <a:off x="1097280" y="3893820"/>
            <a:ext cx="60807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Total: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(n − 1) + (n − 2)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2n − 3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 = Θ(n). If the maximum appears twice, Max2 = Max1 — still correct.</a:t>
            </a:r>
            <a:endParaRPr lang="en-US" sz="2000" dirty="0"/>
          </a:p>
        </p:txBody>
      </p:sp>
      <p:sp>
        <p:nvSpPr>
          <p:cNvPr id="15" name="Going further: a tournament card 2365"/>
          <p:cNvSpPr/>
          <p:nvPr/>
        </p:nvSpPr>
        <p:spPr>
          <a:xfrm>
            <a:off x="7498080" y="1307592"/>
            <a:ext cx="4142232" cy="4683862"/>
          </a:xfrm>
          <a:prstGeom prst="roundRect">
            <a:avLst>
              <a:gd name="adj" fmla="val 2208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Icon circle 2366"/>
          <p:cNvSpPr/>
          <p:nvPr/>
        </p:nvSpPr>
        <p:spPr>
          <a:xfrm>
            <a:off x="769924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7" name="Icon 23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544" y="1554480"/>
            <a:ext cx="219456" cy="219456"/>
          </a:xfrm>
          <a:prstGeom prst="rect">
            <a:avLst/>
          </a:prstGeom>
        </p:spPr>
      </p:pic>
      <p:sp>
        <p:nvSpPr>
          <p:cNvPr id="18" name="Card heading 2368"/>
          <p:cNvSpPr txBox="1"/>
          <p:nvPr/>
        </p:nvSpPr>
        <p:spPr>
          <a:xfrm>
            <a:off x="8193024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Going further: a tournament</a:t>
            </a:r>
            <a:endParaRPr lang="en-US" sz="1700" dirty="0"/>
          </a:p>
        </p:txBody>
      </p:sp>
      <p:sp>
        <p:nvSpPr>
          <p:cNvPr id="19" name="Text 2369"/>
          <p:cNvSpPr txBox="1"/>
          <p:nvPr/>
        </p:nvSpPr>
        <p:spPr>
          <a:xfrm>
            <a:off x="7726680" y="1965960"/>
            <a:ext cx="36850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Pair the elements in a knockout tournament: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 − 1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matches find the maximum (each match eliminates one element).</a:t>
            </a:r>
            <a:endParaRPr lang="en-US" sz="1800" dirty="0"/>
          </a:p>
        </p:txBody>
      </p:sp>
      <p:sp>
        <p:nvSpPr>
          <p:cNvPr id="20" name="Text 2370"/>
          <p:cNvSpPr txBox="1"/>
          <p:nvPr/>
        </p:nvSpPr>
        <p:spPr>
          <a:xfrm>
            <a:off x="7726680" y="3139440"/>
            <a:ext cx="36850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second largest lost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only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to the maximum, so it is one of the ≤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log₂ n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elements the maximum beat. The best of them costs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⌈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log₂ n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⌉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 − 1 more comparisons.</a:t>
            </a:r>
            <a:endParaRPr lang="en-US" sz="1800" dirty="0"/>
          </a:p>
        </p:txBody>
      </p:sp>
      <p:sp>
        <p:nvSpPr>
          <p:cNvPr id="21" name="Text 2371"/>
          <p:cNvSpPr txBox="1"/>
          <p:nvPr/>
        </p:nvSpPr>
        <p:spPr>
          <a:xfrm>
            <a:off x="7726680" y="4587240"/>
            <a:ext cx="3685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— and this is optimal: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uation 22" descr="n + \lceil \log_2 n \rceil - 2"/>
              <p:cNvSpPr txBox="1"/>
              <p:nvPr/>
            </p:nvSpPr>
            <p:spPr>
              <a:xfrm>
                <a:off x="7726680" y="4965192"/>
                <a:ext cx="2306117" cy="3922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6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b="0" i="1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C628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pic>
            <p:nvPicPr>
              <p:cNvPr id="22" name="EQ|54befdbeeeaa|26" descr="n + \lceil \log_2 n \rceil - 2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26680" y="4965192"/>
                <a:ext cx="2306117" cy="392278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 2372"/>
          <p:cNvSpPr txBox="1"/>
          <p:nvPr/>
        </p:nvSpPr>
        <p:spPr>
          <a:xfrm>
            <a:off x="7726680" y="5461102"/>
            <a:ext cx="3685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 = 8: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comparisons instead of 13.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8892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E Lesson">
  <a:themeElements>
    <a:clrScheme name="SCE Lesson">
      <a:dk1>
        <a:srgbClr val="1E2A2F"/>
      </a:dk1>
      <a:lt1>
        <a:srgbClr val="FFFFFF"/>
      </a:lt1>
      <a:dk2>
        <a:srgbClr val="0F4C51"/>
      </a:dk2>
      <a:lt2>
        <a:srgbClr val="EEF1F1"/>
      </a:lt2>
      <a:accent1>
        <a:srgbClr val="17A2A0"/>
      </a:accent1>
      <a:accent2>
        <a:srgbClr val="C62828"/>
      </a:accent2>
      <a:accent3>
        <a:srgbClr val="D9822B"/>
      </a:accent3>
      <a:accent4>
        <a:srgbClr val="2E7D32"/>
      </a:accent4>
      <a:accent5>
        <a:srgbClr val="6A3FA0"/>
      </a:accent5>
      <a:accent6>
        <a:srgbClr val="5B6B70"/>
      </a:accent6>
      <a:hlink>
        <a:srgbClr val="17A2A0"/>
      </a:hlink>
      <a:folHlink>
        <a:srgbClr val="6A3FA0"/>
      </a:folHlink>
    </a:clrScheme>
    <a:fontScheme name="SCE Less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— Lesson 1: Algorithms and Running Time</dc:title>
  <dc:subject>PptxGenJS Presentation</dc:subject>
  <dc:creator>SCE</dc:creator>
  <cp:lastModifiedBy>SCE</cp:lastModifiedBy>
  <cp:revision>1</cp:revision>
  <dcterms:created xsi:type="dcterms:W3CDTF">2026-10-22T06:04:12Z</dcterms:created>
  <dcterms:modified xsi:type="dcterms:W3CDTF">2026-10-22T06:04:12Z</dcterms:modified>
</cp:coreProperties>
</file>