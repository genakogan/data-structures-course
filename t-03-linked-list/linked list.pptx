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5"/>
  </p:notesMasterIdLst>
  <p:sldIdLst>
    <p:sldId id="257" r:id="rId2"/>
    <p:sldId id="258" r:id="rId3"/>
    <p:sldId id="266" r:id="rId4"/>
    <p:sldId id="268" r:id="rId5"/>
    <p:sldId id="267" r:id="rId6"/>
    <p:sldId id="276" r:id="rId7"/>
    <p:sldId id="270" r:id="rId8"/>
    <p:sldId id="271" r:id="rId9"/>
    <p:sldId id="272" r:id="rId10"/>
    <p:sldId id="273" r:id="rId11"/>
    <p:sldId id="277" r:id="rId12"/>
    <p:sldId id="278" r:id="rId13"/>
    <p:sldId id="259" r:id="rId1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03" autoAdjust="0"/>
    <p:restoredTop sz="95849" autoAdjust="0"/>
  </p:normalViewPr>
  <p:slideViewPr>
    <p:cSldViewPr snapToGrid="0">
      <p:cViewPr varScale="1">
        <p:scale>
          <a:sx n="133" d="100"/>
          <a:sy n="133" d="100"/>
        </p:scale>
        <p:origin x="19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7593B-B963-47D8-A2A4-BA759CBCEAC5}" type="datetimeFigureOut">
              <a:rPr lang="en-US" smtClean="0"/>
              <a:t>11/9/25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91380-8262-4EC7-BAB8-26F58A320275}" type="slidenum">
              <a:rPr lang="en-US" smtClean="0"/>
              <a:t>‹#›</a:t>
            </a:fld>
            <a:endParaRPr lang="en-US"/>
          </a:p>
        </p:txBody>
      </p:sp>
    </p:spTree>
    <p:extLst>
      <p:ext uri="{BB962C8B-B14F-4D97-AF65-F5344CB8AC3E}">
        <p14:creationId xmlns:p14="http://schemas.microsoft.com/office/powerpoint/2010/main" val="367664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complexity of the algorithm `</a:t>
            </a:r>
            <a:r>
              <a:rPr lang="en-US" dirty="0" err="1"/>
              <a:t>sumOfEvenNumbers</a:t>
            </a:r>
            <a:r>
              <a:rPr lang="en-US" dirty="0"/>
              <a:t>` for a linked list is O(N), where N is the number of nodes in the linked list.</a:t>
            </a:r>
          </a:p>
          <a:p>
            <a:endParaRPr lang="en-US" dirty="0"/>
          </a:p>
          <a:p>
            <a:endParaRPr lang="en-US" dirty="0"/>
          </a:p>
          <a:p>
            <a:r>
              <a:rPr lang="en-US" dirty="0"/>
              <a:t>1. **Initialization:** </a:t>
            </a:r>
          </a:p>
          <a:p>
            <a:r>
              <a:rPr lang="en-US" dirty="0"/>
              <a:t>   - The function initializes the `sum` variable to 0 and sets the `node` pointer to the head of the linked list. Both of these operations take constant time, O(1).</a:t>
            </a:r>
          </a:p>
          <a:p>
            <a:endParaRPr lang="en-US" dirty="0"/>
          </a:p>
          <a:p>
            <a:r>
              <a:rPr lang="en-US" dirty="0"/>
              <a:t>2. **Traversing the List:**</a:t>
            </a:r>
          </a:p>
          <a:p>
            <a:r>
              <a:rPr lang="en-US" dirty="0"/>
              <a:t>   - The algorithm uses a `while` loop to iterate through each node in the linked list. In the worst case, it visits each node exactly once, making this part of the algorithm O(N), where N is the number of nodes in the linked list.</a:t>
            </a:r>
          </a:p>
          <a:p>
            <a:endParaRPr lang="en-US" dirty="0"/>
          </a:p>
          <a:p>
            <a:r>
              <a:rPr lang="en-US" dirty="0"/>
              <a:t>3. **Checking and Summing:**</a:t>
            </a:r>
          </a:p>
          <a:p>
            <a:r>
              <a:rPr lang="en-US" dirty="0"/>
              <a:t>   - Within the loop, there is a constant-time operation to check if the value of the current node is even and then add it to the `sum` variable if it is. These operations do not depend on the size of the linked list and are O(1).</a:t>
            </a:r>
          </a:p>
          <a:p>
            <a:endParaRPr lang="en-US" dirty="0"/>
          </a:p>
          <a:p>
            <a:r>
              <a:rPr lang="en-US" dirty="0"/>
              <a:t>4. **Moving to the Next Node:**</a:t>
            </a:r>
          </a:p>
          <a:p>
            <a:r>
              <a:rPr lang="en-US" dirty="0"/>
              <a:t>   - After each iteration, the `node` pointer is moved to the next node in the list. This is a constant-time operation, O(1).</a:t>
            </a:r>
          </a:p>
          <a:p>
            <a:endParaRPr lang="en-US" dirty="0"/>
          </a:p>
          <a:p>
            <a:r>
              <a:rPr lang="en-US" dirty="0"/>
              <a:t>5. **Returning the Result:**</a:t>
            </a:r>
          </a:p>
          <a:p>
            <a:r>
              <a:rPr lang="en-US" dirty="0"/>
              <a:t>   - Finally, the function returns the calculated sum. This is a constant-time operation, O(1).</a:t>
            </a:r>
          </a:p>
          <a:p>
            <a:endParaRPr lang="en-US" dirty="0"/>
          </a:p>
          <a:p>
            <a:r>
              <a:rPr lang="en-US" dirty="0"/>
              <a:t>Therefore, the dominant factor contributing to the time complexity is the traversal of the linked list, which results in an overall time complexity of O(N), where N is the number of nodes in the linked list.</a:t>
            </a:r>
          </a:p>
        </p:txBody>
      </p:sp>
      <p:sp>
        <p:nvSpPr>
          <p:cNvPr id="4" name="Slide Number Placeholder 3"/>
          <p:cNvSpPr>
            <a:spLocks noGrp="1"/>
          </p:cNvSpPr>
          <p:nvPr>
            <p:ph type="sldNum" sz="quarter" idx="5"/>
          </p:nvPr>
        </p:nvSpPr>
        <p:spPr/>
        <p:txBody>
          <a:bodyPr/>
          <a:lstStyle/>
          <a:p>
            <a:fld id="{72391380-8262-4EC7-BAB8-26F58A320275}" type="slidenum">
              <a:rPr lang="en-US" smtClean="0"/>
              <a:t>5</a:t>
            </a:fld>
            <a:endParaRPr lang="en-US"/>
          </a:p>
        </p:txBody>
      </p:sp>
    </p:spTree>
    <p:extLst>
      <p:ext uri="{BB962C8B-B14F-4D97-AF65-F5344CB8AC3E}">
        <p14:creationId xmlns:p14="http://schemas.microsoft.com/office/powerpoint/2010/main" val="299711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A21F-8143-B526-2C03-EA6FBA7BB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2701A-1E46-0317-C913-DB1CEAAC7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79DC1-A309-64D2-E48C-F76818930079}"/>
              </a:ext>
            </a:extLst>
          </p:cNvPr>
          <p:cNvSpPr>
            <a:spLocks noGrp="1"/>
          </p:cNvSpPr>
          <p:nvPr>
            <p:ph type="body" idx="1"/>
          </p:nvPr>
        </p:nvSpPr>
        <p:spPr/>
        <p:txBody>
          <a:bodyPr/>
          <a:lstStyle/>
          <a:p>
            <a:r>
              <a:rPr lang="en-US" dirty="0"/>
              <a:t>The time complexity of the `</a:t>
            </a:r>
            <a:r>
              <a:rPr lang="en-US" dirty="0" err="1"/>
              <a:t>swapFirstAndLast</a:t>
            </a:r>
            <a:r>
              <a:rPr lang="en-US" dirty="0"/>
              <a:t>` algorithm for a linked list is O(N), where N is the number of nodes in the linked list.</a:t>
            </a:r>
          </a:p>
          <a:p>
            <a:endParaRPr lang="en-US" dirty="0"/>
          </a:p>
          <a:p>
            <a:endParaRPr lang="en-US" dirty="0"/>
          </a:p>
          <a:p>
            <a:r>
              <a:rPr lang="en-US" dirty="0"/>
              <a:t>1. **Base Case Check:**</a:t>
            </a:r>
          </a:p>
          <a:p>
            <a:r>
              <a:rPr lang="en-US" dirty="0"/>
              <a:t>   - The function checks if the linked list is empty or has only one node. This is a constant-time operation, O(1).</a:t>
            </a:r>
          </a:p>
          <a:p>
            <a:endParaRPr lang="en-US" dirty="0"/>
          </a:p>
          <a:p>
            <a:r>
              <a:rPr lang="en-US" dirty="0"/>
              <a:t>2. **Finding the Last Node:**</a:t>
            </a:r>
          </a:p>
          <a:p>
            <a:r>
              <a:rPr lang="en-US" dirty="0"/>
              <a:t>   - The algorithm uses a `while` loop to traverse the linked list and find the last node. In the worst case, it visits each node once, making this part of the algorithm O(N), where N is the number of nodes in the linked list.</a:t>
            </a:r>
          </a:p>
          <a:p>
            <a:endParaRPr lang="en-US" dirty="0"/>
          </a:p>
          <a:p>
            <a:r>
              <a:rPr lang="en-US" dirty="0"/>
              <a:t>3. **Swapping Values:**</a:t>
            </a:r>
          </a:p>
          <a:p>
            <a:r>
              <a:rPr lang="en-US" dirty="0"/>
              <a:t>   - After finding the last node, the algorithm swaps the values of the first and last nodes. This is a constant-time operation, O(1).</a:t>
            </a:r>
          </a:p>
          <a:p>
            <a:endParaRPr lang="en-US" dirty="0"/>
          </a:p>
          <a:p>
            <a:r>
              <a:rPr lang="en-US" dirty="0"/>
              <a:t>4. **Returning the Result:**</a:t>
            </a:r>
          </a:p>
          <a:p>
            <a:r>
              <a:rPr lang="en-US" dirty="0"/>
              <a:t>   - Finally, the function returns the modified linked list. This is a constant-time operation, O(1).</a:t>
            </a:r>
          </a:p>
          <a:p>
            <a:endParaRPr lang="en-US" dirty="0"/>
          </a:p>
          <a:p>
            <a:r>
              <a:rPr lang="en-US" dirty="0"/>
              <a:t>The dominant factor contributing to the time complexity is the traversal of the linked list, resulting in an overall time complexity of O(N), where N is the number of nodes in the linked list.</a:t>
            </a:r>
          </a:p>
        </p:txBody>
      </p:sp>
      <p:sp>
        <p:nvSpPr>
          <p:cNvPr id="4" name="Slide Number Placeholder 3">
            <a:extLst>
              <a:ext uri="{FF2B5EF4-FFF2-40B4-BE49-F238E27FC236}">
                <a16:creationId xmlns:a16="http://schemas.microsoft.com/office/drawing/2014/main" id="{9BA6EC62-D520-4947-806B-40C36427F99F}"/>
              </a:ext>
            </a:extLst>
          </p:cNvPr>
          <p:cNvSpPr>
            <a:spLocks noGrp="1"/>
          </p:cNvSpPr>
          <p:nvPr>
            <p:ph type="sldNum" sz="quarter" idx="5"/>
          </p:nvPr>
        </p:nvSpPr>
        <p:spPr/>
        <p:txBody>
          <a:bodyPr/>
          <a:lstStyle/>
          <a:p>
            <a:fld id="{72391380-8262-4EC7-BAB8-26F58A320275}" type="slidenum">
              <a:rPr lang="en-US" smtClean="0"/>
              <a:t>6</a:t>
            </a:fld>
            <a:endParaRPr lang="en-US"/>
          </a:p>
        </p:txBody>
      </p:sp>
    </p:spTree>
    <p:extLst>
      <p:ext uri="{BB962C8B-B14F-4D97-AF65-F5344CB8AC3E}">
        <p14:creationId xmlns:p14="http://schemas.microsoft.com/office/powerpoint/2010/main" val="110537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complexity of the `try` algorithm depends on the size of the sorted linked list `L` and the position where the node from `N` is inserted into `L`. Let's analyze each part:</a:t>
            </a:r>
          </a:p>
          <a:p>
            <a:endParaRPr lang="en-US" dirty="0"/>
          </a:p>
          <a:p>
            <a:r>
              <a:rPr lang="en-US" dirty="0"/>
              <a:t>1. **Base Case Check:**</a:t>
            </a:r>
          </a:p>
          <a:p>
            <a:r>
              <a:rPr lang="en-US" dirty="0"/>
              <a:t>   - Checking if `</a:t>
            </a:r>
            <a:r>
              <a:rPr lang="en-US" dirty="0" err="1"/>
              <a:t>L.head</a:t>
            </a:r>
            <a:r>
              <a:rPr lang="en-US" dirty="0"/>
              <a:t>` is NULL is a constant-time operation, O(1).</a:t>
            </a:r>
          </a:p>
          <a:p>
            <a:endParaRPr lang="en-US" dirty="0"/>
          </a:p>
          <a:p>
            <a:r>
              <a:rPr lang="en-US" dirty="0"/>
              <a:t>2. **Insertion at the Beginning of `L`:**</a:t>
            </a:r>
          </a:p>
          <a:p>
            <a:r>
              <a:rPr lang="en-US" dirty="0"/>
              <a:t>   - If `</a:t>
            </a:r>
            <a:r>
              <a:rPr lang="en-US" dirty="0" err="1"/>
              <a:t>L.head</a:t>
            </a:r>
            <a:r>
              <a:rPr lang="en-US" dirty="0"/>
              <a:t>` is NULL, the algorithm inserts the node from `N` at the beginning of `L`. This is a constant-time operation, O(1).</a:t>
            </a:r>
          </a:p>
          <a:p>
            <a:endParaRPr lang="en-US" dirty="0"/>
          </a:p>
          <a:p>
            <a:r>
              <a:rPr lang="en-US" dirty="0"/>
              <a:t>3. **Insertion at a Position Other Than the Beginning:**</a:t>
            </a:r>
          </a:p>
          <a:p>
            <a:r>
              <a:rPr lang="en-US" dirty="0"/>
              <a:t>   - If `</a:t>
            </a:r>
            <a:r>
              <a:rPr lang="en-US" dirty="0" err="1"/>
              <a:t>L.head</a:t>
            </a:r>
            <a:r>
              <a:rPr lang="en-US" dirty="0"/>
              <a:t>` is not NULL, the algorithm checks whether the node from `N` should be inserted before the current head of `L` based on the comparison of data values.</a:t>
            </a:r>
          </a:p>
          <a:p>
            <a:r>
              <a:rPr lang="en-US" dirty="0"/>
              <a:t>   - If insertion is at the beginning, it is a constant-time operation, O(1).</a:t>
            </a:r>
          </a:p>
          <a:p>
            <a:r>
              <a:rPr lang="en-US" dirty="0"/>
              <a:t>   - Otherwise, the algorithm uses a `while` loop to traverse `L` to find the correct position for insertion. In the worst case, it may need to traverse the entire list, resulting in a time complexity of O(N), where N is the number of nodes in `L`.</a:t>
            </a:r>
          </a:p>
          <a:p>
            <a:endParaRPr lang="en-US" dirty="0"/>
          </a:p>
          <a:p>
            <a:r>
              <a:rPr lang="en-US" dirty="0"/>
              <a:t>Overall, the time complexity of the `try` algorithm is O(N) in the worst case, where N is the number of nodes in the sorted linked list `L`. If the insertion happens at the beginning (when `</a:t>
            </a:r>
            <a:r>
              <a:rPr lang="en-US" dirty="0" err="1"/>
              <a:t>L.head</a:t>
            </a:r>
            <a:r>
              <a:rPr lang="en-US" dirty="0"/>
              <a:t>` is NULL) or is at a position other than the beginning, it is O(1).</a:t>
            </a:r>
          </a:p>
        </p:txBody>
      </p:sp>
      <p:sp>
        <p:nvSpPr>
          <p:cNvPr id="4" name="Slide Number Placeholder 3"/>
          <p:cNvSpPr>
            <a:spLocks noGrp="1"/>
          </p:cNvSpPr>
          <p:nvPr>
            <p:ph type="sldNum" sz="quarter" idx="5"/>
          </p:nvPr>
        </p:nvSpPr>
        <p:spPr/>
        <p:txBody>
          <a:bodyPr/>
          <a:lstStyle/>
          <a:p>
            <a:fld id="{72391380-8262-4EC7-BAB8-26F58A320275}" type="slidenum">
              <a:rPr lang="en-US" smtClean="0"/>
              <a:t>7</a:t>
            </a:fld>
            <a:endParaRPr lang="en-US"/>
          </a:p>
        </p:txBody>
      </p:sp>
    </p:spTree>
    <p:extLst>
      <p:ext uri="{BB962C8B-B14F-4D97-AF65-F5344CB8AC3E}">
        <p14:creationId xmlns:p14="http://schemas.microsoft.com/office/powerpoint/2010/main" val="1447300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The time complexity of the Bubble Sort algorithm applied to a linked list is O(N^2), where N is the number of nodes in the linked list. Here's the breakdown of the time complexity:</a:t>
            </a:r>
          </a:p>
          <a:p>
            <a:pPr algn="l">
              <a:buFont typeface="+mj-lt"/>
              <a:buAutoNum type="arabicPeriod"/>
            </a:pPr>
            <a:r>
              <a:rPr lang="en-US" b="1" i="0" dirty="0">
                <a:solidFill>
                  <a:srgbClr val="D1D5DB"/>
                </a:solidFill>
                <a:effectLst/>
                <a:latin typeface="Söhne"/>
              </a:rPr>
              <a:t>Outer Loop (Traversing the List):</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outer loop of the Bubble Sort algorithm iterates N times, where N is the number of nodes in the linked list. In each iteration, the algorithm compares and possibly swaps adjacent elements.</a:t>
            </a:r>
          </a:p>
          <a:p>
            <a:pPr marL="742950" lvl="1" indent="-285750" algn="l">
              <a:buFont typeface="+mj-lt"/>
              <a:buAutoNum type="arabicPeriod"/>
            </a:pPr>
            <a:r>
              <a:rPr lang="en-US" b="0" i="0" dirty="0">
                <a:solidFill>
                  <a:srgbClr val="D1D5DB"/>
                </a:solidFill>
                <a:effectLst/>
                <a:latin typeface="Söhne"/>
              </a:rPr>
              <a:t>The worst-case scenario is when the list is in reverse order, and the algorithm needs to perform N iterations for each element to move it to its correct position.</a:t>
            </a:r>
          </a:p>
          <a:p>
            <a:pPr marL="742950" lvl="1" indent="-285750" algn="l">
              <a:buFont typeface="+mj-lt"/>
              <a:buAutoNum type="arabicPeriod"/>
            </a:pPr>
            <a:r>
              <a:rPr lang="en-US" b="0" i="0" dirty="0">
                <a:solidFill>
                  <a:srgbClr val="D1D5DB"/>
                </a:solidFill>
                <a:effectLst/>
                <a:latin typeface="Söhne"/>
              </a:rPr>
              <a:t>Therefore, the time complexity of the outer loop is O(N).</a:t>
            </a:r>
          </a:p>
          <a:p>
            <a:pPr algn="l">
              <a:buFont typeface="+mj-lt"/>
              <a:buAutoNum type="arabicPeriod"/>
            </a:pPr>
            <a:r>
              <a:rPr lang="en-US" b="1" i="0" dirty="0">
                <a:solidFill>
                  <a:srgbClr val="D1D5DB"/>
                </a:solidFill>
                <a:effectLst/>
                <a:latin typeface="Söhne"/>
              </a:rPr>
              <a:t>Inner Loop (Comparisons and Swaps):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inner loop compares and swaps adjacent elements. In the worst case, the inner loop iterates N times for each outer loop iteration.</a:t>
            </a:r>
          </a:p>
          <a:p>
            <a:pPr marL="742950" lvl="1" indent="-285750" algn="l">
              <a:buFont typeface="+mj-lt"/>
              <a:buAutoNum type="arabicPeriod"/>
            </a:pPr>
            <a:r>
              <a:rPr lang="en-US" b="0" i="0" dirty="0">
                <a:solidFill>
                  <a:srgbClr val="D1D5DB"/>
                </a:solidFill>
                <a:effectLst/>
                <a:latin typeface="Söhne"/>
              </a:rPr>
              <a:t>The total number of comparisons and swaps in the inner loop is proportional to N^2.</a:t>
            </a:r>
          </a:p>
          <a:p>
            <a:pPr marL="742950" lvl="1" indent="-285750" algn="l">
              <a:buFont typeface="+mj-lt"/>
              <a:buAutoNum type="arabicPeriod"/>
            </a:pPr>
            <a:r>
              <a:rPr lang="en-US" b="0" i="0" dirty="0">
                <a:solidFill>
                  <a:srgbClr val="D1D5DB"/>
                </a:solidFill>
                <a:effectLst/>
                <a:latin typeface="Söhne"/>
              </a:rPr>
              <a:t>Therefore, the time complexity of the inner loop is O(N^2).</a:t>
            </a:r>
          </a:p>
          <a:p>
            <a:pPr algn="l">
              <a:buFont typeface="+mj-lt"/>
              <a:buAutoNum type="arabicPeriod"/>
            </a:pPr>
            <a:r>
              <a:rPr lang="en-US" b="1" i="0" dirty="0">
                <a:solidFill>
                  <a:srgbClr val="D1D5DB"/>
                </a:solidFill>
                <a:effectLst/>
                <a:latin typeface="Söhne"/>
              </a:rPr>
              <a:t>Overall Time Complexity:</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Combining the time complexities of the outer and inner loops, the overall time complexity of the Bubble Sort algorithm for a linked list is O(N) * O(N^2) = O(N^2).</a:t>
            </a:r>
          </a:p>
          <a:p>
            <a:pPr algn="l"/>
            <a:r>
              <a:rPr lang="en-US" b="0" i="0" dirty="0">
                <a:solidFill>
                  <a:srgbClr val="D1D5DB"/>
                </a:solidFill>
                <a:effectLst/>
                <a:latin typeface="Söhne"/>
              </a:rPr>
              <a:t>Bubble Sort is not the most efficient sorting algorithm, especially for large datasets, but it is straightforward to implement. Other sorting algorithms like Merge Sort or Quick Sort may offer better performance for large datasets.</a:t>
            </a:r>
          </a:p>
          <a:p>
            <a:pPr algn="l"/>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1" i="0" dirty="0">
                <a:solidFill>
                  <a:srgbClr val="D1D5DB"/>
                </a:solidFill>
                <a:effectLst/>
                <a:latin typeface="Söhne"/>
              </a:rPr>
              <a:t>Merge Sort algorithm adapted for a linked list. Run time: </a:t>
            </a:r>
            <a:r>
              <a:rPr lang="en-US" b="0" i="0" dirty="0">
                <a:solidFill>
                  <a:srgbClr val="D1D5DB"/>
                </a:solidFill>
                <a:effectLst/>
                <a:latin typeface="Söhne"/>
              </a:rPr>
              <a:t>O(n log n)</a:t>
            </a:r>
            <a:endParaRPr lang="en-US" b="1"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function </a:t>
            </a:r>
            <a:r>
              <a:rPr lang="en-US" b="0" i="0" dirty="0" err="1">
                <a:solidFill>
                  <a:srgbClr val="D1D5DB"/>
                </a:solidFill>
                <a:effectLst/>
                <a:latin typeface="Söhne"/>
              </a:rPr>
              <a:t>mergeSortLinkedList</a:t>
            </a:r>
            <a:r>
              <a:rPr lang="en-US" b="0" i="0" dirty="0">
                <a:solidFill>
                  <a:srgbClr val="D1D5DB"/>
                </a:solidFill>
                <a:effectLst/>
                <a:latin typeface="Söhne"/>
              </a:rPr>
              <a:t>(head):</a:t>
            </a:r>
          </a:p>
          <a:p>
            <a:pPr algn="l"/>
            <a:r>
              <a:rPr lang="en-US" b="0" i="0" dirty="0">
                <a:solidFill>
                  <a:srgbClr val="D1D5DB"/>
                </a:solidFill>
                <a:effectLst/>
                <a:latin typeface="Söhne"/>
              </a:rPr>
              <a:t>    if head is NULL or </a:t>
            </a:r>
            <a:r>
              <a:rPr lang="en-US" b="0" i="0" dirty="0" err="1">
                <a:solidFill>
                  <a:srgbClr val="D1D5DB"/>
                </a:solidFill>
                <a:effectLst/>
                <a:latin typeface="Söhne"/>
              </a:rPr>
              <a:t>head.next</a:t>
            </a:r>
            <a:r>
              <a:rPr lang="en-US" b="0" i="0" dirty="0">
                <a:solidFill>
                  <a:srgbClr val="D1D5DB"/>
                </a:solidFill>
                <a:effectLst/>
                <a:latin typeface="Söhne"/>
              </a:rPr>
              <a:t> is NULL:</a:t>
            </a:r>
          </a:p>
          <a:p>
            <a:pPr algn="l"/>
            <a:r>
              <a:rPr lang="en-US" b="0" i="0" dirty="0">
                <a:solidFill>
                  <a:srgbClr val="D1D5DB"/>
                </a:solidFill>
                <a:effectLst/>
                <a:latin typeface="Söhne"/>
              </a:rPr>
              <a:t>        return head  // Base case: empty or single-node list</a:t>
            </a:r>
          </a:p>
          <a:p>
            <a:pPr algn="l"/>
            <a:endParaRPr lang="en-US" b="0" i="0" dirty="0">
              <a:solidFill>
                <a:srgbClr val="D1D5DB"/>
              </a:solidFill>
              <a:effectLst/>
              <a:latin typeface="Söhne"/>
            </a:endParaRPr>
          </a:p>
          <a:p>
            <a:pPr algn="l"/>
            <a:r>
              <a:rPr lang="en-US" b="0" i="0" dirty="0">
                <a:solidFill>
                  <a:srgbClr val="D1D5DB"/>
                </a:solidFill>
                <a:effectLst/>
                <a:latin typeface="Söhne"/>
              </a:rPr>
              <a:t>    // Split the linked list into two halves</a:t>
            </a:r>
          </a:p>
          <a:p>
            <a:pPr algn="l"/>
            <a:r>
              <a:rPr lang="en-US" b="0" i="0" dirty="0">
                <a:solidFill>
                  <a:srgbClr val="D1D5DB"/>
                </a:solidFill>
                <a:effectLst/>
                <a:latin typeface="Söhne"/>
              </a:rPr>
              <a:t>    middle = </a:t>
            </a:r>
            <a:r>
              <a:rPr lang="en-US" b="0" i="0" dirty="0" err="1">
                <a:solidFill>
                  <a:srgbClr val="D1D5DB"/>
                </a:solidFill>
                <a:effectLst/>
                <a:latin typeface="Söhne"/>
              </a:rPr>
              <a:t>findMiddle</a:t>
            </a:r>
            <a:r>
              <a:rPr lang="en-US" b="0" i="0" dirty="0">
                <a:solidFill>
                  <a:srgbClr val="D1D5DB"/>
                </a:solidFill>
                <a:effectLst/>
                <a:latin typeface="Söhne"/>
              </a:rPr>
              <a:t>(head)</a:t>
            </a:r>
          </a:p>
          <a:p>
            <a:pPr algn="l"/>
            <a:r>
              <a:rPr lang="en-US" b="0" i="0" dirty="0">
                <a:solidFill>
                  <a:srgbClr val="D1D5DB"/>
                </a:solidFill>
                <a:effectLst/>
                <a:latin typeface="Söhne"/>
              </a:rPr>
              <a:t>    </a:t>
            </a:r>
            <a:r>
              <a:rPr lang="en-US" b="0" i="0" dirty="0" err="1">
                <a:solidFill>
                  <a:srgbClr val="D1D5DB"/>
                </a:solidFill>
                <a:effectLst/>
                <a:latin typeface="Söhne"/>
              </a:rPr>
              <a:t>leftList</a:t>
            </a:r>
            <a:r>
              <a:rPr lang="en-US" b="0" i="0" dirty="0">
                <a:solidFill>
                  <a:srgbClr val="D1D5DB"/>
                </a:solidFill>
                <a:effectLst/>
                <a:latin typeface="Söhne"/>
              </a:rPr>
              <a:t> = head</a:t>
            </a:r>
          </a:p>
          <a:p>
            <a:pPr algn="l"/>
            <a:r>
              <a:rPr lang="en-US" b="0" i="0" dirty="0">
                <a:solidFill>
                  <a:srgbClr val="D1D5DB"/>
                </a:solidFill>
                <a:effectLst/>
                <a:latin typeface="Söhne"/>
              </a:rPr>
              <a:t>    </a:t>
            </a:r>
            <a:r>
              <a:rPr lang="en-US" b="0" i="0" dirty="0" err="1">
                <a:solidFill>
                  <a:srgbClr val="D1D5DB"/>
                </a:solidFill>
                <a:effectLst/>
                <a:latin typeface="Söhne"/>
              </a:rPr>
              <a:t>rightList</a:t>
            </a:r>
            <a:r>
              <a:rPr lang="en-US" b="0" i="0" dirty="0">
                <a:solidFill>
                  <a:srgbClr val="D1D5DB"/>
                </a:solidFill>
                <a:effectLst/>
                <a:latin typeface="Söhne"/>
              </a:rPr>
              <a:t> = </a:t>
            </a:r>
            <a:r>
              <a:rPr lang="en-US" b="0" i="0" dirty="0" err="1">
                <a:solidFill>
                  <a:srgbClr val="D1D5DB"/>
                </a:solidFill>
                <a:effectLst/>
                <a:latin typeface="Söhne"/>
              </a:rPr>
              <a:t>middle.next</a:t>
            </a:r>
            <a:endParaRPr lang="en-US" b="0" i="0" dirty="0">
              <a:solidFill>
                <a:srgbClr val="D1D5DB"/>
              </a:solidFill>
              <a:effectLst/>
              <a:latin typeface="Söhne"/>
            </a:endParaRPr>
          </a:p>
          <a:p>
            <a:pPr algn="l"/>
            <a:r>
              <a:rPr lang="en-US" b="0" i="0" dirty="0">
                <a:solidFill>
                  <a:srgbClr val="D1D5DB"/>
                </a:solidFill>
                <a:effectLst/>
                <a:latin typeface="Söhne"/>
              </a:rPr>
              <a:t>    </a:t>
            </a:r>
            <a:r>
              <a:rPr lang="en-US" b="0" i="0" dirty="0" err="1">
                <a:solidFill>
                  <a:srgbClr val="D1D5DB"/>
                </a:solidFill>
                <a:effectLst/>
                <a:latin typeface="Söhne"/>
              </a:rPr>
              <a:t>middle.next</a:t>
            </a:r>
            <a:r>
              <a:rPr lang="en-US" b="0" i="0" dirty="0">
                <a:solidFill>
                  <a:srgbClr val="D1D5DB"/>
                </a:solidFill>
                <a:effectLst/>
                <a:latin typeface="Söhne"/>
              </a:rPr>
              <a:t> = NULL  // Splitting the list</a:t>
            </a:r>
          </a:p>
          <a:p>
            <a:pPr algn="l"/>
            <a:endParaRPr lang="en-US" b="0" i="0" dirty="0">
              <a:solidFill>
                <a:srgbClr val="D1D5DB"/>
              </a:solidFill>
              <a:effectLst/>
              <a:latin typeface="Söhne"/>
            </a:endParaRPr>
          </a:p>
          <a:p>
            <a:pPr algn="l"/>
            <a:r>
              <a:rPr lang="en-US" b="0" i="0" dirty="0">
                <a:solidFill>
                  <a:srgbClr val="D1D5DB"/>
                </a:solidFill>
                <a:effectLst/>
                <a:latin typeface="Söhne"/>
              </a:rPr>
              <a:t>    // Recursively sort both halves</a:t>
            </a:r>
          </a:p>
          <a:p>
            <a:pPr algn="l"/>
            <a:r>
              <a:rPr lang="en-US" b="0" i="0" dirty="0">
                <a:solidFill>
                  <a:srgbClr val="D1D5DB"/>
                </a:solidFill>
                <a:effectLst/>
                <a:latin typeface="Söhne"/>
              </a:rPr>
              <a:t>    </a:t>
            </a:r>
            <a:r>
              <a:rPr lang="en-US" b="0" i="0" dirty="0" err="1">
                <a:solidFill>
                  <a:srgbClr val="D1D5DB"/>
                </a:solidFill>
                <a:effectLst/>
                <a:latin typeface="Söhne"/>
              </a:rPr>
              <a:t>leftList</a:t>
            </a:r>
            <a:r>
              <a:rPr lang="en-US" b="0" i="0" dirty="0">
                <a:solidFill>
                  <a:srgbClr val="D1D5DB"/>
                </a:solidFill>
                <a:effectLst/>
                <a:latin typeface="Söhne"/>
              </a:rPr>
              <a:t> = </a:t>
            </a:r>
            <a:r>
              <a:rPr lang="en-US" b="0" i="0" dirty="0" err="1">
                <a:solidFill>
                  <a:srgbClr val="D1D5DB"/>
                </a:solidFill>
                <a:effectLst/>
                <a:latin typeface="Söhne"/>
              </a:rPr>
              <a:t>mergeSortLinkedList</a:t>
            </a:r>
            <a:r>
              <a:rPr lang="en-US" b="0" i="0" dirty="0">
                <a:solidFill>
                  <a:srgbClr val="D1D5DB"/>
                </a:solidFill>
                <a:effectLst/>
                <a:latin typeface="Söhne"/>
              </a:rPr>
              <a:t>(</a:t>
            </a:r>
            <a:r>
              <a:rPr lang="en-US" b="0" i="0" dirty="0" err="1">
                <a:solidFill>
                  <a:srgbClr val="D1D5DB"/>
                </a:solidFill>
                <a:effectLst/>
                <a:latin typeface="Söhne"/>
              </a:rPr>
              <a:t>leftList</a:t>
            </a:r>
            <a:r>
              <a:rPr lang="en-US" b="0" i="0" dirty="0">
                <a:solidFill>
                  <a:srgbClr val="D1D5DB"/>
                </a:solidFill>
                <a:effectLst/>
                <a:latin typeface="Söhne"/>
              </a:rPr>
              <a:t>)</a:t>
            </a:r>
          </a:p>
          <a:p>
            <a:pPr algn="l"/>
            <a:r>
              <a:rPr lang="en-US" b="0" i="0" dirty="0">
                <a:solidFill>
                  <a:srgbClr val="D1D5DB"/>
                </a:solidFill>
                <a:effectLst/>
                <a:latin typeface="Söhne"/>
              </a:rPr>
              <a:t>    </a:t>
            </a:r>
            <a:r>
              <a:rPr lang="en-US" b="0" i="0" dirty="0" err="1">
                <a:solidFill>
                  <a:srgbClr val="D1D5DB"/>
                </a:solidFill>
                <a:effectLst/>
                <a:latin typeface="Söhne"/>
              </a:rPr>
              <a:t>rightList</a:t>
            </a:r>
            <a:r>
              <a:rPr lang="en-US" b="0" i="0" dirty="0">
                <a:solidFill>
                  <a:srgbClr val="D1D5DB"/>
                </a:solidFill>
                <a:effectLst/>
                <a:latin typeface="Söhne"/>
              </a:rPr>
              <a:t> = </a:t>
            </a:r>
            <a:r>
              <a:rPr lang="en-US" b="0" i="0" dirty="0" err="1">
                <a:solidFill>
                  <a:srgbClr val="D1D5DB"/>
                </a:solidFill>
                <a:effectLst/>
                <a:latin typeface="Söhne"/>
              </a:rPr>
              <a:t>mergeSortLinkedList</a:t>
            </a:r>
            <a:r>
              <a:rPr lang="en-US" b="0" i="0" dirty="0">
                <a:solidFill>
                  <a:srgbClr val="D1D5DB"/>
                </a:solidFill>
                <a:effectLst/>
                <a:latin typeface="Söhne"/>
              </a:rPr>
              <a:t>(</a:t>
            </a:r>
            <a:r>
              <a:rPr lang="en-US" b="0" i="0" dirty="0" err="1">
                <a:solidFill>
                  <a:srgbClr val="D1D5DB"/>
                </a:solidFill>
                <a:effectLst/>
                <a:latin typeface="Söhne"/>
              </a:rPr>
              <a:t>rightList</a:t>
            </a:r>
            <a:r>
              <a:rPr lang="en-US" b="0" i="0" dirty="0">
                <a:solidFill>
                  <a:srgbClr val="D1D5DB"/>
                </a:solidFill>
                <a:effectLst/>
                <a:latin typeface="Söhne"/>
              </a:rPr>
              <a:t>)</a:t>
            </a:r>
          </a:p>
          <a:p>
            <a:pPr algn="l"/>
            <a:endParaRPr lang="en-US" b="0" i="0" dirty="0">
              <a:solidFill>
                <a:srgbClr val="D1D5DB"/>
              </a:solidFill>
              <a:effectLst/>
              <a:latin typeface="Söhne"/>
            </a:endParaRPr>
          </a:p>
          <a:p>
            <a:pPr algn="l"/>
            <a:r>
              <a:rPr lang="en-US" b="0" i="0" dirty="0">
                <a:solidFill>
                  <a:srgbClr val="D1D5DB"/>
                </a:solidFill>
                <a:effectLst/>
                <a:latin typeface="Söhne"/>
              </a:rPr>
              <a:t>    // Merge the sorted halves</a:t>
            </a:r>
          </a:p>
          <a:p>
            <a:pPr algn="l"/>
            <a:r>
              <a:rPr lang="en-US" b="0" i="0" dirty="0">
                <a:solidFill>
                  <a:srgbClr val="D1D5DB"/>
                </a:solidFill>
                <a:effectLst/>
                <a:latin typeface="Söhne"/>
              </a:rPr>
              <a:t>    </a:t>
            </a:r>
            <a:r>
              <a:rPr lang="en-US" b="0" i="0" dirty="0" err="1">
                <a:solidFill>
                  <a:srgbClr val="D1D5DB"/>
                </a:solidFill>
                <a:effectLst/>
                <a:latin typeface="Söhne"/>
              </a:rPr>
              <a:t>sortedList</a:t>
            </a:r>
            <a:r>
              <a:rPr lang="en-US" b="0" i="0" dirty="0">
                <a:solidFill>
                  <a:srgbClr val="D1D5DB"/>
                </a:solidFill>
                <a:effectLst/>
                <a:latin typeface="Söhne"/>
              </a:rPr>
              <a:t> = merge(</a:t>
            </a:r>
            <a:r>
              <a:rPr lang="en-US" b="0" i="0" dirty="0" err="1">
                <a:solidFill>
                  <a:srgbClr val="D1D5DB"/>
                </a:solidFill>
                <a:effectLst/>
                <a:latin typeface="Söhne"/>
              </a:rPr>
              <a:t>leftList</a:t>
            </a:r>
            <a:r>
              <a:rPr lang="en-US" b="0" i="0" dirty="0">
                <a:solidFill>
                  <a:srgbClr val="D1D5DB"/>
                </a:solidFill>
                <a:effectLst/>
                <a:latin typeface="Söhne"/>
              </a:rPr>
              <a:t>, </a:t>
            </a:r>
            <a:r>
              <a:rPr lang="en-US" b="0" i="0" dirty="0" err="1">
                <a:solidFill>
                  <a:srgbClr val="D1D5DB"/>
                </a:solidFill>
                <a:effectLst/>
                <a:latin typeface="Söhne"/>
              </a:rPr>
              <a:t>rightList</a:t>
            </a:r>
            <a:r>
              <a:rPr lang="en-US" b="0" i="0" dirty="0">
                <a:solidFill>
                  <a:srgbClr val="D1D5DB"/>
                </a:solidFill>
                <a:effectLst/>
                <a:latin typeface="Söhne"/>
              </a:rPr>
              <a:t>)</a:t>
            </a:r>
          </a:p>
          <a:p>
            <a:pPr algn="l"/>
            <a:endParaRPr lang="en-US" b="0" i="0" dirty="0">
              <a:solidFill>
                <a:srgbClr val="D1D5DB"/>
              </a:solidFill>
              <a:effectLst/>
              <a:latin typeface="Söhne"/>
            </a:endParaRPr>
          </a:p>
          <a:p>
            <a:pPr algn="l"/>
            <a:r>
              <a:rPr lang="en-US" b="0" i="0" dirty="0">
                <a:solidFill>
                  <a:srgbClr val="D1D5DB"/>
                </a:solidFill>
                <a:effectLst/>
                <a:latin typeface="Söhne"/>
              </a:rPr>
              <a:t>    return </a:t>
            </a:r>
            <a:r>
              <a:rPr lang="en-US" b="0" i="0" dirty="0" err="1">
                <a:solidFill>
                  <a:srgbClr val="D1D5DB"/>
                </a:solidFill>
                <a:effectLst/>
                <a:latin typeface="Söhne"/>
              </a:rPr>
              <a:t>sortedList</a:t>
            </a:r>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function </a:t>
            </a:r>
            <a:r>
              <a:rPr lang="en-US" b="0" i="0" dirty="0" err="1">
                <a:solidFill>
                  <a:srgbClr val="D1D5DB"/>
                </a:solidFill>
                <a:effectLst/>
                <a:latin typeface="Söhne"/>
              </a:rPr>
              <a:t>findMiddle</a:t>
            </a:r>
            <a:r>
              <a:rPr lang="en-US" b="0" i="0" dirty="0">
                <a:solidFill>
                  <a:srgbClr val="D1D5DB"/>
                </a:solidFill>
                <a:effectLst/>
                <a:latin typeface="Söhne"/>
              </a:rPr>
              <a:t>(head):</a:t>
            </a:r>
          </a:p>
          <a:p>
            <a:pPr algn="l"/>
            <a:r>
              <a:rPr lang="en-US" b="0" i="0" dirty="0">
                <a:solidFill>
                  <a:srgbClr val="D1D5DB"/>
                </a:solidFill>
                <a:effectLst/>
                <a:latin typeface="Söhne"/>
              </a:rPr>
              <a:t>    </a:t>
            </a:r>
            <a:r>
              <a:rPr lang="en-US" b="0" i="0" dirty="0" err="1">
                <a:solidFill>
                  <a:srgbClr val="D1D5DB"/>
                </a:solidFill>
                <a:effectLst/>
                <a:latin typeface="Söhne"/>
              </a:rPr>
              <a:t>slowPointer</a:t>
            </a:r>
            <a:r>
              <a:rPr lang="en-US" b="0" i="0" dirty="0">
                <a:solidFill>
                  <a:srgbClr val="D1D5DB"/>
                </a:solidFill>
                <a:effectLst/>
                <a:latin typeface="Söhne"/>
              </a:rPr>
              <a:t> = head</a:t>
            </a:r>
          </a:p>
          <a:p>
            <a:pPr algn="l"/>
            <a:r>
              <a:rPr lang="en-US" b="0" i="0" dirty="0">
                <a:solidFill>
                  <a:srgbClr val="D1D5DB"/>
                </a:solidFill>
                <a:effectLst/>
                <a:latin typeface="Söhne"/>
              </a:rPr>
              <a:t>    </a:t>
            </a:r>
            <a:r>
              <a:rPr lang="en-US" b="0" i="0" dirty="0" err="1">
                <a:solidFill>
                  <a:srgbClr val="D1D5DB"/>
                </a:solidFill>
                <a:effectLst/>
                <a:latin typeface="Söhne"/>
              </a:rPr>
              <a:t>fastPointer</a:t>
            </a:r>
            <a:r>
              <a:rPr lang="en-US" b="0" i="0" dirty="0">
                <a:solidFill>
                  <a:srgbClr val="D1D5DB"/>
                </a:solidFill>
                <a:effectLst/>
                <a:latin typeface="Söhne"/>
              </a:rPr>
              <a:t> = </a:t>
            </a:r>
            <a:r>
              <a:rPr lang="en-US" b="0" i="0" dirty="0" err="1">
                <a:solidFill>
                  <a:srgbClr val="D1D5DB"/>
                </a:solidFill>
                <a:effectLst/>
                <a:latin typeface="Söhne"/>
              </a:rPr>
              <a:t>head.next</a:t>
            </a:r>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    while </a:t>
            </a:r>
            <a:r>
              <a:rPr lang="en-US" b="0" i="0" dirty="0" err="1">
                <a:solidFill>
                  <a:srgbClr val="D1D5DB"/>
                </a:solidFill>
                <a:effectLst/>
                <a:latin typeface="Söhne"/>
              </a:rPr>
              <a:t>fastPointer</a:t>
            </a:r>
            <a:r>
              <a:rPr lang="en-US" b="0" i="0" dirty="0">
                <a:solidFill>
                  <a:srgbClr val="D1D5DB"/>
                </a:solidFill>
                <a:effectLst/>
                <a:latin typeface="Söhne"/>
              </a:rPr>
              <a:t> is not NULL and </a:t>
            </a:r>
            <a:r>
              <a:rPr lang="en-US" b="0" i="0" dirty="0" err="1">
                <a:solidFill>
                  <a:srgbClr val="D1D5DB"/>
                </a:solidFill>
                <a:effectLst/>
                <a:latin typeface="Söhne"/>
              </a:rPr>
              <a:t>fastPointer.next</a:t>
            </a:r>
            <a:r>
              <a:rPr lang="en-US" b="0" i="0" dirty="0">
                <a:solidFill>
                  <a:srgbClr val="D1D5DB"/>
                </a:solidFill>
                <a:effectLst/>
                <a:latin typeface="Söhne"/>
              </a:rPr>
              <a:t> is not NULL:</a:t>
            </a:r>
          </a:p>
          <a:p>
            <a:pPr algn="l"/>
            <a:r>
              <a:rPr lang="en-US" b="0" i="0" dirty="0">
                <a:solidFill>
                  <a:srgbClr val="D1D5DB"/>
                </a:solidFill>
                <a:effectLst/>
                <a:latin typeface="Söhne"/>
              </a:rPr>
              <a:t>        </a:t>
            </a:r>
            <a:r>
              <a:rPr lang="en-US" b="0" i="0" dirty="0" err="1">
                <a:solidFill>
                  <a:srgbClr val="D1D5DB"/>
                </a:solidFill>
                <a:effectLst/>
                <a:latin typeface="Söhne"/>
              </a:rPr>
              <a:t>slowPointer</a:t>
            </a:r>
            <a:r>
              <a:rPr lang="en-US" b="0" i="0" dirty="0">
                <a:solidFill>
                  <a:srgbClr val="D1D5DB"/>
                </a:solidFill>
                <a:effectLst/>
                <a:latin typeface="Söhne"/>
              </a:rPr>
              <a:t> = </a:t>
            </a:r>
            <a:r>
              <a:rPr lang="en-US" b="0" i="0" dirty="0" err="1">
                <a:solidFill>
                  <a:srgbClr val="D1D5DB"/>
                </a:solidFill>
                <a:effectLst/>
                <a:latin typeface="Söhne"/>
              </a:rPr>
              <a:t>slowPointer.next</a:t>
            </a:r>
            <a:endParaRPr lang="en-US" b="0" i="0" dirty="0">
              <a:solidFill>
                <a:srgbClr val="D1D5DB"/>
              </a:solidFill>
              <a:effectLst/>
              <a:latin typeface="Söhne"/>
            </a:endParaRPr>
          </a:p>
          <a:p>
            <a:pPr algn="l"/>
            <a:r>
              <a:rPr lang="en-US" b="0" i="0" dirty="0">
                <a:solidFill>
                  <a:srgbClr val="D1D5DB"/>
                </a:solidFill>
                <a:effectLst/>
                <a:latin typeface="Söhne"/>
              </a:rPr>
              <a:t>        </a:t>
            </a:r>
            <a:r>
              <a:rPr lang="en-US" b="0" i="0" dirty="0" err="1">
                <a:solidFill>
                  <a:srgbClr val="D1D5DB"/>
                </a:solidFill>
                <a:effectLst/>
                <a:latin typeface="Söhne"/>
              </a:rPr>
              <a:t>fastPointer</a:t>
            </a:r>
            <a:r>
              <a:rPr lang="en-US" b="0" i="0" dirty="0">
                <a:solidFill>
                  <a:srgbClr val="D1D5DB"/>
                </a:solidFill>
                <a:effectLst/>
                <a:latin typeface="Söhne"/>
              </a:rPr>
              <a:t> = </a:t>
            </a:r>
            <a:r>
              <a:rPr lang="en-US" b="0" i="0" dirty="0" err="1">
                <a:solidFill>
                  <a:srgbClr val="D1D5DB"/>
                </a:solidFill>
                <a:effectLst/>
                <a:latin typeface="Söhne"/>
              </a:rPr>
              <a:t>fastPointer.next.next</a:t>
            </a:r>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    return </a:t>
            </a:r>
            <a:r>
              <a:rPr lang="en-US" b="0" i="0" dirty="0" err="1">
                <a:solidFill>
                  <a:srgbClr val="D1D5DB"/>
                </a:solidFill>
                <a:effectLst/>
                <a:latin typeface="Söhne"/>
              </a:rPr>
              <a:t>slowPointer</a:t>
            </a:r>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function merge(left, right):</a:t>
            </a:r>
          </a:p>
          <a:p>
            <a:pPr algn="l"/>
            <a:r>
              <a:rPr lang="en-US" b="0" i="0" dirty="0">
                <a:solidFill>
                  <a:srgbClr val="D1D5DB"/>
                </a:solidFill>
                <a:effectLst/>
                <a:latin typeface="Söhne"/>
              </a:rPr>
              <a:t>    </a:t>
            </a:r>
            <a:r>
              <a:rPr lang="en-US" b="0" i="0" dirty="0" err="1">
                <a:solidFill>
                  <a:srgbClr val="D1D5DB"/>
                </a:solidFill>
                <a:effectLst/>
                <a:latin typeface="Söhne"/>
              </a:rPr>
              <a:t>mergedList</a:t>
            </a:r>
            <a:r>
              <a:rPr lang="en-US" b="0" i="0" dirty="0">
                <a:solidFill>
                  <a:srgbClr val="D1D5DB"/>
                </a:solidFill>
                <a:effectLst/>
                <a:latin typeface="Söhne"/>
              </a:rPr>
              <a:t> = NULL</a:t>
            </a:r>
          </a:p>
          <a:p>
            <a:pPr algn="l"/>
            <a:r>
              <a:rPr lang="en-US" b="0" i="0" dirty="0">
                <a:solidFill>
                  <a:srgbClr val="D1D5DB"/>
                </a:solidFill>
                <a:effectLst/>
                <a:latin typeface="Söhne"/>
              </a:rPr>
              <a:t>    tail = NULL</a:t>
            </a:r>
          </a:p>
          <a:p>
            <a:pPr algn="l"/>
            <a:endParaRPr lang="en-US" b="0" i="0" dirty="0">
              <a:solidFill>
                <a:srgbClr val="D1D5DB"/>
              </a:solidFill>
              <a:effectLst/>
              <a:latin typeface="Söhne"/>
            </a:endParaRPr>
          </a:p>
          <a:p>
            <a:pPr algn="l"/>
            <a:r>
              <a:rPr lang="en-US" b="0" i="0" dirty="0">
                <a:solidFill>
                  <a:srgbClr val="D1D5DB"/>
                </a:solidFill>
                <a:effectLst/>
                <a:latin typeface="Söhne"/>
              </a:rPr>
              <a:t>    while left is not NULL and right is not NULL:</a:t>
            </a:r>
          </a:p>
          <a:p>
            <a:pPr algn="l"/>
            <a:r>
              <a:rPr lang="en-US" b="0" i="0" dirty="0">
                <a:solidFill>
                  <a:srgbClr val="D1D5DB"/>
                </a:solidFill>
                <a:effectLst/>
                <a:latin typeface="Söhne"/>
              </a:rPr>
              <a:t>        if </a:t>
            </a:r>
            <a:r>
              <a:rPr lang="en-US" b="0" i="0" dirty="0" err="1">
                <a:solidFill>
                  <a:srgbClr val="D1D5DB"/>
                </a:solidFill>
                <a:effectLst/>
                <a:latin typeface="Söhne"/>
              </a:rPr>
              <a:t>left.data</a:t>
            </a:r>
            <a:r>
              <a:rPr lang="en-US" b="0" i="0" dirty="0">
                <a:solidFill>
                  <a:srgbClr val="D1D5DB"/>
                </a:solidFill>
                <a:effectLst/>
                <a:latin typeface="Söhne"/>
              </a:rPr>
              <a:t> &lt;= </a:t>
            </a:r>
            <a:r>
              <a:rPr lang="en-US" b="0" i="0" dirty="0" err="1">
                <a:solidFill>
                  <a:srgbClr val="D1D5DB"/>
                </a:solidFill>
                <a:effectLst/>
                <a:latin typeface="Söhne"/>
              </a:rPr>
              <a:t>right.data</a:t>
            </a:r>
            <a:r>
              <a:rPr lang="en-US" b="0" i="0" dirty="0">
                <a:solidFill>
                  <a:srgbClr val="D1D5DB"/>
                </a:solidFill>
                <a:effectLst/>
                <a:latin typeface="Söhne"/>
              </a:rPr>
              <a:t>:</a:t>
            </a:r>
          </a:p>
          <a:p>
            <a:pPr algn="l"/>
            <a:r>
              <a:rPr lang="en-US" b="0" i="0" dirty="0">
                <a:solidFill>
                  <a:srgbClr val="D1D5DB"/>
                </a:solidFill>
                <a:effectLst/>
                <a:latin typeface="Söhne"/>
              </a:rPr>
              <a:t>            if </a:t>
            </a:r>
            <a:r>
              <a:rPr lang="en-US" b="0" i="0" dirty="0" err="1">
                <a:solidFill>
                  <a:srgbClr val="D1D5DB"/>
                </a:solidFill>
                <a:effectLst/>
                <a:latin typeface="Söhne"/>
              </a:rPr>
              <a:t>mergedList</a:t>
            </a:r>
            <a:r>
              <a:rPr lang="en-US" b="0" i="0" dirty="0">
                <a:solidFill>
                  <a:srgbClr val="D1D5DB"/>
                </a:solidFill>
                <a:effectLst/>
                <a:latin typeface="Söhne"/>
              </a:rPr>
              <a:t> is NULL:</a:t>
            </a:r>
          </a:p>
          <a:p>
            <a:pPr algn="l"/>
            <a:r>
              <a:rPr lang="en-US" b="0" i="0" dirty="0">
                <a:solidFill>
                  <a:srgbClr val="D1D5DB"/>
                </a:solidFill>
                <a:effectLst/>
                <a:latin typeface="Söhne"/>
              </a:rPr>
              <a:t>                </a:t>
            </a:r>
            <a:r>
              <a:rPr lang="en-US" b="0" i="0" dirty="0" err="1">
                <a:solidFill>
                  <a:srgbClr val="D1D5DB"/>
                </a:solidFill>
                <a:effectLst/>
                <a:latin typeface="Söhne"/>
              </a:rPr>
              <a:t>mergedList</a:t>
            </a:r>
            <a:r>
              <a:rPr lang="en-US" b="0" i="0" dirty="0">
                <a:solidFill>
                  <a:srgbClr val="D1D5DB"/>
                </a:solidFill>
                <a:effectLst/>
                <a:latin typeface="Söhne"/>
              </a:rPr>
              <a:t> = tail = left</a:t>
            </a:r>
          </a:p>
          <a:p>
            <a:pPr algn="l"/>
            <a:r>
              <a:rPr lang="en-US" b="0" i="0" dirty="0">
                <a:solidFill>
                  <a:srgbClr val="D1D5DB"/>
                </a:solidFill>
                <a:effectLst/>
                <a:latin typeface="Söhne"/>
              </a:rPr>
              <a:t>            else:</a:t>
            </a:r>
          </a:p>
          <a:p>
            <a:pPr algn="l"/>
            <a:r>
              <a:rPr lang="en-US" b="0" i="0" dirty="0">
                <a:solidFill>
                  <a:srgbClr val="D1D5DB"/>
                </a:solidFill>
                <a:effectLst/>
                <a:latin typeface="Söhne"/>
              </a:rPr>
              <a:t>                </a:t>
            </a:r>
            <a:r>
              <a:rPr lang="en-US" b="0" i="0" dirty="0" err="1">
                <a:solidFill>
                  <a:srgbClr val="D1D5DB"/>
                </a:solidFill>
                <a:effectLst/>
                <a:latin typeface="Söhne"/>
              </a:rPr>
              <a:t>tail.next</a:t>
            </a:r>
            <a:r>
              <a:rPr lang="en-US" b="0" i="0" dirty="0">
                <a:solidFill>
                  <a:srgbClr val="D1D5DB"/>
                </a:solidFill>
                <a:effectLst/>
                <a:latin typeface="Söhne"/>
              </a:rPr>
              <a:t> = left</a:t>
            </a:r>
          </a:p>
          <a:p>
            <a:pPr algn="l"/>
            <a:r>
              <a:rPr lang="en-US" b="0" i="0" dirty="0">
                <a:solidFill>
                  <a:srgbClr val="D1D5DB"/>
                </a:solidFill>
                <a:effectLst/>
                <a:latin typeface="Söhne"/>
              </a:rPr>
              <a:t>                tail = left</a:t>
            </a:r>
          </a:p>
          <a:p>
            <a:pPr algn="l"/>
            <a:r>
              <a:rPr lang="en-US" b="0" i="0" dirty="0">
                <a:solidFill>
                  <a:srgbClr val="D1D5DB"/>
                </a:solidFill>
                <a:effectLst/>
                <a:latin typeface="Söhne"/>
              </a:rPr>
              <a:t>            left = </a:t>
            </a:r>
            <a:r>
              <a:rPr lang="en-US" b="0" i="0" dirty="0" err="1">
                <a:solidFill>
                  <a:srgbClr val="D1D5DB"/>
                </a:solidFill>
                <a:effectLst/>
                <a:latin typeface="Söhne"/>
              </a:rPr>
              <a:t>left.next</a:t>
            </a:r>
            <a:endParaRPr lang="en-US" b="0" i="0" dirty="0">
              <a:solidFill>
                <a:srgbClr val="D1D5DB"/>
              </a:solidFill>
              <a:effectLst/>
              <a:latin typeface="Söhne"/>
            </a:endParaRPr>
          </a:p>
          <a:p>
            <a:pPr algn="l"/>
            <a:r>
              <a:rPr lang="en-US" b="0" i="0" dirty="0">
                <a:solidFill>
                  <a:srgbClr val="D1D5DB"/>
                </a:solidFill>
                <a:effectLst/>
                <a:latin typeface="Söhne"/>
              </a:rPr>
              <a:t>        else:</a:t>
            </a:r>
          </a:p>
          <a:p>
            <a:pPr algn="l"/>
            <a:r>
              <a:rPr lang="en-US" b="0" i="0" dirty="0">
                <a:solidFill>
                  <a:srgbClr val="D1D5DB"/>
                </a:solidFill>
                <a:effectLst/>
                <a:latin typeface="Söhne"/>
              </a:rPr>
              <a:t>            if </a:t>
            </a:r>
            <a:r>
              <a:rPr lang="en-US" b="0" i="0" dirty="0" err="1">
                <a:solidFill>
                  <a:srgbClr val="D1D5DB"/>
                </a:solidFill>
                <a:effectLst/>
                <a:latin typeface="Söhne"/>
              </a:rPr>
              <a:t>mergedList</a:t>
            </a:r>
            <a:r>
              <a:rPr lang="en-US" b="0" i="0" dirty="0">
                <a:solidFill>
                  <a:srgbClr val="D1D5DB"/>
                </a:solidFill>
                <a:effectLst/>
                <a:latin typeface="Söhne"/>
              </a:rPr>
              <a:t> is NULL:</a:t>
            </a:r>
          </a:p>
          <a:p>
            <a:pPr algn="l"/>
            <a:r>
              <a:rPr lang="en-US" b="0" i="0" dirty="0">
                <a:solidFill>
                  <a:srgbClr val="D1D5DB"/>
                </a:solidFill>
                <a:effectLst/>
                <a:latin typeface="Söhne"/>
              </a:rPr>
              <a:t>                </a:t>
            </a:r>
            <a:r>
              <a:rPr lang="en-US" b="0" i="0" dirty="0" err="1">
                <a:solidFill>
                  <a:srgbClr val="D1D5DB"/>
                </a:solidFill>
                <a:effectLst/>
                <a:latin typeface="Söhne"/>
              </a:rPr>
              <a:t>mergedList</a:t>
            </a:r>
            <a:r>
              <a:rPr lang="en-US" b="0" i="0" dirty="0">
                <a:solidFill>
                  <a:srgbClr val="D1D5DB"/>
                </a:solidFill>
                <a:effectLst/>
                <a:latin typeface="Söhne"/>
              </a:rPr>
              <a:t> = tail = right</a:t>
            </a:r>
          </a:p>
          <a:p>
            <a:pPr algn="l"/>
            <a:r>
              <a:rPr lang="en-US" b="0" i="0" dirty="0">
                <a:solidFill>
                  <a:srgbClr val="D1D5DB"/>
                </a:solidFill>
                <a:effectLst/>
                <a:latin typeface="Söhne"/>
              </a:rPr>
              <a:t>            else:</a:t>
            </a:r>
          </a:p>
          <a:p>
            <a:pPr algn="l"/>
            <a:r>
              <a:rPr lang="en-US" b="0" i="0" dirty="0">
                <a:solidFill>
                  <a:srgbClr val="D1D5DB"/>
                </a:solidFill>
                <a:effectLst/>
                <a:latin typeface="Söhne"/>
              </a:rPr>
              <a:t>                </a:t>
            </a:r>
            <a:r>
              <a:rPr lang="en-US" b="0" i="0" dirty="0" err="1">
                <a:solidFill>
                  <a:srgbClr val="D1D5DB"/>
                </a:solidFill>
                <a:effectLst/>
                <a:latin typeface="Söhne"/>
              </a:rPr>
              <a:t>tail.next</a:t>
            </a:r>
            <a:r>
              <a:rPr lang="en-US" b="0" i="0" dirty="0">
                <a:solidFill>
                  <a:srgbClr val="D1D5DB"/>
                </a:solidFill>
                <a:effectLst/>
                <a:latin typeface="Söhne"/>
              </a:rPr>
              <a:t> = right</a:t>
            </a:r>
          </a:p>
          <a:p>
            <a:pPr algn="l"/>
            <a:r>
              <a:rPr lang="en-US" b="0" i="0" dirty="0">
                <a:solidFill>
                  <a:srgbClr val="D1D5DB"/>
                </a:solidFill>
                <a:effectLst/>
                <a:latin typeface="Söhne"/>
              </a:rPr>
              <a:t>                tail = right</a:t>
            </a:r>
          </a:p>
          <a:p>
            <a:pPr algn="l"/>
            <a:r>
              <a:rPr lang="en-US" b="0" i="0" dirty="0">
                <a:solidFill>
                  <a:srgbClr val="D1D5DB"/>
                </a:solidFill>
                <a:effectLst/>
                <a:latin typeface="Söhne"/>
              </a:rPr>
              <a:t>            right = </a:t>
            </a:r>
            <a:r>
              <a:rPr lang="en-US" b="0" i="0" dirty="0" err="1">
                <a:solidFill>
                  <a:srgbClr val="D1D5DB"/>
                </a:solidFill>
                <a:effectLst/>
                <a:latin typeface="Söhne"/>
              </a:rPr>
              <a:t>right.next</a:t>
            </a:r>
            <a:endParaRPr lang="en-US" b="0" i="0" dirty="0">
              <a:solidFill>
                <a:srgbClr val="D1D5DB"/>
              </a:solidFill>
              <a:effectLst/>
              <a:latin typeface="Söhne"/>
            </a:endParaRPr>
          </a:p>
          <a:p>
            <a:pPr algn="l"/>
            <a:endParaRPr lang="en-US" b="0" i="0" dirty="0">
              <a:solidFill>
                <a:srgbClr val="D1D5DB"/>
              </a:solidFill>
              <a:effectLst/>
              <a:latin typeface="Söhne"/>
            </a:endParaRPr>
          </a:p>
          <a:p>
            <a:pPr algn="l"/>
            <a:r>
              <a:rPr lang="en-US" b="0" i="0" dirty="0">
                <a:solidFill>
                  <a:srgbClr val="D1D5DB"/>
                </a:solidFill>
                <a:effectLst/>
                <a:latin typeface="Söhne"/>
              </a:rPr>
              <a:t>    // Append remaining elements from both lists</a:t>
            </a:r>
          </a:p>
          <a:p>
            <a:pPr algn="l"/>
            <a:r>
              <a:rPr lang="en-US" b="0" i="0" dirty="0">
                <a:solidFill>
                  <a:srgbClr val="D1D5DB"/>
                </a:solidFill>
                <a:effectLst/>
                <a:latin typeface="Söhne"/>
              </a:rPr>
              <a:t>    if left is not NULL:</a:t>
            </a:r>
          </a:p>
          <a:p>
            <a:pPr algn="l"/>
            <a:r>
              <a:rPr lang="en-US" b="0" i="0" dirty="0">
                <a:solidFill>
                  <a:srgbClr val="D1D5DB"/>
                </a:solidFill>
                <a:effectLst/>
                <a:latin typeface="Söhne"/>
              </a:rPr>
              <a:t>        </a:t>
            </a:r>
            <a:r>
              <a:rPr lang="en-US" b="0" i="0" dirty="0" err="1">
                <a:solidFill>
                  <a:srgbClr val="D1D5DB"/>
                </a:solidFill>
                <a:effectLst/>
                <a:latin typeface="Söhne"/>
              </a:rPr>
              <a:t>tail.next</a:t>
            </a:r>
            <a:r>
              <a:rPr lang="en-US" b="0" i="0" dirty="0">
                <a:solidFill>
                  <a:srgbClr val="D1D5DB"/>
                </a:solidFill>
                <a:effectLst/>
                <a:latin typeface="Söhne"/>
              </a:rPr>
              <a:t> = left</a:t>
            </a:r>
          </a:p>
          <a:p>
            <a:pPr algn="l"/>
            <a:r>
              <a:rPr lang="en-US" b="0" i="0" dirty="0">
                <a:solidFill>
                  <a:srgbClr val="D1D5DB"/>
                </a:solidFill>
                <a:effectLst/>
                <a:latin typeface="Söhne"/>
              </a:rPr>
              <a:t>    else:</a:t>
            </a:r>
          </a:p>
          <a:p>
            <a:pPr algn="l"/>
            <a:r>
              <a:rPr lang="en-US" b="0" i="0" dirty="0">
                <a:solidFill>
                  <a:srgbClr val="D1D5DB"/>
                </a:solidFill>
                <a:effectLst/>
                <a:latin typeface="Söhne"/>
              </a:rPr>
              <a:t>        </a:t>
            </a:r>
            <a:r>
              <a:rPr lang="en-US" b="0" i="0" dirty="0" err="1">
                <a:solidFill>
                  <a:srgbClr val="D1D5DB"/>
                </a:solidFill>
                <a:effectLst/>
                <a:latin typeface="Söhne"/>
              </a:rPr>
              <a:t>tail.next</a:t>
            </a:r>
            <a:r>
              <a:rPr lang="en-US" b="0" i="0" dirty="0">
                <a:solidFill>
                  <a:srgbClr val="D1D5DB"/>
                </a:solidFill>
                <a:effectLst/>
                <a:latin typeface="Söhne"/>
              </a:rPr>
              <a:t> = right</a:t>
            </a:r>
          </a:p>
          <a:p>
            <a:pPr algn="l"/>
            <a:endParaRPr lang="en-US" b="0" i="0" dirty="0">
              <a:solidFill>
                <a:srgbClr val="D1D5DB"/>
              </a:solidFill>
              <a:effectLst/>
              <a:latin typeface="Söhne"/>
            </a:endParaRPr>
          </a:p>
          <a:p>
            <a:pPr algn="l"/>
            <a:r>
              <a:rPr lang="en-US" b="0" i="0" dirty="0">
                <a:solidFill>
                  <a:srgbClr val="D1D5DB"/>
                </a:solidFill>
                <a:effectLst/>
                <a:latin typeface="Söhne"/>
              </a:rPr>
              <a:t>    return </a:t>
            </a:r>
            <a:r>
              <a:rPr lang="en-US" b="0" i="0" dirty="0" err="1">
                <a:solidFill>
                  <a:srgbClr val="D1D5DB"/>
                </a:solidFill>
                <a:effectLst/>
                <a:latin typeface="Söhne"/>
              </a:rPr>
              <a:t>mergedList</a:t>
            </a:r>
            <a:endParaRPr lang="en-US" b="0" i="0" dirty="0">
              <a:solidFill>
                <a:srgbClr val="D1D5DB"/>
              </a:solidFill>
              <a:effectLst/>
              <a:latin typeface="Söhne"/>
            </a:endParaRPr>
          </a:p>
          <a:p>
            <a:pPr algn="l"/>
            <a:endParaRPr lang="en-US"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8</a:t>
            </a:fld>
            <a:endParaRPr lang="en-US"/>
          </a:p>
        </p:txBody>
      </p:sp>
    </p:spTree>
    <p:extLst>
      <p:ext uri="{BB962C8B-B14F-4D97-AF65-F5344CB8AC3E}">
        <p14:creationId xmlns:p14="http://schemas.microsoft.com/office/powerpoint/2010/main" val="916853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The time complexity of the </a:t>
            </a:r>
            <a:r>
              <a:rPr lang="en-US" b="0" i="0" dirty="0" err="1">
                <a:solidFill>
                  <a:srgbClr val="D1D5DB"/>
                </a:solidFill>
                <a:effectLst/>
                <a:latin typeface="Söhne"/>
              </a:rPr>
              <a:t>addAtEndCircularLinkedList</a:t>
            </a:r>
            <a:r>
              <a:rPr lang="en-US" b="0" i="0" dirty="0">
                <a:solidFill>
                  <a:srgbClr val="D1D5DB"/>
                </a:solidFill>
                <a:effectLst/>
                <a:latin typeface="Söhne"/>
              </a:rPr>
              <a:t> algorithm depends on the number of nodes in the circular linked list. Let's analyze the time complexity step by step:</a:t>
            </a:r>
          </a:p>
          <a:p>
            <a:pPr algn="l">
              <a:buFont typeface="+mj-lt"/>
              <a:buAutoNum type="arabicPeriod"/>
            </a:pPr>
            <a:r>
              <a:rPr lang="en-US" b="1" i="0" dirty="0">
                <a:solidFill>
                  <a:srgbClr val="D1D5DB"/>
                </a:solidFill>
                <a:effectLst/>
                <a:latin typeface="Söhne"/>
              </a:rPr>
              <a:t>Base Case Check:</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initial check for whether the list is empty is a constant-time operation, O(1).</a:t>
            </a:r>
          </a:p>
          <a:p>
            <a:pPr algn="l">
              <a:buFont typeface="+mj-lt"/>
              <a:buAutoNum type="arabicPeriod"/>
            </a:pPr>
            <a:r>
              <a:rPr lang="en-US" b="1" i="0" dirty="0">
                <a:solidFill>
                  <a:srgbClr val="D1D5DB"/>
                </a:solidFill>
                <a:effectLst/>
                <a:latin typeface="Söhne"/>
              </a:rPr>
              <a:t>Creating a New Node:</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Creating a new node using </a:t>
            </a:r>
            <a:r>
              <a:rPr lang="en-US" b="0" i="0" dirty="0" err="1">
                <a:solidFill>
                  <a:srgbClr val="D1D5DB"/>
                </a:solidFill>
                <a:effectLst/>
                <a:latin typeface="Söhne"/>
              </a:rPr>
              <a:t>createNode</a:t>
            </a:r>
            <a:r>
              <a:rPr lang="en-US" b="0" i="0" dirty="0">
                <a:solidFill>
                  <a:srgbClr val="D1D5DB"/>
                </a:solidFill>
                <a:effectLst/>
                <a:latin typeface="Söhne"/>
              </a:rPr>
              <a:t>(value) is a constant-time operation, O(1).</a:t>
            </a:r>
          </a:p>
          <a:p>
            <a:pPr algn="l">
              <a:buFont typeface="+mj-lt"/>
              <a:buAutoNum type="arabicPeriod"/>
            </a:pPr>
            <a:r>
              <a:rPr lang="en-US" b="1" i="0" dirty="0">
                <a:solidFill>
                  <a:srgbClr val="D1D5DB"/>
                </a:solidFill>
                <a:effectLst/>
                <a:latin typeface="Söhne"/>
              </a:rPr>
              <a:t>Inserting at the End:</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If the list is not empty, the algorithm traverses the circular list to find the node before the head.</a:t>
            </a:r>
          </a:p>
          <a:p>
            <a:pPr marL="742950" lvl="1" indent="-285750" algn="l">
              <a:buFont typeface="+mj-lt"/>
              <a:buAutoNum type="arabicPeriod"/>
            </a:pPr>
            <a:r>
              <a:rPr lang="en-US" b="0" i="0" dirty="0">
                <a:solidFill>
                  <a:srgbClr val="D1D5DB"/>
                </a:solidFill>
                <a:effectLst/>
                <a:latin typeface="Söhne"/>
              </a:rPr>
              <a:t>In the worst case, the traversal requires visiting each node once. Therefore, the traversal has a time complexity of O(N), where N is the number of nodes in the circular linked list.</a:t>
            </a:r>
          </a:p>
          <a:p>
            <a:pPr algn="l">
              <a:buFont typeface="+mj-lt"/>
              <a:buAutoNum type="arabicPeriod"/>
            </a:pPr>
            <a:r>
              <a:rPr lang="en-US" b="1" i="0" dirty="0">
                <a:solidFill>
                  <a:srgbClr val="D1D5DB"/>
                </a:solidFill>
                <a:effectLst/>
                <a:latin typeface="Söhne"/>
              </a:rPr>
              <a:t>Inserting the New Node:</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After finding the node before the head, the algorithm inserts the new node at the end. This is a constant-time operation, O(1).</a:t>
            </a:r>
          </a:p>
          <a:p>
            <a:pPr algn="l"/>
            <a:r>
              <a:rPr lang="en-US" b="0" i="0" dirty="0">
                <a:solidFill>
                  <a:srgbClr val="D1D5DB"/>
                </a:solidFill>
                <a:effectLst/>
                <a:latin typeface="Söhne"/>
              </a:rPr>
              <a:t>The dominant factor in the time complexity is the traversal of the circular list, resulting in an overall time complexity of O(N), where N is the number of nodes in the circular linked list. If the list is empty, the time complexity is O(1).</a:t>
            </a:r>
          </a:p>
          <a:p>
            <a:endParaRPr lang="en-US" dirty="0"/>
          </a:p>
        </p:txBody>
      </p:sp>
      <p:sp>
        <p:nvSpPr>
          <p:cNvPr id="4" name="Slide Number Placeholder 3"/>
          <p:cNvSpPr>
            <a:spLocks noGrp="1"/>
          </p:cNvSpPr>
          <p:nvPr>
            <p:ph type="sldNum" sz="quarter" idx="5"/>
          </p:nvPr>
        </p:nvSpPr>
        <p:spPr/>
        <p:txBody>
          <a:bodyPr/>
          <a:lstStyle/>
          <a:p>
            <a:fld id="{72391380-8262-4EC7-BAB8-26F58A320275}" type="slidenum">
              <a:rPr lang="en-US" smtClean="0"/>
              <a:t>9</a:t>
            </a:fld>
            <a:endParaRPr lang="en-US"/>
          </a:p>
        </p:txBody>
      </p:sp>
    </p:spTree>
    <p:extLst>
      <p:ext uri="{BB962C8B-B14F-4D97-AF65-F5344CB8AC3E}">
        <p14:creationId xmlns:p14="http://schemas.microsoft.com/office/powerpoint/2010/main" val="1932442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72391380-8262-4EC7-BAB8-26F58A320275}" type="slidenum">
              <a:rPr lang="en-US" smtClean="0"/>
              <a:t>10</a:t>
            </a:fld>
            <a:endParaRPr lang="en-US"/>
          </a:p>
        </p:txBody>
      </p:sp>
    </p:spTree>
    <p:extLst>
      <p:ext uri="{BB962C8B-B14F-4D97-AF65-F5344CB8AC3E}">
        <p14:creationId xmlns:p14="http://schemas.microsoft.com/office/powerpoint/2010/main" val="1754766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C99D-C2AD-44EB-1036-FABD2E3F8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23040-E244-B705-A225-C1696954A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1EBED-E189-62AD-E862-8D5648CD080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D6AFEB48-55F8-B08D-0F7F-3925D756C0D9}"/>
              </a:ext>
            </a:extLst>
          </p:cNvPr>
          <p:cNvSpPr>
            <a:spLocks noGrp="1"/>
          </p:cNvSpPr>
          <p:nvPr>
            <p:ph type="sldNum" sz="quarter" idx="5"/>
          </p:nvPr>
        </p:nvSpPr>
        <p:spPr/>
        <p:txBody>
          <a:bodyPr/>
          <a:lstStyle/>
          <a:p>
            <a:fld id="{72391380-8262-4EC7-BAB8-26F58A320275}" type="slidenum">
              <a:rPr lang="en-US" smtClean="0"/>
              <a:t>11</a:t>
            </a:fld>
            <a:endParaRPr lang="en-US"/>
          </a:p>
        </p:txBody>
      </p:sp>
    </p:spTree>
    <p:extLst>
      <p:ext uri="{BB962C8B-B14F-4D97-AF65-F5344CB8AC3E}">
        <p14:creationId xmlns:p14="http://schemas.microsoft.com/office/powerpoint/2010/main" val="771099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FF05-1AA8-6F03-9062-F5A25A28C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EFF30-9DF0-7893-6D0D-CFDAED983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D7DE6-F764-C210-F225-37F8D681C0DF}"/>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FFE5632A-0441-8A56-8FAF-8DD9CC732D48}"/>
              </a:ext>
            </a:extLst>
          </p:cNvPr>
          <p:cNvSpPr>
            <a:spLocks noGrp="1"/>
          </p:cNvSpPr>
          <p:nvPr>
            <p:ph type="sldNum" sz="quarter" idx="5"/>
          </p:nvPr>
        </p:nvSpPr>
        <p:spPr/>
        <p:txBody>
          <a:bodyPr/>
          <a:lstStyle/>
          <a:p>
            <a:fld id="{72391380-8262-4EC7-BAB8-26F58A320275}" type="slidenum">
              <a:rPr lang="en-US" smtClean="0"/>
              <a:t>12</a:t>
            </a:fld>
            <a:endParaRPr lang="en-US"/>
          </a:p>
        </p:txBody>
      </p:sp>
    </p:spTree>
    <p:extLst>
      <p:ext uri="{BB962C8B-B14F-4D97-AF65-F5344CB8AC3E}">
        <p14:creationId xmlns:p14="http://schemas.microsoft.com/office/powerpoint/2010/main" val="3063208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E074A9-18FF-057D-F05D-042F5C0A9A35}"/>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2F0D644C-F3E3-BD2F-EE1F-580F445D84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0E0A08B-E6DC-C4A0-6B42-5418EAA06461}"/>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E22A948C-9F2C-CFE6-28E0-56D06D15FB1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1026365-88E1-FBD8-E2CC-7A99634EF4C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6368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ADB872-81BA-4A65-3CC3-7AEA7F22424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B1F9213-4F2E-4B59-FECF-A957D7946AD9}"/>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B87B483-D662-5C2B-CD81-7F1379CA282A}"/>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50F2346A-1B0F-731C-65CD-9E96D8C076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93FEE12-59DA-5A46-91CE-B83BCDEFF1F2}"/>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02114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39C4DE-D944-62DB-0240-D155B157F2F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AF7165A-985F-8D08-7213-2DAF84DED7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E57341C-590C-9985-F610-BFA49726ED9A}"/>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259A9292-2C7A-6093-AAFC-5EC56594766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C0FF911-4D0D-4A09-4BC2-18CEB5112E80}"/>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1495177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621B93-B9DD-5DBC-BAFC-5A5F875BDC8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01AF364-447E-92A8-0E33-C56792036158}"/>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EC8858D1-3087-D5DF-8CEC-1507EDC856D3}"/>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24105F33-2C61-5220-A792-DB312621E1DF}"/>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6" name="מציין מיקום של כותרת תחתונה 5">
            <a:extLst>
              <a:ext uri="{FF2B5EF4-FFF2-40B4-BE49-F238E27FC236}">
                <a16:creationId xmlns:a16="http://schemas.microsoft.com/office/drawing/2014/main" id="{9F040669-07F4-D987-6C83-14AE6C04526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1FBB2D4-93C6-5EAF-20E0-221DC8148DBF}"/>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4005496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251DA4-910A-46BD-9350-1201D054FD7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B18A0DE-47EA-1C10-F99C-758614A8E0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10FEEE1D-B7ED-94F5-6C0E-AC15E7FACC8A}"/>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11736B8A-B6BD-6AC2-8EC8-201760A676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404B3A3-00F4-8263-744E-ACB233F4BEA2}"/>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0D7D250-66B2-7BAD-545B-F2AD94E7459F}"/>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8" name="מציין מיקום של כותרת תחתונה 7">
            <a:extLst>
              <a:ext uri="{FF2B5EF4-FFF2-40B4-BE49-F238E27FC236}">
                <a16:creationId xmlns:a16="http://schemas.microsoft.com/office/drawing/2014/main" id="{84C93965-E5D8-6DEE-7CD4-6902B712486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7DF1625-93F0-0584-3430-1960AA241CB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95839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FFC858-717E-CA40-A332-965FDAA21B8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D07A6D15-A8AD-D488-D300-792FD0132DF6}"/>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4" name="מציין מיקום של כותרת תחתונה 3">
            <a:extLst>
              <a:ext uri="{FF2B5EF4-FFF2-40B4-BE49-F238E27FC236}">
                <a16:creationId xmlns:a16="http://schemas.microsoft.com/office/drawing/2014/main" id="{B8056466-23EE-B77B-DF6C-6536CA06C503}"/>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A57BC434-4B3A-8314-BA9C-212174E8280A}"/>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85226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F4A2BB1F-2FD8-DAE5-B907-07600C45AC90}"/>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3" name="מציין מיקום של כותרת תחתונה 2">
            <a:extLst>
              <a:ext uri="{FF2B5EF4-FFF2-40B4-BE49-F238E27FC236}">
                <a16:creationId xmlns:a16="http://schemas.microsoft.com/office/drawing/2014/main" id="{63A90861-3A05-ED04-CD0F-D5C11389C6BB}"/>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046F814-DAF8-64B2-E81B-7FE737DF5088}"/>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449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981722-ABF2-8DA3-CE28-05B1D8ABE77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4C74908-C053-E82A-A7F3-864486ACD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3358DDC8-C16B-F0E4-D63D-24A9CB76D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8B1E7A43-8C2A-FBFA-AC45-DBFDB8E6FF1B}"/>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6" name="מציין מיקום של כותרת תחתונה 5">
            <a:extLst>
              <a:ext uri="{FF2B5EF4-FFF2-40B4-BE49-F238E27FC236}">
                <a16:creationId xmlns:a16="http://schemas.microsoft.com/office/drawing/2014/main" id="{9647E2E2-FBCD-FC48-DBDD-2557735E1AF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581F39D-7913-CEDE-EC9C-64C02B383953}"/>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10835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A2AC94-98C9-55F3-35EE-A800446D9F8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ECA953A0-8981-0422-8BCE-E72DB9FD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6470043-B00B-BD55-CABA-222822255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D6B64D2-9762-8937-398F-357DEEF7AA41}"/>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6" name="מציין מיקום של כותרת תחתונה 5">
            <a:extLst>
              <a:ext uri="{FF2B5EF4-FFF2-40B4-BE49-F238E27FC236}">
                <a16:creationId xmlns:a16="http://schemas.microsoft.com/office/drawing/2014/main" id="{1177BF27-96D7-69E6-1C1B-962CD16CE61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94EAC9D-D382-CAAF-E990-0C96974C8D87}"/>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3397127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188E2A-F9CB-2495-FE75-769EF70D6FF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1ED5B71-5A46-C065-267F-8CE2DA1B926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F1EA9F-A944-7167-849B-01E43F1262F4}"/>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C6A83FA1-C0CC-D4A2-9672-9831CA7C52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C0F531A-E76A-3772-9399-F95FE8476C8E}"/>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944369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853DFCF-CB4E-698C-7AB5-0748686934C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B110915-A2E3-7238-1024-4AFABDCC18E3}"/>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34730C0-0255-5DA8-E708-BBEA316C1FDE}"/>
              </a:ext>
            </a:extLst>
          </p:cNvPr>
          <p:cNvSpPr>
            <a:spLocks noGrp="1"/>
          </p:cNvSpPr>
          <p:nvPr>
            <p:ph type="dt" sz="half" idx="10"/>
          </p:nvPr>
        </p:nvSpPr>
        <p:spPr/>
        <p:txBody>
          <a:body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D4241A22-2BD6-3BEA-8C27-0FE8CB6720E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F923376-DC13-4788-9243-E17EA1EC4D2B}"/>
              </a:ext>
            </a:extLst>
          </p:cNvPr>
          <p:cNvSpPr>
            <a:spLocks noGrp="1"/>
          </p:cNvSpPr>
          <p:nvPr>
            <p:ph type="sldNum" sz="quarter" idx="12"/>
          </p:nvPr>
        </p:nvSpPr>
        <p:spPr/>
        <p:txBody>
          <a:bodyPr/>
          <a:lstStyle/>
          <a:p>
            <a:fld id="{207D2C24-4B6F-4387-B270-819B4A4D52BA}" type="slidenum">
              <a:rPr lang="he-IL" smtClean="0"/>
              <a:t>‹#›</a:t>
            </a:fld>
            <a:endParaRPr lang="he-IL"/>
          </a:p>
        </p:txBody>
      </p:sp>
    </p:spTree>
    <p:extLst>
      <p:ext uri="{BB962C8B-B14F-4D97-AF65-F5344CB8AC3E}">
        <p14:creationId xmlns:p14="http://schemas.microsoft.com/office/powerpoint/2010/main" val="294499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C44265B-043F-1F07-3CAB-932E925B704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7F7F275-8CE0-1ACF-B76A-589480F29F1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D03EBD0-0AD0-F437-0377-5282F4A62C7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FBD9C55-7868-4FF1-8666-2EC1F88A96B2}" type="datetimeFigureOut">
              <a:rPr lang="he-IL" smtClean="0"/>
              <a:t>י"ח.חשון.תשפ"ו</a:t>
            </a:fld>
            <a:endParaRPr lang="he-IL"/>
          </a:p>
        </p:txBody>
      </p:sp>
      <p:sp>
        <p:nvSpPr>
          <p:cNvPr id="5" name="מציין מיקום של כותרת תחתונה 4">
            <a:extLst>
              <a:ext uri="{FF2B5EF4-FFF2-40B4-BE49-F238E27FC236}">
                <a16:creationId xmlns:a16="http://schemas.microsoft.com/office/drawing/2014/main" id="{C38DA500-A716-7804-01EC-82DBC212E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FE65C948-B680-D4A3-8DE9-330AB8B2208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07D2C24-4B6F-4387-B270-819B4A4D52BA}" type="slidenum">
              <a:rPr lang="he-IL" smtClean="0"/>
              <a:t>‹#›</a:t>
            </a:fld>
            <a:endParaRPr lang="he-IL"/>
          </a:p>
        </p:txBody>
      </p:sp>
    </p:spTree>
    <p:extLst>
      <p:ext uri="{BB962C8B-B14F-4D97-AF65-F5344CB8AC3E}">
        <p14:creationId xmlns:p14="http://schemas.microsoft.com/office/powerpoint/2010/main" val="1840765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7F1C93-584D-5B12-0ED2-98ECB5BC1EA0}"/>
              </a:ext>
            </a:extLst>
          </p:cNvPr>
          <p:cNvSpPr txBox="1"/>
          <p:nvPr/>
        </p:nvSpPr>
        <p:spPr>
          <a:xfrm>
            <a:off x="3047499" y="940286"/>
            <a:ext cx="6097002" cy="523220"/>
          </a:xfrm>
          <a:prstGeom prst="rect">
            <a:avLst/>
          </a:prstGeom>
          <a:noFill/>
        </p:spPr>
        <p:txBody>
          <a:bodyPr wrap="square">
            <a:spAutoFit/>
          </a:bodyPr>
          <a:lstStyle/>
          <a:p>
            <a:pPr algn="ctr"/>
            <a:r>
              <a:rPr lang="en-US" sz="2800" dirty="0">
                <a:solidFill>
                  <a:schemeClr val="bg1"/>
                </a:solidFill>
              </a:rPr>
              <a:t>03-Linked List</a:t>
            </a:r>
          </a:p>
        </p:txBody>
      </p:sp>
    </p:spTree>
    <p:extLst>
      <p:ext uri="{BB962C8B-B14F-4D97-AF65-F5344CB8AC3E}">
        <p14:creationId xmlns:p14="http://schemas.microsoft.com/office/powerpoint/2010/main" val="296154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44A70B-2F97-C18B-19E0-3C289060AD6D}"/>
              </a:ext>
            </a:extLst>
          </p:cNvPr>
          <p:cNvSpPr txBox="1"/>
          <p:nvPr/>
        </p:nvSpPr>
        <p:spPr>
          <a:xfrm>
            <a:off x="2940715" y="591014"/>
            <a:ext cx="8327357" cy="2585323"/>
          </a:xfrm>
          <a:prstGeom prst="rect">
            <a:avLst/>
          </a:prstGeom>
          <a:noFill/>
        </p:spPr>
        <p:txBody>
          <a:bodyPr wrap="square">
            <a:spAutoFit/>
          </a:bodyPr>
          <a:lstStyle/>
          <a:p>
            <a:pPr marL="285750" indent="-285750" algn="just">
              <a:buFont typeface="Arial" panose="020B0604020202020204" pitchFamily="34" charset="0"/>
              <a:buChar char="•"/>
            </a:pPr>
            <a:r>
              <a:rPr lang="he-IL" dirty="0"/>
              <a:t>רשימה מקושרת היא מבנה נתונים שבו העצמים ערכיים (איברים) מסודרים בסדר ליניארי.</a:t>
            </a:r>
          </a:p>
          <a:p>
            <a:pPr marL="285750" indent="-285750" algn="just">
              <a:buFont typeface="Arial" panose="020B0604020202020204" pitchFamily="34" charset="0"/>
              <a:buChar char="•"/>
            </a:pPr>
            <a:endParaRPr lang="he-IL" dirty="0"/>
          </a:p>
          <a:p>
            <a:pPr marL="285750" indent="-285750" algn="just">
              <a:buFont typeface="Arial" panose="020B0604020202020204" pitchFamily="34" charset="0"/>
              <a:buChar char="•"/>
            </a:pPr>
            <a:r>
              <a:rPr lang="he-IL" dirty="0"/>
              <a:t>בניגוד למערך שבו הסדר הליניארי נקבע על ידי אינדקסים, ברשימה מקושרת הסדר נקבע על ידי מצביעים הכוללים בכל אחד מן העצמים.</a:t>
            </a:r>
          </a:p>
          <a:p>
            <a:pPr marL="285750" indent="-285750" algn="just">
              <a:buFont typeface="Arial" panose="020B0604020202020204" pitchFamily="34" charset="0"/>
              <a:buChar char="•"/>
            </a:pPr>
            <a:endParaRPr lang="he-IL" dirty="0"/>
          </a:p>
          <a:p>
            <a:pPr marL="285750" indent="-285750" algn="just">
              <a:buFont typeface="Arial" panose="020B0604020202020204" pitchFamily="34" charset="0"/>
              <a:buChar char="•"/>
            </a:pPr>
            <a:r>
              <a:rPr lang="he-IL" dirty="0"/>
              <a:t>כל איברים (עצמים) ברשימה מקושרת נמצאים בזיכרון באופן אקראי.</a:t>
            </a:r>
          </a:p>
          <a:p>
            <a:pPr marL="285750" indent="-285750" algn="just">
              <a:buFont typeface="Arial" panose="020B0604020202020204" pitchFamily="34" charset="0"/>
              <a:buChar char="•"/>
            </a:pPr>
            <a:endParaRPr lang="he-IL" dirty="0"/>
          </a:p>
          <a:p>
            <a:pPr marL="285750" indent="-285750" algn="just">
              <a:buFont typeface="Arial" panose="020B0604020202020204" pitchFamily="34" charset="0"/>
              <a:buChar char="•"/>
            </a:pPr>
            <a:r>
              <a:rPr lang="he-IL" dirty="0"/>
              <a:t>סוגים של רשימה מקושרת:</a:t>
            </a:r>
          </a:p>
          <a:p>
            <a:pPr algn="just"/>
            <a:endParaRPr lang="en-US" dirty="0"/>
          </a:p>
        </p:txBody>
      </p:sp>
      <p:pic>
        <p:nvPicPr>
          <p:cNvPr id="3" name="Picture 2" descr="A diagram of a data flow&#10;&#10;Description automatically generated">
            <a:extLst>
              <a:ext uri="{FF2B5EF4-FFF2-40B4-BE49-F238E27FC236}">
                <a16:creationId xmlns:a16="http://schemas.microsoft.com/office/drawing/2014/main" id="{E1FA9C25-FABA-6474-2976-3124AFA020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160" y="3176337"/>
            <a:ext cx="2916321" cy="1788380"/>
          </a:xfrm>
          <a:prstGeom prst="rect">
            <a:avLst/>
          </a:prstGeom>
        </p:spPr>
      </p:pic>
      <p:sp>
        <p:nvSpPr>
          <p:cNvPr id="6" name="TextBox 5">
            <a:extLst>
              <a:ext uri="{FF2B5EF4-FFF2-40B4-BE49-F238E27FC236}">
                <a16:creationId xmlns:a16="http://schemas.microsoft.com/office/drawing/2014/main" id="{804D0285-812D-2CC5-5285-4383FA89C7A2}"/>
              </a:ext>
            </a:extLst>
          </p:cNvPr>
          <p:cNvSpPr txBox="1"/>
          <p:nvPr/>
        </p:nvSpPr>
        <p:spPr>
          <a:xfrm>
            <a:off x="684557" y="2715771"/>
            <a:ext cx="2840956" cy="400110"/>
          </a:xfrm>
          <a:prstGeom prst="rect">
            <a:avLst/>
          </a:prstGeom>
          <a:noFill/>
        </p:spPr>
        <p:txBody>
          <a:bodyPr wrap="square">
            <a:spAutoFit/>
          </a:bodyPr>
          <a:lstStyle/>
          <a:p>
            <a:r>
              <a:rPr lang="he-IL" sz="2000" dirty="0">
                <a:solidFill>
                  <a:schemeClr val="accent6">
                    <a:lumMod val="75000"/>
                  </a:schemeClr>
                </a:solidFill>
              </a:rPr>
              <a:t>רשימה מקושרת חד-כיוונית</a:t>
            </a:r>
            <a:endParaRPr lang="en-US" sz="2000" dirty="0">
              <a:solidFill>
                <a:schemeClr val="accent6">
                  <a:lumMod val="75000"/>
                </a:schemeClr>
              </a:solidFill>
            </a:endParaRPr>
          </a:p>
        </p:txBody>
      </p:sp>
      <p:sp>
        <p:nvSpPr>
          <p:cNvPr id="8" name="TextBox 7">
            <a:extLst>
              <a:ext uri="{FF2B5EF4-FFF2-40B4-BE49-F238E27FC236}">
                <a16:creationId xmlns:a16="http://schemas.microsoft.com/office/drawing/2014/main" id="{BC5B078F-7B6F-FB0B-DDB6-A6B61C09482A}"/>
              </a:ext>
            </a:extLst>
          </p:cNvPr>
          <p:cNvSpPr txBox="1"/>
          <p:nvPr/>
        </p:nvSpPr>
        <p:spPr>
          <a:xfrm>
            <a:off x="4087771" y="2710488"/>
            <a:ext cx="2840956" cy="400110"/>
          </a:xfrm>
          <a:prstGeom prst="rect">
            <a:avLst/>
          </a:prstGeom>
          <a:noFill/>
        </p:spPr>
        <p:txBody>
          <a:bodyPr wrap="square">
            <a:spAutoFit/>
          </a:bodyPr>
          <a:lstStyle/>
          <a:p>
            <a:r>
              <a:rPr lang="he-IL" sz="2000" dirty="0">
                <a:solidFill>
                  <a:schemeClr val="accent6">
                    <a:lumMod val="75000"/>
                  </a:schemeClr>
                </a:solidFill>
              </a:rPr>
              <a:t>רשימה מקושרת דו-כיוונית</a:t>
            </a:r>
            <a:endParaRPr lang="en-US" sz="2000" dirty="0">
              <a:solidFill>
                <a:schemeClr val="accent6">
                  <a:lumMod val="75000"/>
                </a:schemeClr>
              </a:solidFill>
            </a:endParaRPr>
          </a:p>
        </p:txBody>
      </p:sp>
      <p:pic>
        <p:nvPicPr>
          <p:cNvPr id="10" name="Picture 9" descr="A black line with a black arrow and a black rectangle&#10;&#10;Description automatically generated">
            <a:extLst>
              <a:ext uri="{FF2B5EF4-FFF2-40B4-BE49-F238E27FC236}">
                <a16:creationId xmlns:a16="http://schemas.microsoft.com/office/drawing/2014/main" id="{F1751AEF-D4E3-7A2B-FC56-E92B4D841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2653" y="3176337"/>
            <a:ext cx="2981741" cy="1000265"/>
          </a:xfrm>
          <a:prstGeom prst="rect">
            <a:avLst/>
          </a:prstGeom>
        </p:spPr>
      </p:pic>
      <p:pic>
        <p:nvPicPr>
          <p:cNvPr id="12" name="Picture 11" descr="A black and white rectangular object with black arrows&#10;&#10;Description automatically generated with medium confidence">
            <a:extLst>
              <a:ext uri="{FF2B5EF4-FFF2-40B4-BE49-F238E27FC236}">
                <a16:creationId xmlns:a16="http://schemas.microsoft.com/office/drawing/2014/main" id="{9D084277-B85D-BDF6-E4EB-FCA36C7A5E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5106" y="4570556"/>
            <a:ext cx="6258798" cy="1257475"/>
          </a:xfrm>
          <a:prstGeom prst="rect">
            <a:avLst/>
          </a:prstGeom>
        </p:spPr>
      </p:pic>
      <p:sp>
        <p:nvSpPr>
          <p:cNvPr id="14" name="TextBox 13">
            <a:extLst>
              <a:ext uri="{FF2B5EF4-FFF2-40B4-BE49-F238E27FC236}">
                <a16:creationId xmlns:a16="http://schemas.microsoft.com/office/drawing/2014/main" id="{9D3FF8B3-7EA0-37F8-D849-04E93AEF177D}"/>
              </a:ext>
            </a:extLst>
          </p:cNvPr>
          <p:cNvSpPr txBox="1"/>
          <p:nvPr/>
        </p:nvSpPr>
        <p:spPr>
          <a:xfrm>
            <a:off x="7450202" y="4154355"/>
            <a:ext cx="2754080" cy="400110"/>
          </a:xfrm>
          <a:prstGeom prst="rect">
            <a:avLst/>
          </a:prstGeom>
          <a:noFill/>
        </p:spPr>
        <p:txBody>
          <a:bodyPr wrap="square">
            <a:spAutoFit/>
          </a:bodyPr>
          <a:lstStyle/>
          <a:p>
            <a:r>
              <a:rPr lang="he-IL" sz="2000" dirty="0">
                <a:solidFill>
                  <a:schemeClr val="accent6">
                    <a:lumMod val="75000"/>
                  </a:schemeClr>
                </a:solidFill>
              </a:rPr>
              <a:t>רשימה מקושרת מעגלית</a:t>
            </a:r>
            <a:endParaRPr lang="en-US" sz="2000" dirty="0">
              <a:solidFill>
                <a:schemeClr val="accent6">
                  <a:lumMod val="75000"/>
                </a:schemeClr>
              </a:solidFill>
            </a:endParaRPr>
          </a:p>
        </p:txBody>
      </p:sp>
      <p:sp>
        <p:nvSpPr>
          <p:cNvPr id="16" name="TextBox 15">
            <a:extLst>
              <a:ext uri="{FF2B5EF4-FFF2-40B4-BE49-F238E27FC236}">
                <a16:creationId xmlns:a16="http://schemas.microsoft.com/office/drawing/2014/main" id="{027847B2-3997-9E62-FC20-23ED0CF7FDB8}"/>
              </a:ext>
            </a:extLst>
          </p:cNvPr>
          <p:cNvSpPr txBox="1"/>
          <p:nvPr/>
        </p:nvSpPr>
        <p:spPr>
          <a:xfrm>
            <a:off x="782132" y="5366366"/>
            <a:ext cx="4317166" cy="461665"/>
          </a:xfrm>
          <a:prstGeom prst="rect">
            <a:avLst/>
          </a:prstGeom>
          <a:noFill/>
        </p:spPr>
        <p:txBody>
          <a:bodyPr wrap="square">
            <a:spAutoFit/>
          </a:bodyPr>
          <a:lstStyle/>
          <a:p>
            <a:pPr algn="just"/>
            <a:r>
              <a:rPr lang="he-IL" sz="1200" dirty="0"/>
              <a:t>גם רשימה מקושרת חד-כיוונית וגם רשימה מקושרת דו-כיוונית יכולות להיות מעגליות (איבר הארון מצביע לאיבר הראשון ברשימה מקושרת).</a:t>
            </a:r>
            <a:endParaRPr lang="en-US" sz="1200" dirty="0"/>
          </a:p>
        </p:txBody>
      </p:sp>
    </p:spTree>
    <p:extLst>
      <p:ext uri="{BB962C8B-B14F-4D97-AF65-F5344CB8AC3E}">
        <p14:creationId xmlns:p14="http://schemas.microsoft.com/office/powerpoint/2010/main" val="1421673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231D33B6-57A8-9AC1-5AA3-C955A4D20768}"/>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4C2EC9F5-002F-F182-BA9D-6A4547EBE76A}"/>
              </a:ext>
            </a:extLst>
          </p:cNvPr>
          <p:cNvSpPr txBox="1"/>
          <p:nvPr/>
        </p:nvSpPr>
        <p:spPr>
          <a:xfrm>
            <a:off x="2918309" y="214433"/>
            <a:ext cx="6906127" cy="1384995"/>
          </a:xfrm>
          <a:prstGeom prst="rect">
            <a:avLst/>
          </a:prstGeom>
          <a:noFill/>
        </p:spPr>
        <p:txBody>
          <a:bodyPr wrap="square">
            <a:spAutoFit/>
          </a:bodyPr>
          <a:lstStyle/>
          <a:p>
            <a:pPr algn="ctr"/>
            <a:r>
              <a:rPr lang="he-IL" sz="4200" dirty="0">
                <a:solidFill>
                  <a:schemeClr val="accent6">
                    <a:lumMod val="75000"/>
                  </a:schemeClr>
                </a:solidFill>
              </a:rPr>
              <a:t>גישה לאיברי רשימה מקושרת (נניח ששם של רשימה </a:t>
            </a:r>
            <a:r>
              <a:rPr lang="en-US" sz="4200" dirty="0">
                <a:solidFill>
                  <a:schemeClr val="accent6">
                    <a:lumMod val="75000"/>
                  </a:schemeClr>
                </a:solidFill>
              </a:rPr>
              <a:t>List</a:t>
            </a:r>
            <a:r>
              <a:rPr lang="he-IL" sz="4200" dirty="0">
                <a:solidFill>
                  <a:schemeClr val="accent6">
                    <a:lumMod val="75000"/>
                  </a:schemeClr>
                </a:solidFill>
              </a:rPr>
              <a:t>)</a:t>
            </a:r>
            <a:endParaRPr lang="en-US" sz="4200" dirty="0">
              <a:solidFill>
                <a:schemeClr val="accent6">
                  <a:lumMod val="75000"/>
                </a:schemeClr>
              </a:solidFill>
            </a:endParaRPr>
          </a:p>
        </p:txBody>
      </p:sp>
      <p:pic>
        <p:nvPicPr>
          <p:cNvPr id="12" name="Picture 11" descr="A black text on a white background&#10;&#10;Description automatically generated">
            <a:extLst>
              <a:ext uri="{FF2B5EF4-FFF2-40B4-BE49-F238E27FC236}">
                <a16:creationId xmlns:a16="http://schemas.microsoft.com/office/drawing/2014/main" id="{7F6B5DD8-14C5-8CAA-16B6-F059148808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908" y="1844999"/>
            <a:ext cx="5692236" cy="2546527"/>
          </a:xfrm>
          <a:prstGeom prst="rect">
            <a:avLst/>
          </a:prstGeom>
        </p:spPr>
      </p:pic>
      <p:pic>
        <p:nvPicPr>
          <p:cNvPr id="13" name="Picture 4" descr="bizzyb_garfield_computer">
            <a:extLst>
              <a:ext uri="{FF2B5EF4-FFF2-40B4-BE49-F238E27FC236}">
                <a16:creationId xmlns:a16="http://schemas.microsoft.com/office/drawing/2014/main" id="{A5DAD240-2AFA-C84A-B12D-41824FA83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033" y="4417214"/>
            <a:ext cx="2189251" cy="147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801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BEB75EE-0B9B-1391-1B55-ADB142E9C6DB}"/>
              </a:ext>
            </a:extLst>
          </p:cNvPr>
          <p:cNvSpPr>
            <a:spLocks noGrp="1" noChangeArrowheads="1"/>
          </p:cNvSpPr>
          <p:nvPr/>
        </p:nvSpPr>
        <p:spPr bwMode="auto">
          <a:xfrm>
            <a:off x="1763419" y="544178"/>
            <a:ext cx="9979401"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r>
              <a:rPr lang="en-US" altLang="he-IL" kern="0" dirty="0">
                <a:solidFill>
                  <a:srgbClr val="006633"/>
                </a:solidFill>
                <a:latin typeface="Garamond"/>
                <a:cs typeface="Arial"/>
              </a:rPr>
              <a:t>Time complexities of different data structures</a:t>
            </a:r>
          </a:p>
        </p:txBody>
      </p:sp>
      <p:sp>
        <p:nvSpPr>
          <p:cNvPr id="4" name="Rectangle 4">
            <a:extLst>
              <a:ext uri="{FF2B5EF4-FFF2-40B4-BE49-F238E27FC236}">
                <a16:creationId xmlns:a16="http://schemas.microsoft.com/office/drawing/2014/main" id="{3FA352FF-5D78-3670-CDFA-7CF68B7F8904}"/>
              </a:ext>
            </a:extLst>
          </p:cNvPr>
          <p:cNvSpPr>
            <a:spLocks noChangeArrowheads="1"/>
          </p:cNvSpPr>
          <p:nvPr/>
        </p:nvSpPr>
        <p:spPr bwMode="auto">
          <a:xfrm>
            <a:off x="1904206" y="1262856"/>
            <a:ext cx="8229600" cy="500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he-IL"/>
            </a:defPPr>
            <a:lvl1pPr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baseline="300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baseline="30000">
                <a:solidFill>
                  <a:schemeClr val="tx1"/>
                </a:solidFill>
                <a:latin typeface="Arial" panose="020B0604020202020204" pitchFamily="34" charset="0"/>
                <a:ea typeface="+mn-ea"/>
                <a:cs typeface="Arial" panose="020B0604020202020204" pitchFamily="34" charset="0"/>
              </a:defRPr>
            </a:lvl9pPr>
          </a:lstStyle>
          <a:p>
            <a:pPr eaLnBrk="1" hangingPunct="1">
              <a:lnSpc>
                <a:spcPct val="90000"/>
              </a:lnSpc>
              <a:spcBef>
                <a:spcPct val="20000"/>
              </a:spcBef>
              <a:buClr>
                <a:schemeClr val="accent1"/>
              </a:buClr>
              <a:buSzPct val="65000"/>
              <a:buFont typeface="Wingdings" panose="05000000000000000000" pitchFamily="2" charset="2"/>
              <a:buChar char="n"/>
            </a:pPr>
            <a:endParaRPr lang="en-US" altLang="he-IL" sz="2900" baseline="0" dirty="0"/>
          </a:p>
          <a:p>
            <a:pPr eaLnBrk="1" hangingPunct="1">
              <a:lnSpc>
                <a:spcPct val="90000"/>
              </a:lnSpc>
              <a:spcBef>
                <a:spcPct val="20000"/>
              </a:spcBef>
              <a:buClr>
                <a:schemeClr val="accent1"/>
              </a:buClr>
              <a:buSzPct val="65000"/>
              <a:buFont typeface="Wingdings" panose="05000000000000000000" pitchFamily="2" charset="2"/>
              <a:buChar char="n"/>
            </a:pPr>
            <a:endParaRPr lang="he-IL" altLang="he-IL" sz="2900" baseline="0" dirty="0"/>
          </a:p>
          <a:p>
            <a:pPr lvl="1" eaLnBrk="1" hangingPunct="1">
              <a:lnSpc>
                <a:spcPct val="90000"/>
              </a:lnSpc>
              <a:spcBef>
                <a:spcPct val="20000"/>
              </a:spcBef>
              <a:buClr>
                <a:schemeClr val="accent2"/>
              </a:buClr>
              <a:buSzPct val="60000"/>
              <a:buFont typeface="Wingdings" panose="05000000000000000000" pitchFamily="2" charset="2"/>
              <a:buChar char="q"/>
            </a:pPr>
            <a:endParaRPr lang="en-US" altLang="he-IL" sz="2200" baseline="0" dirty="0">
              <a:latin typeface="Courier New" panose="02070309020205020404" pitchFamily="49" charset="0"/>
              <a:cs typeface="Courier New" panose="02070309020205020404" pitchFamily="49" charset="0"/>
            </a:endParaRPr>
          </a:p>
        </p:txBody>
      </p:sp>
      <p:pic>
        <p:nvPicPr>
          <p:cNvPr id="8" name="Picture 7" descr="A black table with white text&#10;&#10;Description automatically generated">
            <a:extLst>
              <a:ext uri="{FF2B5EF4-FFF2-40B4-BE49-F238E27FC236}">
                <a16:creationId xmlns:a16="http://schemas.microsoft.com/office/drawing/2014/main" id="{CC89351B-9CB4-ED5F-7585-728E3F7F6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887" y="2128879"/>
            <a:ext cx="3186834" cy="3759557"/>
          </a:xfrm>
          <a:prstGeom prst="rect">
            <a:avLst/>
          </a:prstGeom>
        </p:spPr>
      </p:pic>
      <p:sp>
        <p:nvSpPr>
          <p:cNvPr id="10" name="TextBox 9">
            <a:extLst>
              <a:ext uri="{FF2B5EF4-FFF2-40B4-BE49-F238E27FC236}">
                <a16:creationId xmlns:a16="http://schemas.microsoft.com/office/drawing/2014/main" id="{963F2D58-10F5-2AA3-3051-92402AD4789E}"/>
              </a:ext>
            </a:extLst>
          </p:cNvPr>
          <p:cNvSpPr txBox="1"/>
          <p:nvPr/>
        </p:nvSpPr>
        <p:spPr>
          <a:xfrm>
            <a:off x="705981" y="1422393"/>
            <a:ext cx="3186834" cy="523220"/>
          </a:xfrm>
          <a:prstGeom prst="rect">
            <a:avLst/>
          </a:prstGeom>
          <a:noFill/>
        </p:spPr>
        <p:txBody>
          <a:bodyPr wrap="square">
            <a:spAutoFit/>
          </a:bodyPr>
          <a:lstStyle/>
          <a:p>
            <a:pPr algn="ctr" rtl="0"/>
            <a:r>
              <a:rPr lang="en-US" sz="1400" dirty="0"/>
              <a:t> Best case time complexity of different data structures for different operations </a:t>
            </a:r>
          </a:p>
        </p:txBody>
      </p:sp>
      <p:sp>
        <p:nvSpPr>
          <p:cNvPr id="14" name="TextBox 13">
            <a:extLst>
              <a:ext uri="{FF2B5EF4-FFF2-40B4-BE49-F238E27FC236}">
                <a16:creationId xmlns:a16="http://schemas.microsoft.com/office/drawing/2014/main" id="{EECE16AB-2930-EB37-0A0E-432CF538148F}"/>
              </a:ext>
            </a:extLst>
          </p:cNvPr>
          <p:cNvSpPr txBox="1"/>
          <p:nvPr/>
        </p:nvSpPr>
        <p:spPr>
          <a:xfrm>
            <a:off x="4587055" y="1439084"/>
            <a:ext cx="3186834" cy="523220"/>
          </a:xfrm>
          <a:prstGeom prst="rect">
            <a:avLst/>
          </a:prstGeom>
          <a:noFill/>
        </p:spPr>
        <p:txBody>
          <a:bodyPr wrap="square">
            <a:spAutoFit/>
          </a:bodyPr>
          <a:lstStyle/>
          <a:p>
            <a:pPr algn="l" rtl="0"/>
            <a:r>
              <a:rPr lang="en-US" sz="1400" dirty="0"/>
              <a:t>Worst Case time complexity of different data structures for different operations</a:t>
            </a:r>
          </a:p>
        </p:txBody>
      </p:sp>
      <p:pic>
        <p:nvPicPr>
          <p:cNvPr id="16" name="Picture 15" descr="A black and white grid with white text&#10;&#10;Description automatically generated">
            <a:extLst>
              <a:ext uri="{FF2B5EF4-FFF2-40B4-BE49-F238E27FC236}">
                <a16:creationId xmlns:a16="http://schemas.microsoft.com/office/drawing/2014/main" id="{9067D54D-E3DE-5C06-8DD4-43DB963FE8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962" y="2138532"/>
            <a:ext cx="3204299" cy="3759557"/>
          </a:xfrm>
          <a:prstGeom prst="rect">
            <a:avLst/>
          </a:prstGeom>
        </p:spPr>
      </p:pic>
      <p:sp>
        <p:nvSpPr>
          <p:cNvPr id="18" name="TextBox 17">
            <a:extLst>
              <a:ext uri="{FF2B5EF4-FFF2-40B4-BE49-F238E27FC236}">
                <a16:creationId xmlns:a16="http://schemas.microsoft.com/office/drawing/2014/main" id="{D11913FD-FEF4-CA38-C0B9-555DBBA1DA76}"/>
              </a:ext>
            </a:extLst>
          </p:cNvPr>
          <p:cNvSpPr txBox="1"/>
          <p:nvPr/>
        </p:nvSpPr>
        <p:spPr>
          <a:xfrm>
            <a:off x="8194730" y="1439084"/>
            <a:ext cx="3204299" cy="523220"/>
          </a:xfrm>
          <a:prstGeom prst="rect">
            <a:avLst/>
          </a:prstGeom>
          <a:noFill/>
        </p:spPr>
        <p:txBody>
          <a:bodyPr wrap="square">
            <a:spAutoFit/>
          </a:bodyPr>
          <a:lstStyle/>
          <a:p>
            <a:pPr algn="ctr"/>
            <a:r>
              <a:rPr lang="en-US" sz="1400" dirty="0"/>
              <a:t>The average time complexity of different data structures for different operations</a:t>
            </a:r>
          </a:p>
        </p:txBody>
      </p:sp>
      <p:pic>
        <p:nvPicPr>
          <p:cNvPr id="20" name="Picture 19" descr="A black and white table with white text&#10;&#10;Description automatically generated">
            <a:extLst>
              <a:ext uri="{FF2B5EF4-FFF2-40B4-BE49-F238E27FC236}">
                <a16:creationId xmlns:a16="http://schemas.microsoft.com/office/drawing/2014/main" id="{A372FDDC-95FA-B518-6D34-DDA5210565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2435" y="2118072"/>
            <a:ext cx="3146594" cy="3739097"/>
          </a:xfrm>
          <a:prstGeom prst="rect">
            <a:avLst/>
          </a:prstGeom>
        </p:spPr>
      </p:pic>
    </p:spTree>
    <p:extLst>
      <p:ext uri="{BB962C8B-B14F-4D97-AF65-F5344CB8AC3E}">
        <p14:creationId xmlns:p14="http://schemas.microsoft.com/office/powerpoint/2010/main" val="395246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D7A25D5-02E5-A723-7F3E-CA8FE372C22B}"/>
              </a:ext>
            </a:extLst>
          </p:cNvPr>
          <p:cNvSpPr>
            <a:spLocks noGrp="1" noChangeArrowheads="1"/>
          </p:cNvSpPr>
          <p:nvPr/>
        </p:nvSpPr>
        <p:spPr bwMode="auto">
          <a:xfrm>
            <a:off x="1970881" y="465931"/>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algn="r" eaLnBrk="1" hangingPunct="1"/>
            <a:r>
              <a:rPr lang="he-IL" altLang="he-IL" kern="0" dirty="0">
                <a:solidFill>
                  <a:srgbClr val="006633"/>
                </a:solidFill>
                <a:latin typeface="Garamond"/>
                <a:cs typeface="Arial"/>
              </a:rPr>
              <a:t>תרגיל 1</a:t>
            </a:r>
            <a:endParaRPr lang="en-US" altLang="he-IL" kern="0" dirty="0">
              <a:solidFill>
                <a:srgbClr val="006633"/>
              </a:solidFill>
              <a:latin typeface="Garamond"/>
              <a:cs typeface="Arial"/>
            </a:endParaRPr>
          </a:p>
        </p:txBody>
      </p:sp>
      <p:sp>
        <p:nvSpPr>
          <p:cNvPr id="6" name="TextBox 5">
            <a:extLst>
              <a:ext uri="{FF2B5EF4-FFF2-40B4-BE49-F238E27FC236}">
                <a16:creationId xmlns:a16="http://schemas.microsoft.com/office/drawing/2014/main" id="{AF531104-646C-BB8A-8864-EA451CDC240E}"/>
              </a:ext>
            </a:extLst>
          </p:cNvPr>
          <p:cNvSpPr txBox="1"/>
          <p:nvPr/>
        </p:nvSpPr>
        <p:spPr>
          <a:xfrm>
            <a:off x="2076576" y="1236424"/>
            <a:ext cx="8844713" cy="369332"/>
          </a:xfrm>
          <a:prstGeom prst="rect">
            <a:avLst/>
          </a:prstGeom>
          <a:noFill/>
        </p:spPr>
        <p:txBody>
          <a:bodyPr wrap="square">
            <a:spAutoFit/>
          </a:bodyPr>
          <a:lstStyle/>
          <a:p>
            <a:r>
              <a:rPr lang="he-IL" dirty="0"/>
              <a:t>כתבו </a:t>
            </a:r>
            <a:r>
              <a:rPr lang="he-IL" dirty="0" err="1"/>
              <a:t>פסאודו</a:t>
            </a:r>
            <a:r>
              <a:rPr lang="he-IL" dirty="0"/>
              <a:t>-קוד של אלגוריתם המקבל רשימה מקושרת חד-כיוונית ומחזיר סכום מספרים זוגיים.</a:t>
            </a:r>
            <a:endParaRPr lang="en-US" dirty="0"/>
          </a:p>
        </p:txBody>
      </p:sp>
      <p:sp>
        <p:nvSpPr>
          <p:cNvPr id="8" name="TextBox 7">
            <a:extLst>
              <a:ext uri="{FF2B5EF4-FFF2-40B4-BE49-F238E27FC236}">
                <a16:creationId xmlns:a16="http://schemas.microsoft.com/office/drawing/2014/main" id="{481C0BBF-6D5F-34AF-0C91-5D66B4045FE7}"/>
              </a:ext>
            </a:extLst>
          </p:cNvPr>
          <p:cNvSpPr txBox="1"/>
          <p:nvPr/>
        </p:nvSpPr>
        <p:spPr>
          <a:xfrm>
            <a:off x="4286833" y="1986966"/>
            <a:ext cx="5158381" cy="2800767"/>
          </a:xfrm>
          <a:prstGeom prst="rect">
            <a:avLst/>
          </a:prstGeom>
          <a:noFill/>
        </p:spPr>
        <p:txBody>
          <a:bodyPr wrap="square">
            <a:spAutoFit/>
          </a:bodyPr>
          <a:lstStyle/>
          <a:p>
            <a:pPr algn="l" rtl="0"/>
            <a:r>
              <a:rPr lang="en-US" sz="1600" b="1" dirty="0"/>
              <a:t>function sum</a:t>
            </a:r>
            <a:r>
              <a:rPr lang="ru-RU" sz="1600" b="1" dirty="0"/>
              <a:t>_</a:t>
            </a:r>
            <a:r>
              <a:rPr lang="en-US" sz="1600" b="1" dirty="0" err="1"/>
              <a:t>of_even_numbers</a:t>
            </a:r>
            <a:r>
              <a:rPr lang="en-US" sz="1600" b="1" dirty="0"/>
              <a:t>(</a:t>
            </a:r>
            <a:r>
              <a:rPr lang="en-US" sz="1600" b="1" dirty="0" err="1"/>
              <a:t>linkedList</a:t>
            </a:r>
            <a:r>
              <a:rPr lang="en-US" sz="1600" b="1" dirty="0"/>
              <a:t>):</a:t>
            </a:r>
            <a:endParaRPr lang="he-IL" sz="1600" b="1" dirty="0"/>
          </a:p>
          <a:p>
            <a:pPr algn="l" rtl="0"/>
            <a:endParaRPr lang="en-US" sz="1600" b="1" dirty="0"/>
          </a:p>
          <a:p>
            <a:pPr algn="l" rtl="0"/>
            <a:r>
              <a:rPr lang="he-IL" sz="1600" dirty="0"/>
              <a:t>	</a:t>
            </a:r>
            <a:r>
              <a:rPr lang="en-US" sz="1600" b="1" dirty="0"/>
              <a:t>if </a:t>
            </a:r>
            <a:r>
              <a:rPr lang="en-US" sz="1600" b="1" dirty="0" err="1"/>
              <a:t>linkedList</a:t>
            </a:r>
            <a:r>
              <a:rPr lang="en-US" sz="1600" b="1" dirty="0"/>
              <a:t> is empty:</a:t>
            </a:r>
          </a:p>
          <a:p>
            <a:pPr algn="l" rtl="0"/>
            <a:r>
              <a:rPr lang="en-US" sz="1600" b="1" dirty="0"/>
              <a:t>        </a:t>
            </a:r>
            <a:r>
              <a:rPr lang="he-IL" sz="1600" b="1" dirty="0"/>
              <a:t>		</a:t>
            </a:r>
            <a:r>
              <a:rPr lang="en-US" sz="1600" b="1" dirty="0"/>
              <a:t>return 0</a:t>
            </a:r>
          </a:p>
          <a:p>
            <a:pPr algn="l" rtl="0"/>
            <a:r>
              <a:rPr lang="en-US" sz="1600" b="1" dirty="0"/>
              <a:t>    </a:t>
            </a:r>
            <a:r>
              <a:rPr lang="he-IL" sz="1600" b="1" dirty="0"/>
              <a:t>	</a:t>
            </a:r>
            <a:r>
              <a:rPr lang="en-US" sz="1600" b="1" dirty="0"/>
              <a:t>sum = 0</a:t>
            </a:r>
          </a:p>
          <a:p>
            <a:pPr algn="l" rtl="0"/>
            <a:r>
              <a:rPr lang="en-US" sz="1600" b="1" dirty="0"/>
              <a:t>    </a:t>
            </a:r>
            <a:r>
              <a:rPr lang="he-IL" sz="1600" b="1" dirty="0"/>
              <a:t>	</a:t>
            </a:r>
            <a:r>
              <a:rPr lang="en-US" sz="1600" b="1" dirty="0"/>
              <a:t>node = </a:t>
            </a:r>
            <a:r>
              <a:rPr lang="en-US" sz="1600" b="1" dirty="0" err="1"/>
              <a:t>linkedList.head</a:t>
            </a:r>
            <a:endParaRPr lang="en-US" sz="1600" b="1" dirty="0"/>
          </a:p>
          <a:p>
            <a:pPr algn="l" rtl="0"/>
            <a:r>
              <a:rPr lang="en-US" sz="1600" b="1" dirty="0"/>
              <a:t>    </a:t>
            </a:r>
            <a:r>
              <a:rPr lang="he-IL" sz="1600" b="1" dirty="0"/>
              <a:t>	</a:t>
            </a:r>
            <a:r>
              <a:rPr lang="en-US" sz="1600" b="1" dirty="0"/>
              <a:t>while node is not null:</a:t>
            </a:r>
          </a:p>
          <a:p>
            <a:pPr algn="l" rtl="0"/>
            <a:r>
              <a:rPr lang="en-US" sz="1600" b="1" dirty="0"/>
              <a:t>       </a:t>
            </a:r>
            <a:r>
              <a:rPr lang="he-IL" sz="1600" b="1" dirty="0"/>
              <a:t>		</a:t>
            </a:r>
            <a:r>
              <a:rPr lang="en-US" sz="1600" b="1" dirty="0"/>
              <a:t> if </a:t>
            </a:r>
            <a:r>
              <a:rPr lang="en-US" sz="1600" b="1" dirty="0" err="1"/>
              <a:t>node.value</a:t>
            </a:r>
            <a:r>
              <a:rPr lang="en-US" sz="1600" b="1" dirty="0"/>
              <a:t> is even:</a:t>
            </a:r>
          </a:p>
          <a:p>
            <a:pPr algn="l" rtl="0"/>
            <a:r>
              <a:rPr lang="en-US" sz="1600" b="1" dirty="0"/>
              <a:t>            </a:t>
            </a:r>
            <a:r>
              <a:rPr lang="he-IL" sz="1600" b="1" dirty="0"/>
              <a:t>			</a:t>
            </a:r>
            <a:r>
              <a:rPr lang="en-US" sz="1600" b="1" dirty="0"/>
              <a:t>sum = sum + </a:t>
            </a:r>
            <a:r>
              <a:rPr lang="en-US" sz="1600" b="1" dirty="0" err="1"/>
              <a:t>node.value</a:t>
            </a:r>
            <a:endParaRPr lang="en-US" sz="1600" b="1" dirty="0"/>
          </a:p>
          <a:p>
            <a:pPr algn="l" rtl="0"/>
            <a:r>
              <a:rPr lang="en-US" sz="1600" b="1" dirty="0"/>
              <a:t>        </a:t>
            </a:r>
            <a:r>
              <a:rPr lang="he-IL" sz="1600" b="1" dirty="0"/>
              <a:t>		</a:t>
            </a:r>
            <a:r>
              <a:rPr lang="en-US" sz="1600" b="1" dirty="0"/>
              <a:t>node = </a:t>
            </a:r>
            <a:r>
              <a:rPr lang="en-US" sz="1600" b="1" dirty="0" err="1"/>
              <a:t>node.next</a:t>
            </a:r>
            <a:endParaRPr lang="en-US" sz="1600" b="1" dirty="0"/>
          </a:p>
          <a:p>
            <a:pPr algn="l" rtl="0"/>
            <a:r>
              <a:rPr lang="en-US" sz="1600" b="1" dirty="0"/>
              <a:t>    </a:t>
            </a:r>
            <a:r>
              <a:rPr lang="he-IL" sz="1600" b="1" dirty="0"/>
              <a:t>	</a:t>
            </a:r>
            <a:r>
              <a:rPr lang="en-US" sz="1600" b="1" dirty="0"/>
              <a:t>return sum</a:t>
            </a:r>
          </a:p>
        </p:txBody>
      </p:sp>
    </p:spTree>
    <p:extLst>
      <p:ext uri="{BB962C8B-B14F-4D97-AF65-F5344CB8AC3E}">
        <p14:creationId xmlns:p14="http://schemas.microsoft.com/office/powerpoint/2010/main" val="335854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24FC226-2A2D-031F-68F3-74ED0E2758FC}"/>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2C75A7FE-3692-5B05-817F-ACF571CB9047}"/>
              </a:ext>
            </a:extLst>
          </p:cNvPr>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2</a:t>
            </a:r>
            <a:endParaRPr kumimoji="0" lang="en-US" altLang="he-IL" sz="4200" b="0" i="0" u="none" strike="noStrike" kern="0" cap="none" spc="0" normalizeH="0" baseline="0" noProof="0" dirty="0">
              <a:ln>
                <a:noFill/>
              </a:ln>
              <a:solidFill>
                <a:srgbClr val="006633"/>
              </a:solidFill>
              <a:effectLst/>
              <a:uLnTx/>
              <a:uFillTx/>
              <a:latin typeface="Garamond"/>
              <a:ea typeface="+mj-ea"/>
              <a:cs typeface="Arial"/>
            </a:endParaRPr>
          </a:p>
        </p:txBody>
      </p:sp>
      <p:sp>
        <p:nvSpPr>
          <p:cNvPr id="3" name="TextBox 2">
            <a:extLst>
              <a:ext uri="{FF2B5EF4-FFF2-40B4-BE49-F238E27FC236}">
                <a16:creationId xmlns:a16="http://schemas.microsoft.com/office/drawing/2014/main" id="{E771C7C8-942B-504D-BD02-DEB5E3FA9070}"/>
              </a:ext>
            </a:extLst>
          </p:cNvPr>
          <p:cNvSpPr txBox="1"/>
          <p:nvPr/>
        </p:nvSpPr>
        <p:spPr>
          <a:xfrm>
            <a:off x="2905626" y="1094875"/>
            <a:ext cx="8361946" cy="369332"/>
          </a:xfrm>
          <a:prstGeom prst="rect">
            <a:avLst/>
          </a:prstGeom>
          <a:noFill/>
        </p:spPr>
        <p:txBody>
          <a:bodyPr wrap="square">
            <a:spAutoFit/>
          </a:bodyPr>
          <a:lstStyle/>
          <a:p>
            <a:r>
              <a:rPr lang="he-IL" dirty="0"/>
              <a:t>כתבו </a:t>
            </a:r>
            <a:r>
              <a:rPr lang="he-IL" dirty="0" err="1"/>
              <a:t>פסאודו</a:t>
            </a:r>
            <a:r>
              <a:rPr lang="he-IL" dirty="0"/>
              <a:t>-קוד של אלגוריתם תחליף בין איבר ראשון ואחרון ברשימה מקושרת חד-כיוונית.</a:t>
            </a:r>
            <a:endParaRPr lang="en-US" dirty="0"/>
          </a:p>
        </p:txBody>
      </p:sp>
      <p:sp>
        <p:nvSpPr>
          <p:cNvPr id="5" name="TextBox 4">
            <a:extLst>
              <a:ext uri="{FF2B5EF4-FFF2-40B4-BE49-F238E27FC236}">
                <a16:creationId xmlns:a16="http://schemas.microsoft.com/office/drawing/2014/main" id="{C4B485EA-6835-E8BA-A2B1-46119362D81C}"/>
              </a:ext>
            </a:extLst>
          </p:cNvPr>
          <p:cNvSpPr txBox="1"/>
          <p:nvPr/>
        </p:nvSpPr>
        <p:spPr>
          <a:xfrm>
            <a:off x="3876682" y="2154096"/>
            <a:ext cx="6097002" cy="3293209"/>
          </a:xfrm>
          <a:prstGeom prst="rect">
            <a:avLst/>
          </a:prstGeom>
          <a:noFill/>
        </p:spPr>
        <p:txBody>
          <a:bodyPr wrap="square">
            <a:spAutoFit/>
          </a:bodyPr>
          <a:lstStyle/>
          <a:p>
            <a:pPr algn="l" rtl="0"/>
            <a:r>
              <a:rPr lang="en-US" sz="1600" b="1" dirty="0"/>
              <a:t>function </a:t>
            </a:r>
            <a:r>
              <a:rPr lang="en-US" sz="1600" b="1" dirty="0" err="1"/>
              <a:t>swap_first_and_last</a:t>
            </a:r>
            <a:r>
              <a:rPr lang="en-US" sz="1600" b="1" dirty="0"/>
              <a:t>(L):</a:t>
            </a:r>
            <a:endParaRPr lang="ru-RU" sz="1600" b="1" dirty="0"/>
          </a:p>
          <a:p>
            <a:pPr algn="l" rtl="0"/>
            <a:r>
              <a:rPr lang="ru-RU" sz="1600" b="1" dirty="0"/>
              <a:t>	</a:t>
            </a:r>
          </a:p>
          <a:p>
            <a:pPr algn="l" rtl="0"/>
            <a:r>
              <a:rPr lang="ru-RU" sz="1600" b="1" dirty="0"/>
              <a:t>	</a:t>
            </a:r>
            <a:r>
              <a:rPr lang="en-US" sz="1600" b="1" dirty="0"/>
              <a:t>x &lt;- </a:t>
            </a:r>
            <a:r>
              <a:rPr lang="en-US" sz="1600" b="1" dirty="0" err="1"/>
              <a:t>L.head</a:t>
            </a:r>
            <a:endParaRPr lang="en-US" sz="1600" b="1" dirty="0"/>
          </a:p>
          <a:p>
            <a:pPr algn="l" rtl="0"/>
            <a:r>
              <a:rPr lang="en-US" sz="1600" b="1" dirty="0"/>
              <a:t>	if x != NULL and </a:t>
            </a:r>
            <a:r>
              <a:rPr lang="en-US" sz="1600" b="1" dirty="0" err="1"/>
              <a:t>x.next</a:t>
            </a:r>
            <a:r>
              <a:rPr lang="en-US" sz="1600" b="1" dirty="0"/>
              <a:t> != NULL then:</a:t>
            </a:r>
          </a:p>
          <a:p>
            <a:pPr algn="l" rtl="0"/>
            <a:r>
              <a:rPr lang="en-US" sz="1600" b="1" dirty="0"/>
              <a:t>		temp &lt;- x</a:t>
            </a:r>
          </a:p>
          <a:p>
            <a:pPr algn="l" rtl="0"/>
            <a:r>
              <a:rPr lang="en-US" sz="1600" b="1" dirty="0"/>
              <a:t>		while </a:t>
            </a:r>
            <a:r>
              <a:rPr lang="en-US" sz="1600" b="1" dirty="0" err="1"/>
              <a:t>temp.next.next</a:t>
            </a:r>
            <a:r>
              <a:rPr lang="he-IL" sz="1600" b="1" dirty="0"/>
              <a:t> </a:t>
            </a:r>
            <a:r>
              <a:rPr lang="en-US" sz="1600" b="1" dirty="0"/>
              <a:t> != NULL do</a:t>
            </a:r>
          </a:p>
          <a:p>
            <a:pPr algn="l" rtl="0"/>
            <a:r>
              <a:rPr lang="en-US" sz="1600" b="1" dirty="0"/>
              <a:t>			temp = </a:t>
            </a:r>
            <a:r>
              <a:rPr lang="en-US" sz="1600" b="1" dirty="0" err="1"/>
              <a:t>temp.next</a:t>
            </a:r>
            <a:endParaRPr lang="he-IL" sz="1600" b="1" dirty="0"/>
          </a:p>
          <a:p>
            <a:pPr algn="l" rtl="0"/>
            <a:r>
              <a:rPr lang="he-IL" sz="1600" b="1" dirty="0"/>
              <a:t>		</a:t>
            </a:r>
            <a:r>
              <a:rPr lang="en-US" sz="1600" b="1" dirty="0"/>
              <a:t>last = </a:t>
            </a:r>
            <a:r>
              <a:rPr lang="en-US" sz="1600" b="1" dirty="0" err="1"/>
              <a:t>temp.next</a:t>
            </a:r>
            <a:endParaRPr lang="en-US" sz="1600" b="1" dirty="0"/>
          </a:p>
          <a:p>
            <a:pPr algn="l" rtl="0"/>
            <a:r>
              <a:rPr lang="en-US" sz="1600" b="1" dirty="0"/>
              <a:t>		</a:t>
            </a:r>
            <a:r>
              <a:rPr lang="en-US" sz="1600" b="1" dirty="0" err="1"/>
              <a:t>temp.next</a:t>
            </a:r>
            <a:r>
              <a:rPr lang="en-US" sz="1600" b="1" dirty="0"/>
              <a:t> = x </a:t>
            </a:r>
          </a:p>
          <a:p>
            <a:pPr algn="l" rtl="0"/>
            <a:r>
              <a:rPr lang="en-US" sz="1600" b="1" dirty="0"/>
              <a:t>		</a:t>
            </a:r>
            <a:r>
              <a:rPr lang="en-US" sz="1600" b="1" dirty="0" err="1"/>
              <a:t>last.next</a:t>
            </a:r>
            <a:r>
              <a:rPr lang="en-US" sz="1600" b="1" dirty="0"/>
              <a:t> = </a:t>
            </a:r>
            <a:r>
              <a:rPr lang="en-US" sz="1600" b="1" dirty="0" err="1"/>
              <a:t>x.next</a:t>
            </a:r>
            <a:endParaRPr lang="en-US" sz="1600" b="1" dirty="0"/>
          </a:p>
          <a:p>
            <a:pPr algn="l" rtl="0"/>
            <a:r>
              <a:rPr lang="en-US" sz="1600" b="1" dirty="0"/>
              <a:t>		</a:t>
            </a:r>
            <a:r>
              <a:rPr lang="en-US" sz="1600" b="1" dirty="0" err="1"/>
              <a:t>l.head</a:t>
            </a:r>
            <a:r>
              <a:rPr lang="en-US" sz="1600" b="1" dirty="0"/>
              <a:t> = last</a:t>
            </a:r>
          </a:p>
          <a:p>
            <a:pPr algn="l" rtl="0"/>
            <a:r>
              <a:rPr lang="en-US" sz="1600" b="1" dirty="0"/>
              <a:t>		</a:t>
            </a:r>
            <a:r>
              <a:rPr lang="en-US" sz="1600" b="1" dirty="0" err="1"/>
              <a:t>x.next</a:t>
            </a:r>
            <a:r>
              <a:rPr lang="en-US" sz="1600" b="1" dirty="0"/>
              <a:t> = NULL</a:t>
            </a:r>
          </a:p>
          <a:p>
            <a:pPr algn="l" rtl="0"/>
            <a:r>
              <a:rPr lang="en-US" sz="1600" b="1" dirty="0"/>
              <a:t>			</a:t>
            </a:r>
          </a:p>
        </p:txBody>
      </p:sp>
    </p:spTree>
    <p:extLst>
      <p:ext uri="{BB962C8B-B14F-4D97-AF65-F5344CB8AC3E}">
        <p14:creationId xmlns:p14="http://schemas.microsoft.com/office/powerpoint/2010/main" val="99046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3</a:t>
            </a:r>
          </a:p>
        </p:txBody>
      </p:sp>
      <p:sp>
        <p:nvSpPr>
          <p:cNvPr id="3" name="TextBox 2">
            <a:extLst>
              <a:ext uri="{FF2B5EF4-FFF2-40B4-BE49-F238E27FC236}">
                <a16:creationId xmlns:a16="http://schemas.microsoft.com/office/drawing/2014/main" id="{C1729EC4-C624-A19E-7165-3E76E6F25B0A}"/>
              </a:ext>
            </a:extLst>
          </p:cNvPr>
          <p:cNvSpPr txBox="1"/>
          <p:nvPr/>
        </p:nvSpPr>
        <p:spPr>
          <a:xfrm>
            <a:off x="514350" y="1202002"/>
            <a:ext cx="10753222" cy="369332"/>
          </a:xfrm>
          <a:prstGeom prst="rect">
            <a:avLst/>
          </a:prstGeom>
          <a:noFill/>
        </p:spPr>
        <p:txBody>
          <a:bodyPr wrap="square">
            <a:spAutoFit/>
          </a:bodyPr>
          <a:lstStyle/>
          <a:p>
            <a:r>
              <a:rPr lang="he-IL" dirty="0"/>
              <a:t>כתבו </a:t>
            </a:r>
            <a:r>
              <a:rPr lang="he-IL" dirty="0" err="1"/>
              <a:t>פסאודו</a:t>
            </a:r>
            <a:r>
              <a:rPr lang="he-IL" dirty="0"/>
              <a:t>-קוד של אלגוריתם שמוסיף צומת חדש לרשימה מקושרת ממוינת תוך שמירה על הסדר הממוין של הרשימה.</a:t>
            </a:r>
            <a:endParaRPr lang="en-US" dirty="0"/>
          </a:p>
        </p:txBody>
      </p:sp>
      <p:sp>
        <p:nvSpPr>
          <p:cNvPr id="7" name="TextBox 6">
            <a:extLst>
              <a:ext uri="{FF2B5EF4-FFF2-40B4-BE49-F238E27FC236}">
                <a16:creationId xmlns:a16="http://schemas.microsoft.com/office/drawing/2014/main" id="{84CDE88E-70B6-F849-91A5-C5D38589F304}"/>
              </a:ext>
            </a:extLst>
          </p:cNvPr>
          <p:cNvSpPr txBox="1"/>
          <p:nvPr/>
        </p:nvSpPr>
        <p:spPr>
          <a:xfrm>
            <a:off x="1305006" y="1870346"/>
            <a:ext cx="8559756" cy="4031873"/>
          </a:xfrm>
          <a:prstGeom prst="rect">
            <a:avLst/>
          </a:prstGeom>
          <a:noFill/>
        </p:spPr>
        <p:txBody>
          <a:bodyPr wrap="square">
            <a:spAutoFit/>
          </a:bodyPr>
          <a:lstStyle/>
          <a:p>
            <a:pPr algn="l" rtl="0"/>
            <a:r>
              <a:rPr lang="en-US" sz="1600" b="1" dirty="0"/>
              <a:t>function try(L, N): </a:t>
            </a:r>
          </a:p>
          <a:p>
            <a:pPr algn="l" rtl="0"/>
            <a:r>
              <a:rPr lang="en-US" sz="1600" b="1" dirty="0"/>
              <a:t>	# L is a sorted Linked List </a:t>
            </a:r>
          </a:p>
          <a:p>
            <a:pPr algn="l" rtl="0"/>
            <a:r>
              <a:rPr lang="en-US" sz="1600" b="1" dirty="0"/>
              <a:t>	# N is a Linked List with one node </a:t>
            </a:r>
          </a:p>
          <a:p>
            <a:pPr algn="l" rtl="0"/>
            <a:r>
              <a:rPr lang="en-US" sz="1600" b="1" dirty="0"/>
              <a:t>	if </a:t>
            </a:r>
            <a:r>
              <a:rPr lang="en-US" sz="1600" b="1" dirty="0" err="1"/>
              <a:t>L.head</a:t>
            </a:r>
            <a:r>
              <a:rPr lang="en-US" sz="1600" b="1" dirty="0"/>
              <a:t> is NULL: </a:t>
            </a:r>
          </a:p>
          <a:p>
            <a:pPr algn="l" rtl="0"/>
            <a:r>
              <a:rPr lang="en-US" sz="1600" b="1" dirty="0"/>
              <a:t>		</a:t>
            </a:r>
            <a:r>
              <a:rPr lang="en-US" sz="1600" b="1" dirty="0" err="1"/>
              <a:t>L.head</a:t>
            </a:r>
            <a:r>
              <a:rPr lang="en-US" sz="1600" b="1" dirty="0"/>
              <a:t> ← </a:t>
            </a:r>
            <a:r>
              <a:rPr lang="en-US" sz="1600" b="1" dirty="0" err="1"/>
              <a:t>N.head</a:t>
            </a:r>
            <a:r>
              <a:rPr lang="en-US" sz="1600" b="1" dirty="0"/>
              <a:t> </a:t>
            </a:r>
          </a:p>
          <a:p>
            <a:pPr algn="l" rtl="0"/>
            <a:r>
              <a:rPr lang="en-US" sz="1600" b="1" dirty="0"/>
              <a:t>	else: </a:t>
            </a:r>
          </a:p>
          <a:p>
            <a:pPr algn="l" rtl="0"/>
            <a:r>
              <a:rPr lang="en-US" sz="1600" b="1" dirty="0"/>
              <a:t>		if </a:t>
            </a:r>
            <a:r>
              <a:rPr lang="en-US" sz="1600" b="1" dirty="0" err="1"/>
              <a:t>N.head.data</a:t>
            </a:r>
            <a:r>
              <a:rPr lang="en-US" sz="1600" b="1" dirty="0"/>
              <a:t> &lt; </a:t>
            </a:r>
            <a:r>
              <a:rPr lang="en-US" sz="1600" b="1" dirty="0" err="1"/>
              <a:t>L.head.data</a:t>
            </a:r>
            <a:r>
              <a:rPr lang="en-US" sz="1600" b="1" dirty="0"/>
              <a:t>: </a:t>
            </a:r>
          </a:p>
          <a:p>
            <a:pPr algn="l" rtl="0"/>
            <a:r>
              <a:rPr lang="en-US" sz="1600" b="1" dirty="0"/>
              <a:t>			</a:t>
            </a:r>
            <a:r>
              <a:rPr lang="en-US" sz="1600" b="1" dirty="0" err="1"/>
              <a:t>N.head.next</a:t>
            </a:r>
            <a:r>
              <a:rPr lang="en-US" sz="1600" b="1" dirty="0"/>
              <a:t> ← </a:t>
            </a:r>
            <a:r>
              <a:rPr lang="en-US" sz="1600" b="1" dirty="0" err="1"/>
              <a:t>L.head</a:t>
            </a:r>
            <a:r>
              <a:rPr lang="en-US" sz="1600" b="1" dirty="0"/>
              <a:t> </a:t>
            </a:r>
          </a:p>
          <a:p>
            <a:pPr algn="l" rtl="0"/>
            <a:r>
              <a:rPr lang="en-US" sz="1600" b="1" dirty="0"/>
              <a:t>			</a:t>
            </a:r>
            <a:r>
              <a:rPr lang="en-US" sz="1600" b="1" dirty="0" err="1"/>
              <a:t>L.head</a:t>
            </a:r>
            <a:r>
              <a:rPr lang="en-US" sz="1600" b="1" dirty="0"/>
              <a:t> ← </a:t>
            </a:r>
            <a:r>
              <a:rPr lang="en-US" sz="1600" b="1" dirty="0" err="1"/>
              <a:t>N.head</a:t>
            </a:r>
            <a:r>
              <a:rPr lang="en-US" sz="1600" b="1" dirty="0"/>
              <a:t> </a:t>
            </a:r>
          </a:p>
          <a:p>
            <a:pPr algn="l" rtl="0"/>
            <a:r>
              <a:rPr lang="en-US" sz="1600" b="1" dirty="0"/>
              <a:t>		else: </a:t>
            </a:r>
          </a:p>
          <a:p>
            <a:pPr algn="l" rtl="0"/>
            <a:r>
              <a:rPr lang="en-US" sz="1600" b="1" dirty="0"/>
              <a:t>			x ← </a:t>
            </a:r>
            <a:r>
              <a:rPr lang="en-US" sz="1600" b="1" dirty="0" err="1"/>
              <a:t>L.head</a:t>
            </a:r>
            <a:r>
              <a:rPr lang="en-US" sz="1600" b="1" dirty="0"/>
              <a:t> </a:t>
            </a:r>
          </a:p>
          <a:p>
            <a:pPr algn="l" rtl="0"/>
            <a:r>
              <a:rPr lang="en-US" sz="1600" b="1" dirty="0"/>
              <a:t>			while </a:t>
            </a:r>
            <a:r>
              <a:rPr lang="en-US" sz="1600" b="1" dirty="0" err="1"/>
              <a:t>x.next</a:t>
            </a:r>
            <a:r>
              <a:rPr lang="en-US" sz="1600" b="1" dirty="0"/>
              <a:t> is not NULL and </a:t>
            </a:r>
            <a:r>
              <a:rPr lang="en-US" sz="1600" b="1" dirty="0" err="1"/>
              <a:t>N.head.data</a:t>
            </a:r>
            <a:r>
              <a:rPr lang="en-US" sz="1600" b="1" dirty="0"/>
              <a:t> ≥ </a:t>
            </a:r>
            <a:r>
              <a:rPr lang="en-US" sz="1600" b="1" dirty="0" err="1"/>
              <a:t>x.next.data</a:t>
            </a:r>
            <a:r>
              <a:rPr lang="en-US" sz="1600" b="1" dirty="0"/>
              <a:t>: </a:t>
            </a:r>
          </a:p>
          <a:p>
            <a:pPr algn="l" rtl="0"/>
            <a:r>
              <a:rPr lang="en-US" sz="1600" b="1" dirty="0"/>
              <a:t>				x ← </a:t>
            </a:r>
            <a:r>
              <a:rPr lang="en-US" sz="1600" b="1" dirty="0" err="1"/>
              <a:t>x.next</a:t>
            </a:r>
            <a:endParaRPr lang="en-US" sz="1600" b="1" dirty="0"/>
          </a:p>
          <a:p>
            <a:pPr algn="l" rtl="0"/>
            <a:r>
              <a:rPr lang="en-US" sz="1600" b="1" dirty="0"/>
              <a:t>			 </a:t>
            </a:r>
            <a:r>
              <a:rPr lang="en-US" sz="1600" b="1" dirty="0" err="1"/>
              <a:t>N.head.next</a:t>
            </a:r>
            <a:r>
              <a:rPr lang="en-US" sz="1600" b="1" dirty="0"/>
              <a:t> ← </a:t>
            </a:r>
            <a:r>
              <a:rPr lang="en-US" sz="1600" b="1" dirty="0" err="1"/>
              <a:t>x.next</a:t>
            </a:r>
            <a:endParaRPr lang="en-US" sz="1600" b="1" dirty="0"/>
          </a:p>
          <a:p>
            <a:pPr algn="l" rtl="0"/>
            <a:r>
              <a:rPr lang="en-US" sz="1600" b="1" dirty="0"/>
              <a:t>			 </a:t>
            </a:r>
            <a:r>
              <a:rPr lang="en-US" sz="1600" b="1" dirty="0" err="1"/>
              <a:t>x.next</a:t>
            </a:r>
            <a:r>
              <a:rPr lang="en-US" sz="1600" b="1" dirty="0"/>
              <a:t> ← </a:t>
            </a:r>
            <a:r>
              <a:rPr lang="en-US" sz="1600" b="1" dirty="0" err="1"/>
              <a:t>N.head</a:t>
            </a:r>
            <a:endParaRPr lang="en-US" sz="1600" b="1" dirty="0"/>
          </a:p>
          <a:p>
            <a:pPr algn="l" rtl="0"/>
            <a:r>
              <a:rPr lang="en-US" sz="1600" b="1" dirty="0"/>
              <a:t> return L</a:t>
            </a:r>
          </a:p>
        </p:txBody>
      </p:sp>
      <p:sp>
        <p:nvSpPr>
          <p:cNvPr id="9" name="TextBox 8">
            <a:extLst>
              <a:ext uri="{FF2B5EF4-FFF2-40B4-BE49-F238E27FC236}">
                <a16:creationId xmlns:a16="http://schemas.microsoft.com/office/drawing/2014/main" id="{D791FB52-FCBA-1377-35FC-8884826D9300}"/>
              </a:ext>
            </a:extLst>
          </p:cNvPr>
          <p:cNvSpPr txBox="1"/>
          <p:nvPr/>
        </p:nvSpPr>
        <p:spPr>
          <a:xfrm>
            <a:off x="6336466" y="2065623"/>
            <a:ext cx="3441033" cy="1200329"/>
          </a:xfrm>
          <a:prstGeom prst="rect">
            <a:avLst/>
          </a:prstGeom>
          <a:noFill/>
        </p:spPr>
        <p:txBody>
          <a:bodyPr wrap="square">
            <a:spAutoFit/>
          </a:bodyPr>
          <a:lstStyle/>
          <a:p>
            <a:pPr algn="just" rtl="0"/>
            <a:r>
              <a:rPr lang="en-US" dirty="0">
                <a:solidFill>
                  <a:srgbClr val="C00000"/>
                </a:solidFill>
              </a:rPr>
              <a:t>This algorithm should properly merge a sorted linked list L with a linked list N that has only one node.</a:t>
            </a:r>
          </a:p>
        </p:txBody>
      </p:sp>
    </p:spTree>
    <p:extLst>
      <p:ext uri="{BB962C8B-B14F-4D97-AF65-F5344CB8AC3E}">
        <p14:creationId xmlns:p14="http://schemas.microsoft.com/office/powerpoint/2010/main" val="26524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68057"/>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4</a:t>
            </a:r>
          </a:p>
        </p:txBody>
      </p:sp>
      <p:sp>
        <p:nvSpPr>
          <p:cNvPr id="3" name="TextBox 2">
            <a:extLst>
              <a:ext uri="{FF2B5EF4-FFF2-40B4-BE49-F238E27FC236}">
                <a16:creationId xmlns:a16="http://schemas.microsoft.com/office/drawing/2014/main" id="{C1729EC4-C624-A19E-7165-3E76E6F25B0A}"/>
              </a:ext>
            </a:extLst>
          </p:cNvPr>
          <p:cNvSpPr txBox="1"/>
          <p:nvPr/>
        </p:nvSpPr>
        <p:spPr>
          <a:xfrm>
            <a:off x="3154863" y="955185"/>
            <a:ext cx="8361946" cy="369332"/>
          </a:xfrm>
          <a:prstGeom prst="rect">
            <a:avLst/>
          </a:prstGeom>
          <a:noFill/>
        </p:spPr>
        <p:txBody>
          <a:bodyPr wrap="square">
            <a:spAutoFit/>
          </a:bodyPr>
          <a:lstStyle/>
          <a:p>
            <a:r>
              <a:rPr lang="he-IL" dirty="0"/>
              <a:t>כתבן </a:t>
            </a:r>
            <a:r>
              <a:rPr lang="he-IL" dirty="0" err="1"/>
              <a:t>פסאודו</a:t>
            </a:r>
            <a:r>
              <a:rPr lang="he-IL" dirty="0"/>
              <a:t>-קוד של אלגוריתם הממיין רשימה מקושרת חד-כיוונית. </a:t>
            </a:r>
            <a:endParaRPr lang="en-US" dirty="0"/>
          </a:p>
        </p:txBody>
      </p:sp>
      <p:sp>
        <p:nvSpPr>
          <p:cNvPr id="4" name="TextBox 3">
            <a:extLst>
              <a:ext uri="{FF2B5EF4-FFF2-40B4-BE49-F238E27FC236}">
                <a16:creationId xmlns:a16="http://schemas.microsoft.com/office/drawing/2014/main" id="{97D5D1D7-AAE4-69DF-36E8-9E89F1116C66}"/>
              </a:ext>
            </a:extLst>
          </p:cNvPr>
          <p:cNvSpPr txBox="1"/>
          <p:nvPr/>
        </p:nvSpPr>
        <p:spPr>
          <a:xfrm>
            <a:off x="3838687" y="2011645"/>
            <a:ext cx="5533913" cy="2585323"/>
          </a:xfrm>
          <a:prstGeom prst="rect">
            <a:avLst/>
          </a:prstGeom>
          <a:noFill/>
        </p:spPr>
        <p:txBody>
          <a:bodyPr wrap="square">
            <a:spAutoFit/>
          </a:bodyPr>
          <a:lstStyle/>
          <a:p>
            <a:pPr marL="0" algn="l" defTabSz="914400" rtl="0" eaLnBrk="1" latinLnBrk="0" hangingPunct="1"/>
            <a:r>
              <a:rPr lang="en-US" b="1" dirty="0"/>
              <a:t>function </a:t>
            </a:r>
            <a:r>
              <a:rPr lang="en-US" b="1" dirty="0" err="1"/>
              <a:t>sort_linked_list</a:t>
            </a:r>
            <a:r>
              <a:rPr lang="en-US" b="1" dirty="0"/>
              <a:t>(L):</a:t>
            </a:r>
          </a:p>
          <a:p>
            <a:pPr marL="0" algn="l" defTabSz="914400" rtl="0" eaLnBrk="1" latinLnBrk="0" hangingPunct="1"/>
            <a:r>
              <a:rPr lang="ru-RU" dirty="0"/>
              <a:t>	</a:t>
            </a:r>
            <a:r>
              <a:rPr lang="en-US" b="1" dirty="0"/>
              <a:t># L is linked list</a:t>
            </a:r>
          </a:p>
          <a:p>
            <a:pPr marL="0" algn="l" defTabSz="914400" rtl="0" eaLnBrk="1" latinLnBrk="0" hangingPunct="1"/>
            <a:r>
              <a:rPr lang="en-US" b="1" dirty="0"/>
              <a:t>	# </a:t>
            </a:r>
            <a:r>
              <a:rPr lang="en-US" b="1" dirty="0" err="1"/>
              <a:t>L</a:t>
            </a:r>
            <a:r>
              <a:rPr lang="en-US" b="1" baseline="-25000" dirty="0" err="1"/>
              <a:t>new</a:t>
            </a:r>
            <a:r>
              <a:rPr lang="en-US" b="1" dirty="0"/>
              <a:t> is new linked list</a:t>
            </a:r>
          </a:p>
          <a:p>
            <a:pPr marL="0" algn="l" defTabSz="914400" rtl="0" eaLnBrk="1" latinLnBrk="0" hangingPunct="1"/>
            <a:r>
              <a:rPr lang="en-US" b="1" dirty="0"/>
              <a:t>	# </a:t>
            </a:r>
            <a:r>
              <a:rPr lang="en-US" b="1" dirty="0" err="1"/>
              <a:t>L</a:t>
            </a:r>
            <a:r>
              <a:rPr lang="en-US" b="1" baseline="-25000" dirty="0" err="1"/>
              <a:t>temp</a:t>
            </a:r>
            <a:r>
              <a:rPr lang="en-US" b="1" dirty="0"/>
              <a:t> is temp linked list</a:t>
            </a:r>
          </a:p>
          <a:p>
            <a:pPr marL="0" algn="l" defTabSz="914400" rtl="0" eaLnBrk="1" latinLnBrk="0" hangingPunct="1"/>
            <a:r>
              <a:rPr lang="en-US" b="1" dirty="0"/>
              <a:t>	while </a:t>
            </a:r>
            <a:r>
              <a:rPr lang="en-US" b="1" dirty="0" err="1"/>
              <a:t>L.head</a:t>
            </a:r>
            <a:r>
              <a:rPr lang="en-US" b="1" dirty="0"/>
              <a:t> != NULL do:</a:t>
            </a:r>
          </a:p>
          <a:p>
            <a:pPr algn="l" rtl="0"/>
            <a:r>
              <a:rPr lang="en-US" b="1" dirty="0"/>
              <a:t>		 </a:t>
            </a:r>
            <a:r>
              <a:rPr lang="en-US" b="1" dirty="0" err="1"/>
              <a:t>L</a:t>
            </a:r>
            <a:r>
              <a:rPr lang="en-US" b="1" baseline="-25000" dirty="0" err="1"/>
              <a:t>temp</a:t>
            </a:r>
            <a:r>
              <a:rPr lang="en-US" b="1" dirty="0" err="1"/>
              <a:t>.head</a:t>
            </a:r>
            <a:r>
              <a:rPr lang="en-US" b="1" dirty="0"/>
              <a:t> &lt;- </a:t>
            </a:r>
            <a:r>
              <a:rPr lang="en-US" b="1" dirty="0" err="1"/>
              <a:t>L.head</a:t>
            </a:r>
            <a:endParaRPr lang="en-US" b="1" dirty="0"/>
          </a:p>
          <a:p>
            <a:pPr algn="l" rtl="0"/>
            <a:r>
              <a:rPr lang="en-US" b="1" dirty="0"/>
              <a:t>		 </a:t>
            </a:r>
            <a:r>
              <a:rPr lang="en-US" b="1" dirty="0" err="1"/>
              <a:t>L.head</a:t>
            </a:r>
            <a:r>
              <a:rPr lang="en-US" b="1" dirty="0"/>
              <a:t> &lt;- </a:t>
            </a:r>
            <a:r>
              <a:rPr lang="en-US" b="1" dirty="0" err="1"/>
              <a:t>L.head.next</a:t>
            </a:r>
            <a:endParaRPr lang="en-US" b="1" dirty="0"/>
          </a:p>
          <a:p>
            <a:pPr algn="l" rtl="0"/>
            <a:r>
              <a:rPr lang="en-US" b="1" dirty="0"/>
              <a:t>		try(</a:t>
            </a:r>
            <a:r>
              <a:rPr lang="en-US" b="1" dirty="0" err="1"/>
              <a:t>L</a:t>
            </a:r>
            <a:r>
              <a:rPr lang="en-US" b="1" baseline="-25000" dirty="0" err="1"/>
              <a:t>new</a:t>
            </a:r>
            <a:r>
              <a:rPr lang="en-US" b="1" dirty="0"/>
              <a:t>, </a:t>
            </a:r>
            <a:r>
              <a:rPr lang="en-US" b="1" dirty="0" err="1"/>
              <a:t>L</a:t>
            </a:r>
            <a:r>
              <a:rPr lang="en-US" b="1" baseline="-25000" dirty="0" err="1"/>
              <a:t>temp</a:t>
            </a:r>
            <a:r>
              <a:rPr lang="en-US" b="1" dirty="0"/>
              <a:t>) # function from task 3</a:t>
            </a:r>
          </a:p>
          <a:p>
            <a:pPr algn="l" rtl="0"/>
            <a:r>
              <a:rPr lang="en-US" b="1" dirty="0"/>
              <a:t>	return </a:t>
            </a:r>
            <a:r>
              <a:rPr lang="en-US" b="1" dirty="0" err="1"/>
              <a:t>L</a:t>
            </a:r>
            <a:r>
              <a:rPr lang="en-US" b="1" baseline="-25000" dirty="0" err="1"/>
              <a:t>new</a:t>
            </a:r>
            <a:endParaRPr lang="en-US" b="1" dirty="0"/>
          </a:p>
        </p:txBody>
      </p:sp>
    </p:spTree>
    <p:extLst>
      <p:ext uri="{BB962C8B-B14F-4D97-AF65-F5344CB8AC3E}">
        <p14:creationId xmlns:p14="http://schemas.microsoft.com/office/powerpoint/2010/main" val="56609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90463"/>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5</a:t>
            </a:r>
          </a:p>
        </p:txBody>
      </p:sp>
      <p:sp>
        <p:nvSpPr>
          <p:cNvPr id="3" name="TextBox 2">
            <a:extLst>
              <a:ext uri="{FF2B5EF4-FFF2-40B4-BE49-F238E27FC236}">
                <a16:creationId xmlns:a16="http://schemas.microsoft.com/office/drawing/2014/main" id="{C1729EC4-C624-A19E-7165-3E76E6F25B0A}"/>
              </a:ext>
            </a:extLst>
          </p:cNvPr>
          <p:cNvSpPr txBox="1"/>
          <p:nvPr/>
        </p:nvSpPr>
        <p:spPr>
          <a:xfrm>
            <a:off x="3056021" y="955185"/>
            <a:ext cx="8460788" cy="646331"/>
          </a:xfrm>
          <a:prstGeom prst="rect">
            <a:avLst/>
          </a:prstGeom>
          <a:noFill/>
        </p:spPr>
        <p:txBody>
          <a:bodyPr wrap="square">
            <a:spAutoFit/>
          </a:bodyPr>
          <a:lstStyle/>
          <a:p>
            <a:r>
              <a:rPr lang="he-IL" dirty="0"/>
              <a:t>כתבו </a:t>
            </a:r>
            <a:r>
              <a:rPr lang="he-IL" dirty="0" err="1"/>
              <a:t>פסאודו</a:t>
            </a:r>
            <a:r>
              <a:rPr lang="he-IL" dirty="0"/>
              <a:t>-קוד של אלגוריתם המקבל רשימה מקושרת חד-כיוונית מעגלית ומוסיף איבר נוסף ל"סוף" רשימה (לפני איבר שמצביע לראש רשימה).</a:t>
            </a:r>
            <a:endParaRPr lang="en-US" dirty="0"/>
          </a:p>
        </p:txBody>
      </p:sp>
      <p:sp>
        <p:nvSpPr>
          <p:cNvPr id="4" name="TextBox 3">
            <a:extLst>
              <a:ext uri="{FF2B5EF4-FFF2-40B4-BE49-F238E27FC236}">
                <a16:creationId xmlns:a16="http://schemas.microsoft.com/office/drawing/2014/main" id="{121427C5-DBEB-52E1-9C71-924274FE010E}"/>
              </a:ext>
            </a:extLst>
          </p:cNvPr>
          <p:cNvSpPr txBox="1"/>
          <p:nvPr/>
        </p:nvSpPr>
        <p:spPr>
          <a:xfrm>
            <a:off x="3287209" y="2102832"/>
            <a:ext cx="6097002" cy="2800767"/>
          </a:xfrm>
          <a:prstGeom prst="rect">
            <a:avLst/>
          </a:prstGeom>
          <a:noFill/>
        </p:spPr>
        <p:txBody>
          <a:bodyPr wrap="square">
            <a:spAutoFit/>
          </a:bodyPr>
          <a:lstStyle/>
          <a:p>
            <a:pPr algn="l" rtl="0"/>
            <a:r>
              <a:rPr lang="en-US" sz="1600" b="1" dirty="0"/>
              <a:t>function </a:t>
            </a:r>
            <a:r>
              <a:rPr lang="en-US" sz="1600" b="1" dirty="0" err="1"/>
              <a:t>add_at_end_circular_linked_list</a:t>
            </a:r>
            <a:r>
              <a:rPr lang="en-US" sz="1600" b="1" dirty="0"/>
              <a:t>(list, value):</a:t>
            </a:r>
            <a:endParaRPr lang="en-US" sz="1600" dirty="0"/>
          </a:p>
          <a:p>
            <a:pPr algn="l" rtl="0"/>
            <a:r>
              <a:rPr lang="en-US" sz="1600" dirty="0"/>
              <a:t>    </a:t>
            </a:r>
            <a:r>
              <a:rPr lang="ru-RU" sz="1600" dirty="0"/>
              <a:t>	</a:t>
            </a:r>
            <a:r>
              <a:rPr lang="en-US" sz="1600" b="1" dirty="0" err="1"/>
              <a:t>newNode</a:t>
            </a:r>
            <a:r>
              <a:rPr lang="en-US" sz="1600" b="1" dirty="0"/>
              <a:t> = </a:t>
            </a:r>
            <a:r>
              <a:rPr lang="en-US" sz="1600" b="1" dirty="0" err="1"/>
              <a:t>createNode</a:t>
            </a:r>
            <a:r>
              <a:rPr lang="en-US" sz="1600" b="1" dirty="0"/>
              <a:t>(value)</a:t>
            </a:r>
          </a:p>
          <a:p>
            <a:pPr algn="l" rtl="0"/>
            <a:r>
              <a:rPr lang="en-US" sz="1600" b="1" dirty="0"/>
              <a:t>	if </a:t>
            </a:r>
            <a:r>
              <a:rPr lang="en-US" sz="1600" b="1" dirty="0" err="1"/>
              <a:t>list.head</a:t>
            </a:r>
            <a:r>
              <a:rPr lang="en-US" sz="1600" b="1" dirty="0"/>
              <a:t> is NULL:</a:t>
            </a:r>
          </a:p>
          <a:p>
            <a:pPr algn="l" rtl="0"/>
            <a:r>
              <a:rPr lang="en-US" sz="1600" b="1" dirty="0"/>
              <a:t>		</a:t>
            </a:r>
            <a:r>
              <a:rPr lang="en-US" sz="1600" b="1" dirty="0" err="1"/>
              <a:t>list.head</a:t>
            </a:r>
            <a:r>
              <a:rPr lang="en-US" sz="1600" b="1" dirty="0"/>
              <a:t> = </a:t>
            </a:r>
            <a:r>
              <a:rPr lang="en-US" sz="1600" b="1" dirty="0" err="1"/>
              <a:t>newNode</a:t>
            </a:r>
            <a:endParaRPr lang="en-US" sz="1600" b="1" dirty="0"/>
          </a:p>
          <a:p>
            <a:pPr algn="l" rtl="0"/>
            <a:r>
              <a:rPr lang="en-US" sz="1600" b="1" dirty="0"/>
              <a:t>		</a:t>
            </a:r>
            <a:r>
              <a:rPr lang="en-US" sz="1600" b="1" dirty="0" err="1"/>
              <a:t>newNode.next</a:t>
            </a:r>
            <a:r>
              <a:rPr lang="en-US" sz="1600" b="1" dirty="0"/>
              <a:t> = </a:t>
            </a:r>
            <a:r>
              <a:rPr lang="en-US" sz="1600" b="1" dirty="0" err="1"/>
              <a:t>newNode</a:t>
            </a:r>
            <a:endParaRPr lang="en-US" sz="1600" b="1" dirty="0"/>
          </a:p>
          <a:p>
            <a:pPr algn="l" rtl="0"/>
            <a:r>
              <a:rPr lang="en-US" sz="1600" b="1" dirty="0"/>
              <a:t>	else:</a:t>
            </a:r>
          </a:p>
          <a:p>
            <a:pPr algn="l" rtl="0"/>
            <a:r>
              <a:rPr lang="en-US" sz="1600" b="1" dirty="0"/>
              <a:t>		current = </a:t>
            </a:r>
            <a:r>
              <a:rPr lang="en-US" sz="1600" b="1" dirty="0" err="1"/>
              <a:t>list.head</a:t>
            </a:r>
            <a:endParaRPr lang="en-US" sz="1600" b="1" dirty="0"/>
          </a:p>
          <a:p>
            <a:pPr algn="l" rtl="0"/>
            <a:r>
              <a:rPr lang="en-US" sz="1600" b="1" dirty="0"/>
              <a:t>		while </a:t>
            </a:r>
            <a:r>
              <a:rPr lang="en-US" sz="1600" b="1" dirty="0" err="1"/>
              <a:t>current.next</a:t>
            </a:r>
            <a:r>
              <a:rPr lang="en-US" sz="1600" b="1" dirty="0"/>
              <a:t> is not </a:t>
            </a:r>
            <a:r>
              <a:rPr lang="en-US" sz="1600" b="1" dirty="0" err="1"/>
              <a:t>list.head</a:t>
            </a:r>
            <a:r>
              <a:rPr lang="en-US" sz="1600" b="1" dirty="0"/>
              <a:t>:</a:t>
            </a:r>
          </a:p>
          <a:p>
            <a:pPr lvl="1" algn="l" rtl="0"/>
            <a:r>
              <a:rPr lang="en-US" sz="1600" b="1" dirty="0"/>
              <a:t>			current = </a:t>
            </a:r>
            <a:r>
              <a:rPr lang="en-US" sz="1600" b="1" dirty="0" err="1"/>
              <a:t>current.next</a:t>
            </a:r>
            <a:endParaRPr lang="en-US" sz="1600" b="1" dirty="0"/>
          </a:p>
          <a:p>
            <a:pPr lvl="1" algn="l" rtl="0"/>
            <a:r>
              <a:rPr lang="en-US" sz="1600" b="1" dirty="0"/>
              <a:t>		</a:t>
            </a:r>
            <a:r>
              <a:rPr lang="en-US" sz="1600" b="1" dirty="0" err="1"/>
              <a:t>current.next</a:t>
            </a:r>
            <a:r>
              <a:rPr lang="en-US" sz="1600" b="1" dirty="0"/>
              <a:t> = </a:t>
            </a:r>
            <a:r>
              <a:rPr lang="en-US" sz="1600" b="1" dirty="0" err="1"/>
              <a:t>newNode</a:t>
            </a:r>
            <a:endParaRPr lang="en-US" sz="1600" b="1" dirty="0"/>
          </a:p>
          <a:p>
            <a:pPr lvl="1" algn="l" rtl="0"/>
            <a:r>
              <a:rPr lang="en-US" sz="1600" b="1" dirty="0"/>
              <a:t>		</a:t>
            </a:r>
            <a:r>
              <a:rPr lang="en-US" sz="1600" b="1" dirty="0" err="1"/>
              <a:t>newNode.next</a:t>
            </a:r>
            <a:r>
              <a:rPr lang="en-US" sz="1600" b="1" dirty="0"/>
              <a:t> = </a:t>
            </a:r>
            <a:r>
              <a:rPr lang="en-US" sz="1600" b="1" dirty="0" err="1"/>
              <a:t>list.head</a:t>
            </a:r>
            <a:endParaRPr lang="en-US" sz="1600" b="1" dirty="0"/>
          </a:p>
        </p:txBody>
      </p:sp>
    </p:spTree>
    <p:extLst>
      <p:ext uri="{BB962C8B-B14F-4D97-AF65-F5344CB8AC3E}">
        <p14:creationId xmlns:p14="http://schemas.microsoft.com/office/powerpoint/2010/main" val="188264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3287209" y="290463"/>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6</a:t>
            </a:r>
          </a:p>
        </p:txBody>
      </p:sp>
      <p:sp>
        <p:nvSpPr>
          <p:cNvPr id="3" name="TextBox 2">
            <a:extLst>
              <a:ext uri="{FF2B5EF4-FFF2-40B4-BE49-F238E27FC236}">
                <a16:creationId xmlns:a16="http://schemas.microsoft.com/office/drawing/2014/main" id="{C1729EC4-C624-A19E-7165-3E76E6F25B0A}"/>
              </a:ext>
            </a:extLst>
          </p:cNvPr>
          <p:cNvSpPr txBox="1"/>
          <p:nvPr/>
        </p:nvSpPr>
        <p:spPr>
          <a:xfrm>
            <a:off x="3056021" y="955185"/>
            <a:ext cx="8460788" cy="369332"/>
          </a:xfrm>
          <a:prstGeom prst="rect">
            <a:avLst/>
          </a:prstGeom>
          <a:noFill/>
        </p:spPr>
        <p:txBody>
          <a:bodyPr wrap="square">
            <a:spAutoFit/>
          </a:bodyPr>
          <a:lstStyle/>
          <a:p>
            <a:r>
              <a:rPr lang="he-IL" dirty="0"/>
              <a:t>נתון אלגוריתם. איזה ערך הוא מחזיר?</a:t>
            </a:r>
            <a:endParaRPr lang="en-US" dirty="0"/>
          </a:p>
        </p:txBody>
      </p:sp>
      <p:sp>
        <p:nvSpPr>
          <p:cNvPr id="7" name="TextBox 6">
            <a:extLst>
              <a:ext uri="{FF2B5EF4-FFF2-40B4-BE49-F238E27FC236}">
                <a16:creationId xmlns:a16="http://schemas.microsoft.com/office/drawing/2014/main" id="{78E9946C-76FC-70A7-FBE5-15433E2DA829}"/>
              </a:ext>
            </a:extLst>
          </p:cNvPr>
          <p:cNvSpPr txBox="1"/>
          <p:nvPr/>
        </p:nvSpPr>
        <p:spPr>
          <a:xfrm>
            <a:off x="3056020" y="1486728"/>
            <a:ext cx="7345279" cy="4031873"/>
          </a:xfrm>
          <a:prstGeom prst="rect">
            <a:avLst/>
          </a:prstGeom>
          <a:noFill/>
        </p:spPr>
        <p:txBody>
          <a:bodyPr wrap="square">
            <a:spAutoFit/>
          </a:bodyPr>
          <a:lstStyle/>
          <a:p>
            <a:pPr algn="l" rtl="0"/>
            <a:r>
              <a:rPr lang="en-US" sz="1600" b="1" dirty="0"/>
              <a:t>function try(L):</a:t>
            </a:r>
          </a:p>
          <a:p>
            <a:pPr algn="l" rtl="0"/>
            <a:r>
              <a:rPr lang="en-US" sz="1600" dirty="0"/>
              <a:t>	</a:t>
            </a:r>
            <a:r>
              <a:rPr lang="en-US" sz="1600" b="1" dirty="0"/>
              <a:t>// L is a bidirectional linked list</a:t>
            </a:r>
          </a:p>
          <a:p>
            <a:pPr algn="l" rtl="0"/>
            <a:r>
              <a:rPr lang="en-US" sz="1600" b="1" dirty="0"/>
              <a:t>	flag &lt;- true</a:t>
            </a:r>
          </a:p>
          <a:p>
            <a:pPr algn="l" rtl="0"/>
            <a:r>
              <a:rPr lang="en-US" sz="1600" b="1" dirty="0"/>
              <a:t>	</a:t>
            </a:r>
            <a:r>
              <a:rPr lang="en-US" sz="1600" b="1" dirty="0" err="1"/>
              <a:t>x.left</a:t>
            </a:r>
            <a:r>
              <a:rPr lang="en-US" sz="1600" b="1" dirty="0"/>
              <a:t> &lt;- </a:t>
            </a:r>
            <a:r>
              <a:rPr lang="en-US" sz="1600" b="1" dirty="0" err="1"/>
              <a:t>x.right</a:t>
            </a:r>
            <a:r>
              <a:rPr lang="en-US" sz="1600" b="1" dirty="0"/>
              <a:t> &lt;- </a:t>
            </a:r>
            <a:r>
              <a:rPr lang="en-US" sz="1600" b="1" dirty="0" err="1"/>
              <a:t>L.head</a:t>
            </a:r>
            <a:endParaRPr lang="en-US" sz="1600" b="1" dirty="0"/>
          </a:p>
          <a:p>
            <a:pPr algn="l" rtl="0"/>
            <a:endParaRPr lang="en-US" sz="1600" b="1" dirty="0"/>
          </a:p>
          <a:p>
            <a:pPr algn="l" rtl="0"/>
            <a:r>
              <a:rPr lang="en-US" sz="1600" b="1" dirty="0"/>
              <a:t>	if </a:t>
            </a:r>
            <a:r>
              <a:rPr lang="en-US" sz="1600" b="1" dirty="0" err="1"/>
              <a:t>L.head</a:t>
            </a:r>
            <a:r>
              <a:rPr lang="en-US" sz="1600" b="1" dirty="0"/>
              <a:t> ≠ NULL AND </a:t>
            </a:r>
            <a:r>
              <a:rPr lang="en-US" sz="1600" b="1" dirty="0" err="1"/>
              <a:t>L.head.next</a:t>
            </a:r>
            <a:r>
              <a:rPr lang="en-US" sz="1600" b="1" dirty="0"/>
              <a:t> ≠ NULL then</a:t>
            </a:r>
          </a:p>
          <a:p>
            <a:pPr algn="l" rtl="0"/>
            <a:r>
              <a:rPr lang="en-US" sz="1600" b="1" dirty="0"/>
              <a:t>		while </a:t>
            </a:r>
            <a:r>
              <a:rPr lang="en-US" sz="1600" b="1" dirty="0" err="1"/>
              <a:t>x.right.next</a:t>
            </a:r>
            <a:r>
              <a:rPr lang="en-US" sz="1600" b="1" dirty="0"/>
              <a:t> ≠ NULL do</a:t>
            </a:r>
          </a:p>
          <a:p>
            <a:pPr algn="l" rtl="0"/>
            <a:r>
              <a:rPr lang="en-US" sz="1600" b="1" dirty="0"/>
              <a:t> 			</a:t>
            </a:r>
            <a:r>
              <a:rPr lang="en-US" sz="1600" b="1" dirty="0" err="1"/>
              <a:t>x.right</a:t>
            </a:r>
            <a:r>
              <a:rPr lang="en-US" sz="1600" b="1" dirty="0"/>
              <a:t> &lt;- </a:t>
            </a:r>
            <a:r>
              <a:rPr lang="en-US" sz="1600" b="1" dirty="0" err="1"/>
              <a:t>x.right.next</a:t>
            </a:r>
            <a:endParaRPr lang="en-US" sz="1600" b="1" dirty="0"/>
          </a:p>
          <a:p>
            <a:pPr algn="l" rtl="0"/>
            <a:endParaRPr lang="en-US" sz="1600" b="1" dirty="0"/>
          </a:p>
          <a:p>
            <a:pPr algn="l" rtl="0"/>
            <a:r>
              <a:rPr lang="en-US" sz="1600" b="1" dirty="0"/>
              <a:t>		while </a:t>
            </a:r>
            <a:r>
              <a:rPr lang="en-US" sz="1600" b="1" dirty="0" err="1"/>
              <a:t>x.right</a:t>
            </a:r>
            <a:r>
              <a:rPr lang="en-US" sz="1600" b="1" dirty="0"/>
              <a:t> ≠ </a:t>
            </a:r>
            <a:r>
              <a:rPr lang="en-US" sz="1600" b="1" dirty="0" err="1"/>
              <a:t>x.left</a:t>
            </a:r>
            <a:r>
              <a:rPr lang="en-US" sz="1600" b="1" dirty="0"/>
              <a:t> and </a:t>
            </a:r>
            <a:r>
              <a:rPr lang="en-US" sz="1600" b="1" dirty="0" err="1"/>
              <a:t>x.left.next</a:t>
            </a:r>
            <a:r>
              <a:rPr lang="en-US" sz="1600" b="1" dirty="0"/>
              <a:t> ≠ </a:t>
            </a:r>
            <a:r>
              <a:rPr lang="en-US" sz="1600" b="1" dirty="0" err="1"/>
              <a:t>x.right</a:t>
            </a:r>
            <a:r>
              <a:rPr lang="en-US" sz="1600" b="1" dirty="0"/>
              <a:t> and flag do:</a:t>
            </a:r>
          </a:p>
          <a:p>
            <a:pPr algn="l" rtl="0"/>
            <a:r>
              <a:rPr lang="en-US" sz="1600" b="1" dirty="0"/>
              <a:t>			if </a:t>
            </a:r>
            <a:r>
              <a:rPr lang="en-US" sz="1600" b="1" dirty="0" err="1"/>
              <a:t>x.right.data</a:t>
            </a:r>
            <a:r>
              <a:rPr lang="en-US" sz="1600" b="1" dirty="0"/>
              <a:t> ≠ </a:t>
            </a:r>
            <a:r>
              <a:rPr lang="en-US" sz="1600" b="1" dirty="0" err="1"/>
              <a:t>x.left.data</a:t>
            </a:r>
            <a:r>
              <a:rPr lang="en-US" sz="1600" b="1" dirty="0"/>
              <a:t> then</a:t>
            </a:r>
          </a:p>
          <a:p>
            <a:pPr algn="l" rtl="0"/>
            <a:r>
              <a:rPr lang="en-US" sz="1600" b="1" dirty="0"/>
              <a:t>				flag &lt;- false</a:t>
            </a:r>
          </a:p>
          <a:p>
            <a:pPr algn="l" rtl="0"/>
            <a:endParaRPr lang="en-US" sz="1600" b="1" dirty="0"/>
          </a:p>
          <a:p>
            <a:pPr algn="l" rtl="0"/>
            <a:r>
              <a:rPr lang="en-US" sz="1600" b="1" dirty="0"/>
              <a:t>			</a:t>
            </a:r>
            <a:r>
              <a:rPr lang="en-US" sz="1600" b="1" dirty="0" err="1"/>
              <a:t>x.left</a:t>
            </a:r>
            <a:r>
              <a:rPr lang="en-US" sz="1600" b="1" dirty="0"/>
              <a:t> &lt;- </a:t>
            </a:r>
            <a:r>
              <a:rPr lang="en-US" sz="1600" b="1" dirty="0" err="1"/>
              <a:t>x.left.next</a:t>
            </a:r>
            <a:endParaRPr lang="en-US" sz="1600" b="1" dirty="0"/>
          </a:p>
          <a:p>
            <a:pPr algn="l" rtl="0"/>
            <a:r>
              <a:rPr lang="en-US" sz="1600" b="1" dirty="0"/>
              <a:t> 			</a:t>
            </a:r>
            <a:r>
              <a:rPr lang="en-US" sz="1600" b="1" dirty="0" err="1"/>
              <a:t>x.right</a:t>
            </a:r>
            <a:r>
              <a:rPr lang="en-US" sz="1600" b="1" dirty="0"/>
              <a:t> &lt;- </a:t>
            </a:r>
            <a:r>
              <a:rPr lang="en-US" sz="1600" b="1" dirty="0" err="1"/>
              <a:t>x.right.prev</a:t>
            </a:r>
            <a:endParaRPr lang="en-US" sz="1600" b="1" dirty="0"/>
          </a:p>
          <a:p>
            <a:pPr algn="l" rtl="0"/>
            <a:r>
              <a:rPr lang="en-US" sz="1600" b="1" dirty="0"/>
              <a:t>	return flag</a:t>
            </a:r>
          </a:p>
        </p:txBody>
      </p:sp>
    </p:spTree>
    <p:extLst>
      <p:ext uri="{BB962C8B-B14F-4D97-AF65-F5344CB8AC3E}">
        <p14:creationId xmlns:p14="http://schemas.microsoft.com/office/powerpoint/2010/main" val="108413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F92317A-66FE-56B1-3497-80B12070E9B6}"/>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35EC00FE-85ED-D7EA-77F5-98C7D163CA4C}"/>
              </a:ext>
            </a:extLst>
          </p:cNvPr>
          <p:cNvSpPr txBox="1">
            <a:spLocks noChangeArrowheads="1"/>
          </p:cNvSpPr>
          <p:nvPr/>
        </p:nvSpPr>
        <p:spPr bwMode="auto">
          <a:xfrm>
            <a:off x="3287209" y="290463"/>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ru-RU"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7</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a:t>
            </a:r>
            <a:r>
              <a:rPr kumimoji="0" lang="he-IL" altLang="he-IL" sz="2000" b="0" i="0" u="none" strike="noStrike" kern="0" cap="none" spc="0" normalizeH="0" baseline="0" noProof="0" dirty="0">
                <a:ln>
                  <a:noFill/>
                </a:ln>
                <a:solidFill>
                  <a:srgbClr val="006633"/>
                </a:solidFill>
                <a:effectLst/>
                <a:uLnTx/>
                <a:uFillTx/>
                <a:latin typeface="Garamond"/>
                <a:ea typeface="+mj-ea"/>
                <a:cs typeface="Arial"/>
              </a:rPr>
              <a:t>מועד א׳ 1.05.24</a:t>
            </a:r>
            <a:endParaRPr kumimoji="0" lang="en-US" altLang="he-IL" sz="4200" b="0" i="0" u="none" strike="noStrike" kern="0" cap="none" spc="0" normalizeH="0" baseline="0" noProof="0" dirty="0">
              <a:ln>
                <a:noFill/>
              </a:ln>
              <a:solidFill>
                <a:srgbClr val="006633"/>
              </a:solidFill>
              <a:effectLst/>
              <a:uLnTx/>
              <a:uFillTx/>
              <a:latin typeface="Garamond"/>
              <a:ea typeface="+mj-ea"/>
              <a:cs typeface="Arial"/>
            </a:endParaRPr>
          </a:p>
        </p:txBody>
      </p:sp>
      <p:sp>
        <p:nvSpPr>
          <p:cNvPr id="6" name="TextBox 5">
            <a:extLst>
              <a:ext uri="{FF2B5EF4-FFF2-40B4-BE49-F238E27FC236}">
                <a16:creationId xmlns:a16="http://schemas.microsoft.com/office/drawing/2014/main" id="{6F50508B-347B-4D07-0C90-FB91FAD4FEBF}"/>
              </a:ext>
            </a:extLst>
          </p:cNvPr>
          <p:cNvSpPr txBox="1"/>
          <p:nvPr/>
        </p:nvSpPr>
        <p:spPr>
          <a:xfrm>
            <a:off x="1270535" y="1200566"/>
            <a:ext cx="9853864" cy="2031325"/>
          </a:xfrm>
          <a:prstGeom prst="rect">
            <a:avLst/>
          </a:prstGeom>
          <a:noFill/>
        </p:spPr>
        <p:txBody>
          <a:bodyPr wrap="square">
            <a:spAutoFit/>
          </a:bodyPr>
          <a:lstStyle/>
          <a:p>
            <a:pPr algn="just"/>
            <a:r>
              <a:rPr lang="he-IL" dirty="0"/>
              <a:t>נתונה רשימה מקושרת חד-כיוונית על ידי מצביע לראש הרשימה. אין מצביע לזנב. כתבו אלגוריתם שבודק אם הרשימה מכילה מעגל  (כלומר, הצומת האחרון מצביע לאחד הצמתים הקודמים ברשימה).</a:t>
            </a:r>
          </a:p>
          <a:p>
            <a:pPr marL="285750" indent="-285750" algn="just">
              <a:buFont typeface="Arial" panose="020B0604020202020204" pitchFamily="34" charset="0"/>
              <a:buChar char="•"/>
            </a:pPr>
            <a:r>
              <a:rPr lang="he-IL" dirty="0"/>
              <a:t>פתרון צריך להכיל הסבר מילולי מפורט . אפשר לשלב </a:t>
            </a:r>
            <a:r>
              <a:rPr lang="he-IL" dirty="0" err="1"/>
              <a:t>פסאודו</a:t>
            </a:r>
            <a:r>
              <a:rPr lang="he-IL" dirty="0"/>
              <a:t>-קוד.</a:t>
            </a:r>
          </a:p>
          <a:p>
            <a:pPr marL="285750" indent="-285750" algn="just">
              <a:buFont typeface="Arial" panose="020B0604020202020204" pitchFamily="34" charset="0"/>
              <a:buChar char="•"/>
            </a:pPr>
            <a:r>
              <a:rPr lang="he-IL" dirty="0"/>
              <a:t>זמן ריצה הדרוש הינו </a:t>
            </a:r>
            <a:r>
              <a:rPr lang="en-US" dirty="0"/>
              <a:t>O(n)</a:t>
            </a:r>
            <a:r>
              <a:rPr lang="he-IL" dirty="0"/>
              <a:t>, כאשר </a:t>
            </a:r>
            <a:r>
              <a:rPr lang="en-US" dirty="0"/>
              <a:t>n</a:t>
            </a:r>
            <a:r>
              <a:rPr lang="he-IL" dirty="0"/>
              <a:t> הוא מספר האיברים ברשימה. יש לנמק למה הפתרון שהצעתם עומד בדרישות הזמן שבשאלה.</a:t>
            </a:r>
          </a:p>
          <a:p>
            <a:pPr marL="285750" indent="-285750" algn="just">
              <a:buFont typeface="Arial" panose="020B0604020202020204" pitchFamily="34" charset="0"/>
              <a:buChar char="•"/>
            </a:pPr>
            <a:r>
              <a:rPr lang="he-IL" dirty="0"/>
              <a:t>מותר להשתמש רק ב-</a:t>
            </a:r>
            <a:r>
              <a:rPr lang="en-US" dirty="0"/>
              <a:t>O(1)</a:t>
            </a:r>
            <a:r>
              <a:rPr lang="he-IL" dirty="0"/>
              <a:t> זיכרון בנוסף לקלט. </a:t>
            </a:r>
          </a:p>
          <a:p>
            <a:pPr marL="285750" indent="-285750" algn="just">
              <a:buFont typeface="Arial" panose="020B0604020202020204" pitchFamily="34" charset="0"/>
              <a:buChar char="•"/>
            </a:pPr>
            <a:r>
              <a:rPr lang="he-IL" dirty="0"/>
              <a:t>על הפתרון לבצע את הבדיקה מבלי לשנות את הרשימה.</a:t>
            </a:r>
          </a:p>
        </p:txBody>
      </p:sp>
      <p:pic>
        <p:nvPicPr>
          <p:cNvPr id="9" name="Picture 8" descr="A diagram of a flowchart&#10;&#10;AI-generated content may be incorrect.">
            <a:extLst>
              <a:ext uri="{FF2B5EF4-FFF2-40B4-BE49-F238E27FC236}">
                <a16:creationId xmlns:a16="http://schemas.microsoft.com/office/drawing/2014/main" id="{F8B4D1CD-5BE7-361C-1BB4-94F346904E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4454" y="3933930"/>
            <a:ext cx="4515404" cy="1386620"/>
          </a:xfrm>
          <a:prstGeom prst="rect">
            <a:avLst/>
          </a:prstGeom>
        </p:spPr>
      </p:pic>
    </p:spTree>
    <p:extLst>
      <p:ext uri="{BB962C8B-B14F-4D97-AF65-F5344CB8AC3E}">
        <p14:creationId xmlns:p14="http://schemas.microsoft.com/office/powerpoint/2010/main" val="3054543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5281A8D-CE34-705B-8B88-6210A2C62567}"/>
            </a:ext>
          </a:extLst>
        </p:cNvPr>
        <p:cNvGrpSpPr/>
        <p:nvPr/>
      </p:nvGrpSpPr>
      <p:grpSpPr>
        <a:xfrm>
          <a:off x="0" y="0"/>
          <a:ext cx="0" cy="0"/>
          <a:chOff x="0" y="0"/>
          <a:chExt cx="0" cy="0"/>
        </a:xfrm>
      </p:grpSpPr>
      <p:sp>
        <p:nvSpPr>
          <p:cNvPr id="20" name="Rectangle 2">
            <a:extLst>
              <a:ext uri="{FF2B5EF4-FFF2-40B4-BE49-F238E27FC236}">
                <a16:creationId xmlns:a16="http://schemas.microsoft.com/office/drawing/2014/main" id="{B1B3754B-9A1C-3B52-B414-93CF63054B1A}"/>
              </a:ext>
            </a:extLst>
          </p:cNvPr>
          <p:cNvSpPr txBox="1">
            <a:spLocks noChangeArrowheads="1"/>
          </p:cNvSpPr>
          <p:nvPr/>
        </p:nvSpPr>
        <p:spPr bwMode="auto">
          <a:xfrm>
            <a:off x="3287209" y="290463"/>
            <a:ext cx="8229600" cy="82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eaLnBrk="0" fontAlgn="base" hangingPunct="0">
              <a:spcBef>
                <a:spcPct val="0"/>
              </a:spcBef>
              <a:spcAft>
                <a:spcPct val="0"/>
              </a:spcAft>
              <a:defRPr sz="4200">
                <a:solidFill>
                  <a:schemeClr val="tx2"/>
                </a:solidFill>
                <a:latin typeface="+mj-lt"/>
                <a:ea typeface="+mj-ea"/>
                <a:cs typeface="+mj-cs"/>
              </a:defRPr>
            </a:lvl1pPr>
            <a:lvl2pPr algn="l" rtl="1" eaLnBrk="0" fontAlgn="base" hangingPunct="0">
              <a:spcBef>
                <a:spcPct val="0"/>
              </a:spcBef>
              <a:spcAft>
                <a:spcPct val="0"/>
              </a:spcAft>
              <a:defRPr sz="4200">
                <a:solidFill>
                  <a:schemeClr val="tx2"/>
                </a:solidFill>
                <a:latin typeface="Garamond" pitchFamily="18" charset="0"/>
                <a:cs typeface="Arial" pitchFamily="34" charset="0"/>
              </a:defRPr>
            </a:lvl2pPr>
            <a:lvl3pPr algn="l" rtl="1" eaLnBrk="0" fontAlgn="base" hangingPunct="0">
              <a:spcBef>
                <a:spcPct val="0"/>
              </a:spcBef>
              <a:spcAft>
                <a:spcPct val="0"/>
              </a:spcAft>
              <a:defRPr sz="4200">
                <a:solidFill>
                  <a:schemeClr val="tx2"/>
                </a:solidFill>
                <a:latin typeface="Garamond" pitchFamily="18" charset="0"/>
                <a:cs typeface="Arial" pitchFamily="34" charset="0"/>
              </a:defRPr>
            </a:lvl3pPr>
            <a:lvl4pPr algn="l" rtl="1" eaLnBrk="0" fontAlgn="base" hangingPunct="0">
              <a:spcBef>
                <a:spcPct val="0"/>
              </a:spcBef>
              <a:spcAft>
                <a:spcPct val="0"/>
              </a:spcAft>
              <a:defRPr sz="4200">
                <a:solidFill>
                  <a:schemeClr val="tx2"/>
                </a:solidFill>
                <a:latin typeface="Garamond" pitchFamily="18" charset="0"/>
                <a:cs typeface="Arial" pitchFamily="34" charset="0"/>
              </a:defRPr>
            </a:lvl4pPr>
            <a:lvl5pPr algn="l" rtl="1" eaLnBrk="0" fontAlgn="base" hangingPunct="0">
              <a:spcBef>
                <a:spcPct val="0"/>
              </a:spcBef>
              <a:spcAft>
                <a:spcPct val="0"/>
              </a:spcAft>
              <a:defRPr sz="4200">
                <a:solidFill>
                  <a:schemeClr val="tx2"/>
                </a:solidFill>
                <a:latin typeface="Garamond" pitchFamily="18" charset="0"/>
                <a:cs typeface="Arial" pitchFamily="34" charset="0"/>
              </a:defRPr>
            </a:lvl5pPr>
            <a:lvl6pPr marL="457200" algn="l" rtl="1" fontAlgn="base">
              <a:spcBef>
                <a:spcPct val="0"/>
              </a:spcBef>
              <a:spcAft>
                <a:spcPct val="0"/>
              </a:spcAft>
              <a:defRPr sz="4200">
                <a:solidFill>
                  <a:schemeClr val="tx2"/>
                </a:solidFill>
                <a:latin typeface="Garamond" pitchFamily="18" charset="0"/>
                <a:cs typeface="Arial" pitchFamily="34" charset="0"/>
              </a:defRPr>
            </a:lvl6pPr>
            <a:lvl7pPr marL="914400" algn="l" rtl="1" fontAlgn="base">
              <a:spcBef>
                <a:spcPct val="0"/>
              </a:spcBef>
              <a:spcAft>
                <a:spcPct val="0"/>
              </a:spcAft>
              <a:defRPr sz="4200">
                <a:solidFill>
                  <a:schemeClr val="tx2"/>
                </a:solidFill>
                <a:latin typeface="Garamond" pitchFamily="18" charset="0"/>
                <a:cs typeface="Arial" pitchFamily="34" charset="0"/>
              </a:defRPr>
            </a:lvl7pPr>
            <a:lvl8pPr marL="1371600" algn="l" rtl="1" fontAlgn="base">
              <a:spcBef>
                <a:spcPct val="0"/>
              </a:spcBef>
              <a:spcAft>
                <a:spcPct val="0"/>
              </a:spcAft>
              <a:defRPr sz="4200">
                <a:solidFill>
                  <a:schemeClr val="tx2"/>
                </a:solidFill>
                <a:latin typeface="Garamond" pitchFamily="18" charset="0"/>
                <a:cs typeface="Arial" pitchFamily="34" charset="0"/>
              </a:defRPr>
            </a:lvl8pPr>
            <a:lvl9pPr marL="1828800" algn="l" rtl="1" fontAlgn="base">
              <a:spcBef>
                <a:spcPct val="0"/>
              </a:spcBef>
              <a:spcAft>
                <a:spcPct val="0"/>
              </a:spcAft>
              <a:defRPr sz="4200">
                <a:solidFill>
                  <a:schemeClr val="tx2"/>
                </a:solidFill>
                <a:latin typeface="Garamond" pitchFamily="18" charset="0"/>
                <a:cs typeface="Arial"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תרגיל</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 </a:t>
            </a:r>
            <a:r>
              <a:rPr lang="he-IL" altLang="he-IL" kern="0" dirty="0">
                <a:solidFill>
                  <a:srgbClr val="006633"/>
                </a:solidFill>
                <a:latin typeface="Garamond"/>
                <a:cs typeface="Arial"/>
              </a:rPr>
              <a:t> </a:t>
            </a:r>
            <a:r>
              <a:rPr kumimoji="0" lang="en-US" altLang="he-IL" sz="4200" b="0" i="0" u="none" strike="noStrike" kern="0" cap="none" spc="0" normalizeH="0" baseline="0" noProof="0" dirty="0">
                <a:ln>
                  <a:noFill/>
                </a:ln>
                <a:solidFill>
                  <a:srgbClr val="006633"/>
                </a:solidFill>
                <a:effectLst/>
                <a:uLnTx/>
                <a:uFillTx/>
                <a:latin typeface="Garamond"/>
                <a:ea typeface="+mj-ea"/>
                <a:cs typeface="Arial"/>
              </a:rPr>
              <a:t>7</a:t>
            </a:r>
            <a:r>
              <a:rPr kumimoji="0" lang="he-IL" altLang="he-IL" sz="4200" b="0" i="0" u="none" strike="noStrike" kern="0" cap="none" spc="0" normalizeH="0" baseline="0" noProof="0" dirty="0">
                <a:ln>
                  <a:noFill/>
                </a:ln>
                <a:solidFill>
                  <a:srgbClr val="006633"/>
                </a:solidFill>
                <a:effectLst/>
                <a:uLnTx/>
                <a:uFillTx/>
                <a:latin typeface="Garamond"/>
                <a:ea typeface="+mj-ea"/>
                <a:cs typeface="Arial"/>
              </a:rPr>
              <a:t> פתרון </a:t>
            </a:r>
            <a:r>
              <a:rPr kumimoji="0" lang="he-IL" altLang="he-IL" sz="2000" b="0" i="0" u="none" strike="noStrike" kern="0" cap="none" spc="0" normalizeH="0" baseline="0" noProof="0" dirty="0">
                <a:ln>
                  <a:noFill/>
                </a:ln>
                <a:solidFill>
                  <a:srgbClr val="006633"/>
                </a:solidFill>
                <a:effectLst/>
                <a:uLnTx/>
                <a:uFillTx/>
                <a:latin typeface="Garamond"/>
                <a:ea typeface="+mj-ea"/>
                <a:cs typeface="Arial"/>
              </a:rPr>
              <a:t>מועד א׳ 1.05.24</a:t>
            </a:r>
            <a:endParaRPr kumimoji="0" lang="en-US" altLang="he-IL" sz="4200" b="0" i="0" u="none" strike="noStrike" kern="0" cap="none" spc="0" normalizeH="0" baseline="0" noProof="0" dirty="0">
              <a:ln>
                <a:noFill/>
              </a:ln>
              <a:solidFill>
                <a:srgbClr val="006633"/>
              </a:solidFill>
              <a:effectLst/>
              <a:uLnTx/>
              <a:uFillTx/>
              <a:latin typeface="Garamond"/>
              <a:ea typeface="+mj-ea"/>
              <a:cs typeface="Arial"/>
            </a:endParaRPr>
          </a:p>
        </p:txBody>
      </p:sp>
      <p:sp>
        <p:nvSpPr>
          <p:cNvPr id="6" name="TextBox 5">
            <a:extLst>
              <a:ext uri="{FF2B5EF4-FFF2-40B4-BE49-F238E27FC236}">
                <a16:creationId xmlns:a16="http://schemas.microsoft.com/office/drawing/2014/main" id="{2FE4BEDB-62AC-5AF7-0F7D-DBB2AAC22D19}"/>
              </a:ext>
            </a:extLst>
          </p:cNvPr>
          <p:cNvSpPr txBox="1"/>
          <p:nvPr/>
        </p:nvSpPr>
        <p:spPr>
          <a:xfrm>
            <a:off x="991001" y="1239067"/>
            <a:ext cx="10209998" cy="1200329"/>
          </a:xfrm>
          <a:prstGeom prst="rect">
            <a:avLst/>
          </a:prstGeom>
          <a:noFill/>
        </p:spPr>
        <p:txBody>
          <a:bodyPr wrap="square">
            <a:spAutoFit/>
          </a:bodyPr>
          <a:lstStyle/>
          <a:p>
            <a:pPr algn="just"/>
            <a:r>
              <a:rPr lang="he-IL" dirty="0"/>
              <a:t>ניתן להשתמש באלגוריתם שמשתמש בשני מצביעים, כאשר הם מתקדמים </a:t>
            </a:r>
            <a:r>
              <a:rPr lang="he-IL" dirty="0" err="1"/>
              <a:t>בקצבים</a:t>
            </a:r>
            <a:r>
              <a:rPr lang="he-IL" dirty="0"/>
              <a:t> שונים על הרשימה. אחד מתקדם בקצב של צעד אחד בכל פעם, ואחד שמתקדם בקצב של שני צעדים בכל פעם. בכל צעד, נבדוק האם המצביע שמתקדם בקצב של שני צעדים הגיע לסוף הרשימה </a:t>
            </a:r>
            <a:r>
              <a:rPr lang="ru-RU" dirty="0"/>
              <a:t>(</a:t>
            </a:r>
            <a:r>
              <a:rPr lang="en-US" dirty="0"/>
              <a:t>null</a:t>
            </a:r>
            <a:r>
              <a:rPr lang="ru-RU" dirty="0"/>
              <a:t>)</a:t>
            </a:r>
            <a:r>
              <a:rPr lang="he-IL" dirty="0"/>
              <a:t>. אם כן, זה אומר שאין מעגל ברשימה. אם המצביעים נפגשו, זה אומר שיש מעגל.</a:t>
            </a:r>
          </a:p>
        </p:txBody>
      </p:sp>
      <p:sp>
        <p:nvSpPr>
          <p:cNvPr id="4" name="TextBox 3">
            <a:extLst>
              <a:ext uri="{FF2B5EF4-FFF2-40B4-BE49-F238E27FC236}">
                <a16:creationId xmlns:a16="http://schemas.microsoft.com/office/drawing/2014/main" id="{7D9D57CB-533F-72B6-3A58-910864499004}"/>
              </a:ext>
            </a:extLst>
          </p:cNvPr>
          <p:cNvSpPr txBox="1"/>
          <p:nvPr/>
        </p:nvSpPr>
        <p:spPr>
          <a:xfrm>
            <a:off x="813334" y="2402668"/>
            <a:ext cx="6896502" cy="3293209"/>
          </a:xfrm>
          <a:prstGeom prst="rect">
            <a:avLst/>
          </a:prstGeom>
          <a:noFill/>
        </p:spPr>
        <p:txBody>
          <a:bodyPr wrap="square">
            <a:spAutoFit/>
          </a:bodyPr>
          <a:lstStyle/>
          <a:p>
            <a:pPr algn="l" rtl="0"/>
            <a:r>
              <a:rPr lang="en-US" sz="1600" b="1" dirty="0"/>
              <a:t>function </a:t>
            </a:r>
            <a:r>
              <a:rPr lang="en-US" sz="1600" b="1" dirty="0" err="1"/>
              <a:t>Has_cycle</a:t>
            </a:r>
            <a:r>
              <a:rPr lang="en-US" sz="1600" b="1" dirty="0"/>
              <a:t>(head):</a:t>
            </a:r>
          </a:p>
          <a:p>
            <a:pPr algn="l" rtl="0"/>
            <a:r>
              <a:rPr lang="en-US" sz="1600" b="1" dirty="0"/>
              <a:t>	if head is NULL:</a:t>
            </a:r>
          </a:p>
          <a:p>
            <a:pPr algn="l" rtl="0"/>
            <a:r>
              <a:rPr lang="en-US" sz="1600" b="1" dirty="0"/>
              <a:t>		return False</a:t>
            </a:r>
          </a:p>
          <a:p>
            <a:pPr algn="l" rtl="0"/>
            <a:r>
              <a:rPr lang="en-US" sz="1600" b="1" dirty="0"/>
              <a:t>	</a:t>
            </a:r>
            <a:r>
              <a:rPr lang="en-US" sz="1600" b="1" dirty="0" err="1"/>
              <a:t>slow_pointer</a:t>
            </a:r>
            <a:r>
              <a:rPr lang="en-US" sz="1600" b="1" dirty="0"/>
              <a:t> = head</a:t>
            </a:r>
          </a:p>
          <a:p>
            <a:pPr algn="l" rtl="0"/>
            <a:r>
              <a:rPr lang="en-US" sz="1600" b="1" dirty="0"/>
              <a:t>	</a:t>
            </a:r>
            <a:r>
              <a:rPr lang="en-US" sz="1600" b="1" dirty="0" err="1"/>
              <a:t>fast_pointer</a:t>
            </a:r>
            <a:r>
              <a:rPr lang="en-US" sz="1600" b="1" dirty="0"/>
              <a:t> = </a:t>
            </a:r>
            <a:r>
              <a:rPr lang="en-US" sz="1600" b="1" dirty="0" err="1"/>
              <a:t>head.next</a:t>
            </a:r>
            <a:endParaRPr lang="en-US" sz="1600" b="1" dirty="0"/>
          </a:p>
          <a:p>
            <a:pPr algn="l" rtl="0"/>
            <a:endParaRPr lang="en-US" sz="1600" b="1" dirty="0"/>
          </a:p>
          <a:p>
            <a:pPr algn="l" rtl="0"/>
            <a:r>
              <a:rPr lang="en-US" sz="1600" b="1" dirty="0"/>
              <a:t>	while (</a:t>
            </a:r>
            <a:r>
              <a:rPr lang="en-US" sz="1600" b="1" dirty="0" err="1"/>
              <a:t>fast_pointer</a:t>
            </a:r>
            <a:r>
              <a:rPr lang="en-US" sz="1600" b="1" dirty="0"/>
              <a:t> is not NULL and </a:t>
            </a:r>
            <a:r>
              <a:rPr lang="en-US" sz="1600" b="1" dirty="0" err="1"/>
              <a:t>fast_pointer.next</a:t>
            </a:r>
            <a:r>
              <a:rPr lang="en-US" sz="1600" b="1" dirty="0"/>
              <a:t> is not NULL)</a:t>
            </a:r>
          </a:p>
          <a:p>
            <a:pPr algn="l" rtl="0"/>
            <a:r>
              <a:rPr lang="en-US" sz="1600" b="1" dirty="0"/>
              <a:t>		</a:t>
            </a:r>
            <a:r>
              <a:rPr lang="en-US" sz="1600" b="1" dirty="0" err="1"/>
              <a:t>slow_pointer</a:t>
            </a:r>
            <a:r>
              <a:rPr lang="en-US" sz="1600" b="1" dirty="0"/>
              <a:t> = </a:t>
            </a:r>
            <a:r>
              <a:rPr lang="en-US" sz="1600" b="1" dirty="0" err="1"/>
              <a:t>slow_pointer.next</a:t>
            </a:r>
            <a:endParaRPr lang="en-US" sz="1600" b="1" dirty="0"/>
          </a:p>
          <a:p>
            <a:pPr algn="l" rtl="0"/>
            <a:r>
              <a:rPr lang="en-US" sz="1600" b="1" dirty="0"/>
              <a:t> 		</a:t>
            </a:r>
            <a:r>
              <a:rPr lang="en-US" sz="1600" b="1" dirty="0" err="1"/>
              <a:t>fast_pointer</a:t>
            </a:r>
            <a:r>
              <a:rPr lang="en-US" sz="1600" b="1" dirty="0"/>
              <a:t> = </a:t>
            </a:r>
            <a:r>
              <a:rPr lang="en-US" sz="1600" b="1" dirty="0" err="1"/>
              <a:t>fast_pointer.next.next</a:t>
            </a:r>
            <a:endParaRPr lang="en-US" sz="1600" b="1" dirty="0"/>
          </a:p>
          <a:p>
            <a:pPr algn="l" rtl="0"/>
            <a:endParaRPr lang="en-US" sz="1600" b="1" dirty="0"/>
          </a:p>
          <a:p>
            <a:pPr algn="l" rtl="0"/>
            <a:r>
              <a:rPr lang="en-US" sz="1600" b="1" dirty="0"/>
              <a:t>		if </a:t>
            </a:r>
            <a:r>
              <a:rPr lang="en-US" sz="1600" b="1" dirty="0" err="1"/>
              <a:t>slow_pointer</a:t>
            </a:r>
            <a:r>
              <a:rPr lang="en-US" sz="1600" b="1" dirty="0"/>
              <a:t> == </a:t>
            </a:r>
            <a:r>
              <a:rPr lang="en-US" sz="1600" b="1" dirty="0" err="1"/>
              <a:t>fast_pointer</a:t>
            </a:r>
            <a:r>
              <a:rPr lang="en-US" sz="1600" b="1" dirty="0"/>
              <a:t>:</a:t>
            </a:r>
          </a:p>
          <a:p>
            <a:pPr algn="l" rtl="0"/>
            <a:r>
              <a:rPr lang="en-US" sz="1600" b="1" dirty="0"/>
              <a:t>			return True				return flag</a:t>
            </a:r>
          </a:p>
        </p:txBody>
      </p:sp>
    </p:spTree>
    <p:extLst>
      <p:ext uri="{BB962C8B-B14F-4D97-AF65-F5344CB8AC3E}">
        <p14:creationId xmlns:p14="http://schemas.microsoft.com/office/powerpoint/2010/main" val="119289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06914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1391</TotalTime>
  <Words>2829</Words>
  <Application>Microsoft Macintosh PowerPoint</Application>
  <PresentationFormat>Widescreen</PresentationFormat>
  <Paragraphs>268</Paragraphs>
  <Slides>13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Courier New</vt:lpstr>
      <vt:lpstr>Garamond</vt:lpstr>
      <vt:lpstr>Söhne</vt:lpstr>
      <vt:lpstr>Wingdings</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Shiran Mor</dc:creator>
  <cp:lastModifiedBy>Genady Kogan</cp:lastModifiedBy>
  <cp:revision>46</cp:revision>
  <dcterms:created xsi:type="dcterms:W3CDTF">2023-05-03T06:41:59Z</dcterms:created>
  <dcterms:modified xsi:type="dcterms:W3CDTF">2025-11-09T13:22:28Z</dcterms:modified>
</cp:coreProperties>
</file>